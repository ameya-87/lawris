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OPEN (memorised verbatim):</a:t>
            </a:r>
          </a:p>
          <a:p>
            <a:r>
              <a:t>"An accused person in India has 90 days. If their lawyer misses the chargesheet deadline by even a day, they walk free. Lawyers in this country carry 50 to 200 active cases each — on paper, WhatsApp, and three different research portals. Calendaring failures drive one in four malpractice claims. We built an AI agent that makes those misses impossible — and when the lawyer asks what BNSS 187(3) says, it answers from the actual statute text, cites the real Supreme Court ruling, and links straight to indiacode.nic.in."</a:t>
            </a:r>
          </a:p>
          <a:p/>
          <a:p>
            <a:r>
              <a:t>Pause. 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stats at pace — 5s each. Don't editorialise.</a:t>
            </a:r>
          </a:p>
          <a:p>
            <a:r>
              <a:t>After stat four, the closing paragraph is the setup for 'we built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pillars — the first three are the Round 1 product; the fourth (grounded research) is where most of the Round 2 innovation lives. Drafting is the demo spectacle; research is the technical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slide is for engineer-judges. Non-technical judges skim it.</a:t>
            </a:r>
          </a:p>
          <a:p>
            <a:r>
              <a:t>Headline: 'One deployable unit. No microservices. pgvector keeps embeddings in the same database as the cases — no Pinecone, no extra SLA.'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tables. The two chunk tables (document_chunks for per-case, corpus_chunks for shared Indian law) share the vector(768) embedding space — a 'law chunk' and a 'case chunk' are directly comparable. That's what makes the two-tier retrieval cheap.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'Deadlines aren't AI. They're statute translated into TypeScript. Zero hallucination risk. This is the feature judges should be MOST confident about, not least.'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click Draft Bail, then SILENCE for 20 seconds while the document writes itself. Don't narrate. Let the audience watch. The payoff comes AFTER the stream finishes: 'Court-ready. Real precedents. 25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Seven-step ingestion pipeline. Key detail: the chunks table stores case_id as FK, so retrieval is automatically scoped — one lawyer's uploads can't surface in another's research.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vector(768) embedding space across both tables — chunks from a lawyer's FIR and chunks from BNSS are directly comparable. The research route runs both retrievals in Promise.all and lets Gemini see both blocks in the prompt.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defensible technical differentiator. Plain semantic retrieval ranks JUDGMENTS above STATUTES for section-number queries because judgment prose literally says 'Section 187 chargesheet' while the statute uses 'sixty days' without the section number in the chunk. We caught it, fixed it, measured it, and the fix is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 LAW citation in the demo — it opens indiankanoon.org or indiacode.nic.in in a new tab. That's the 'every answer is verifiable' moment. Fuzzy URL matching means small name variations (e.g. missing year) still resolve.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 judges will ask 'why Gemini not GPT-4'. Answer: free tier + structured output + long context. The SDK is isolated in one file — switch to OpenAI or Anthropic in an afternoon.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to 'where's the security?' — we ship real Supabase Auth today. RLS is the ONE thing we know we'll do day one after the demo. Everything else is on a published roadmap, not a surprise.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columns, not four — the hybrid RAG column is the newest. Harvey does keyword search, IndianKanoon is search only without structured output. We're the only product that does stratified semantic + keyword-boosted retrieval across Indian statutes with source-verification links.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'We have a working product, a clear wedge, a market that wants this badly. We're looking for honest feedback on what would make this indispensable to a working lawyer — and a path to the next thousand users. Thank you.'</a:t>
            </a:r>
          </a:p>
          <a:p/>
          <a:p>
            <a:r>
              <a:t>DO NOT say 'Questions?' — judges will ask without prompting.</a:t>
            </a:r>
          </a:p>
          <a:p>
            <a:r>
              <a:t>Time budget: 4:45 of 5:00. Q&amp;A fills the buffer.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737360"/>
            <a:ext cx="9144000" cy="2011680"/>
          </a:xfrm>
          <a:prstGeom prst="rect">
            <a:avLst/>
          </a:prstGeom>
          <a:noFill/>
        </p:spPr>
        <p:txBody>
          <a:bodyPr wrap="square" lIns="0" rIns="0" tIns="0" bIns="0">
            <a:spAutoFit/>
          </a:bodyPr>
          <a:lstStyle/>
          <a:p>
            <a:pPr algn="l"/>
            <a:r>
              <a:rPr sz="12800" b="1">
                <a:solidFill>
                  <a:srgbClr val="FFFFFF"/>
                </a:solidFill>
                <a:latin typeface="Calibri"/>
              </a:rPr>
              <a:t>lawris.</a:t>
            </a:r>
          </a:p>
        </p:txBody>
      </p:sp>
      <p:sp>
        <p:nvSpPr>
          <p:cNvPr id="4" name="TextBox 3"/>
          <p:cNvSpPr txBox="1"/>
          <p:nvPr/>
        </p:nvSpPr>
        <p:spPr>
          <a:xfrm>
            <a:off x="685800" y="3611880"/>
            <a:ext cx="10058400" cy="731520"/>
          </a:xfrm>
          <a:prstGeom prst="rect">
            <a:avLst/>
          </a:prstGeom>
          <a:noFill/>
        </p:spPr>
        <p:txBody>
          <a:bodyPr wrap="square" lIns="0" rIns="0" tIns="0" bIns="0">
            <a:spAutoFit/>
          </a:bodyPr>
          <a:lstStyle/>
          <a:p>
            <a:pPr algn="l"/>
            <a:r>
              <a:rPr sz="2800" b="0">
                <a:solidFill>
                  <a:srgbClr val="C7C4F0"/>
                </a:solidFill>
                <a:latin typeface="Calibri"/>
              </a:rPr>
              <a:t>An AI agent for Indian advocates.</a:t>
            </a:r>
          </a:p>
        </p:txBody>
      </p:sp>
      <p:sp>
        <p:nvSpPr>
          <p:cNvPr id="5" name="TextBox 4"/>
          <p:cNvSpPr txBox="1"/>
          <p:nvPr/>
        </p:nvSpPr>
        <p:spPr>
          <a:xfrm>
            <a:off x="685800" y="4206240"/>
            <a:ext cx="10972800" cy="548640"/>
          </a:xfrm>
          <a:prstGeom prst="rect">
            <a:avLst/>
          </a:prstGeom>
          <a:noFill/>
        </p:spPr>
        <p:txBody>
          <a:bodyPr wrap="square" lIns="0" rIns="0" tIns="0" bIns="0">
            <a:spAutoFit/>
          </a:bodyPr>
          <a:lstStyle/>
          <a:p>
            <a:pPr algn="l"/>
            <a:r>
              <a:rPr sz="1600" b="0">
                <a:solidFill>
                  <a:srgbClr val="9C9AC4"/>
                </a:solidFill>
                <a:latin typeface="Calibri"/>
              </a:rPr>
              <a:t>Case management · deadline intelligence · AI drafting · case-grounded research</a:t>
            </a:r>
          </a:p>
        </p:txBody>
      </p:sp>
      <p:sp>
        <p:nvSpPr>
          <p:cNvPr id="6" name="TextBox 5"/>
          <p:cNvSpPr txBox="1"/>
          <p:nvPr/>
        </p:nvSpPr>
        <p:spPr>
          <a:xfrm>
            <a:off x="685800" y="5989320"/>
            <a:ext cx="5486400" cy="365760"/>
          </a:xfrm>
          <a:prstGeom prst="rect">
            <a:avLst/>
          </a:prstGeom>
          <a:noFill/>
        </p:spPr>
        <p:txBody>
          <a:bodyPr wrap="square" lIns="0" rIns="0" tIns="0" bIns="0">
            <a:spAutoFit/>
          </a:bodyPr>
          <a:lstStyle/>
          <a:p>
            <a:pPr algn="l"/>
            <a:r>
              <a:rPr sz="1300" b="0">
                <a:solidFill>
                  <a:srgbClr val="9C9AC4"/>
                </a:solidFill>
                <a:latin typeface="Calibri"/>
              </a:rPr>
              <a:t>Full pitch + Q&amp;A deck</a:t>
            </a:r>
          </a:p>
        </p:txBody>
      </p:sp>
      <p:sp>
        <p:nvSpPr>
          <p:cNvPr id="7" name="TextBox 6"/>
          <p:cNvSpPr txBox="1"/>
          <p:nvPr/>
        </p:nvSpPr>
        <p:spPr>
          <a:xfrm>
            <a:off x="6858000" y="5989320"/>
            <a:ext cx="5029200" cy="365760"/>
          </a:xfrm>
          <a:prstGeom prst="rect">
            <a:avLst/>
          </a:prstGeom>
          <a:noFill/>
        </p:spPr>
        <p:txBody>
          <a:bodyPr wrap="square" lIns="0" rIns="0" tIns="0" bIns="0">
            <a:spAutoFit/>
          </a:bodyPr>
          <a:lstStyle/>
          <a:p>
            <a:pPr algn="r"/>
            <a:r>
              <a:rPr sz="1300" b="0">
                <a:solidFill>
                  <a:srgbClr val="9C9AC4"/>
                </a:solidFill>
                <a:latin typeface="Calibri"/>
              </a:rPr>
              <a:t>Pairs with PITCH_DECK.md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2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The problem</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3600" b="1">
                <a:solidFill>
                  <a:srgbClr val="1C1917"/>
                </a:solidFill>
                <a:latin typeface="Calibri"/>
              </a:rPr>
              <a:t>Indian lawyers are drowning in their own workflow.</a:t>
            </a:r>
          </a:p>
        </p:txBody>
      </p:sp>
      <p:sp>
        <p:nvSpPr>
          <p:cNvPr id="7" name="TextBox 6"/>
          <p:cNvSpPr txBox="1"/>
          <p:nvPr/>
        </p:nvSpPr>
        <p:spPr>
          <a:xfrm>
            <a:off x="685800" y="2377440"/>
            <a:ext cx="5303520" cy="914400"/>
          </a:xfrm>
          <a:prstGeom prst="rect">
            <a:avLst/>
          </a:prstGeom>
          <a:noFill/>
        </p:spPr>
        <p:txBody>
          <a:bodyPr wrap="square" lIns="0" rIns="0" tIns="0" bIns="0">
            <a:spAutoFit/>
          </a:bodyPr>
          <a:lstStyle/>
          <a:p>
            <a:pPr algn="l"/>
            <a:r>
              <a:rPr sz="4600" b="1">
                <a:solidFill>
                  <a:srgbClr val="B91C1C"/>
                </a:solidFill>
                <a:latin typeface="Calibri"/>
              </a:rPr>
              <a:t>6+ hrs/week</a:t>
            </a:r>
          </a:p>
        </p:txBody>
      </p:sp>
      <p:sp>
        <p:nvSpPr>
          <p:cNvPr id="8" name="TextBox 7"/>
          <p:cNvSpPr txBox="1"/>
          <p:nvPr/>
        </p:nvSpPr>
        <p:spPr>
          <a:xfrm>
            <a:off x="685800" y="3291840"/>
            <a:ext cx="5303520" cy="548640"/>
          </a:xfrm>
          <a:prstGeom prst="rect">
            <a:avLst/>
          </a:prstGeom>
          <a:noFill/>
        </p:spPr>
        <p:txBody>
          <a:bodyPr wrap="square" lIns="0" rIns="0" tIns="0" bIns="0">
            <a:spAutoFit/>
          </a:bodyPr>
          <a:lstStyle/>
          <a:p>
            <a:pPr algn="l"/>
            <a:r>
              <a:rPr sz="1600" b="0">
                <a:solidFill>
                  <a:srgbClr val="78716C"/>
                </a:solidFill>
                <a:latin typeface="Calibri"/>
              </a:rPr>
              <a:t>lost just locating documents</a:t>
            </a:r>
          </a:p>
        </p:txBody>
      </p:sp>
      <p:sp>
        <p:nvSpPr>
          <p:cNvPr id="9" name="TextBox 8"/>
          <p:cNvSpPr txBox="1"/>
          <p:nvPr/>
        </p:nvSpPr>
        <p:spPr>
          <a:xfrm>
            <a:off x="6355080" y="2377440"/>
            <a:ext cx="5303520" cy="914400"/>
          </a:xfrm>
          <a:prstGeom prst="rect">
            <a:avLst/>
          </a:prstGeom>
          <a:noFill/>
        </p:spPr>
        <p:txBody>
          <a:bodyPr wrap="square" lIns="0" rIns="0" tIns="0" bIns="0">
            <a:spAutoFit/>
          </a:bodyPr>
          <a:lstStyle/>
          <a:p>
            <a:pPr algn="l"/>
            <a:r>
              <a:rPr sz="4600" b="1">
                <a:solidFill>
                  <a:srgbClr val="B45309"/>
                </a:solidFill>
                <a:latin typeface="Calibri"/>
              </a:rPr>
              <a:t>40–60%</a:t>
            </a:r>
          </a:p>
        </p:txBody>
      </p:sp>
      <p:sp>
        <p:nvSpPr>
          <p:cNvPr id="10" name="TextBox 9"/>
          <p:cNvSpPr txBox="1"/>
          <p:nvPr/>
        </p:nvSpPr>
        <p:spPr>
          <a:xfrm>
            <a:off x="6355080" y="3291840"/>
            <a:ext cx="5303520" cy="548640"/>
          </a:xfrm>
          <a:prstGeom prst="rect">
            <a:avLst/>
          </a:prstGeom>
          <a:noFill/>
        </p:spPr>
        <p:txBody>
          <a:bodyPr wrap="square" lIns="0" rIns="0" tIns="0" bIns="0">
            <a:spAutoFit/>
          </a:bodyPr>
          <a:lstStyle/>
          <a:p>
            <a:pPr algn="l"/>
            <a:r>
              <a:rPr sz="1600" b="0">
                <a:solidFill>
                  <a:srgbClr val="78716C"/>
                </a:solidFill>
                <a:latin typeface="Calibri"/>
              </a:rPr>
              <a:t>of billable time on repetitive drafts</a:t>
            </a:r>
          </a:p>
        </p:txBody>
      </p:sp>
      <p:sp>
        <p:nvSpPr>
          <p:cNvPr id="11" name="TextBox 10"/>
          <p:cNvSpPr txBox="1"/>
          <p:nvPr/>
        </p:nvSpPr>
        <p:spPr>
          <a:xfrm>
            <a:off x="685800" y="3977639"/>
            <a:ext cx="5303520" cy="914400"/>
          </a:xfrm>
          <a:prstGeom prst="rect">
            <a:avLst/>
          </a:prstGeom>
          <a:noFill/>
        </p:spPr>
        <p:txBody>
          <a:bodyPr wrap="square" lIns="0" rIns="0" tIns="0" bIns="0">
            <a:spAutoFit/>
          </a:bodyPr>
          <a:lstStyle/>
          <a:p>
            <a:pPr algn="l"/>
            <a:r>
              <a:rPr sz="4600" b="1">
                <a:solidFill>
                  <a:srgbClr val="3F3D99"/>
                </a:solidFill>
                <a:latin typeface="Calibri"/>
              </a:rPr>
              <a:t>77%</a:t>
            </a:r>
          </a:p>
        </p:txBody>
      </p:sp>
      <p:sp>
        <p:nvSpPr>
          <p:cNvPr id="12" name="TextBox 11"/>
          <p:cNvSpPr txBox="1"/>
          <p:nvPr/>
        </p:nvSpPr>
        <p:spPr>
          <a:xfrm>
            <a:off x="685800" y="4892039"/>
            <a:ext cx="5303520" cy="548640"/>
          </a:xfrm>
          <a:prstGeom prst="rect">
            <a:avLst/>
          </a:prstGeom>
          <a:noFill/>
        </p:spPr>
        <p:txBody>
          <a:bodyPr wrap="square" lIns="0" rIns="0" tIns="0" bIns="0">
            <a:spAutoFit/>
          </a:bodyPr>
          <a:lstStyle/>
          <a:p>
            <a:pPr algn="l"/>
            <a:r>
              <a:rPr sz="1600" b="0">
                <a:solidFill>
                  <a:srgbClr val="78716C"/>
                </a:solidFill>
                <a:latin typeface="Calibri"/>
              </a:rPr>
              <a:t>of lawyers run cases out of email + Word</a:t>
            </a:r>
          </a:p>
        </p:txBody>
      </p:sp>
      <p:sp>
        <p:nvSpPr>
          <p:cNvPr id="13" name="TextBox 12"/>
          <p:cNvSpPr txBox="1"/>
          <p:nvPr/>
        </p:nvSpPr>
        <p:spPr>
          <a:xfrm>
            <a:off x="6355080" y="3977639"/>
            <a:ext cx="5303520" cy="914400"/>
          </a:xfrm>
          <a:prstGeom prst="rect">
            <a:avLst/>
          </a:prstGeom>
          <a:noFill/>
        </p:spPr>
        <p:txBody>
          <a:bodyPr wrap="square" lIns="0" rIns="0" tIns="0" bIns="0">
            <a:spAutoFit/>
          </a:bodyPr>
          <a:lstStyle/>
          <a:p>
            <a:pPr algn="l"/>
            <a:r>
              <a:rPr sz="4600" b="1">
                <a:solidFill>
                  <a:srgbClr val="B91C1C"/>
                </a:solidFill>
                <a:latin typeface="Calibri"/>
              </a:rPr>
              <a:t>~25%</a:t>
            </a:r>
          </a:p>
        </p:txBody>
      </p:sp>
      <p:sp>
        <p:nvSpPr>
          <p:cNvPr id="14" name="TextBox 13"/>
          <p:cNvSpPr txBox="1"/>
          <p:nvPr/>
        </p:nvSpPr>
        <p:spPr>
          <a:xfrm>
            <a:off x="6355080" y="4892039"/>
            <a:ext cx="5303520" cy="548640"/>
          </a:xfrm>
          <a:prstGeom prst="rect">
            <a:avLst/>
          </a:prstGeom>
          <a:noFill/>
        </p:spPr>
        <p:txBody>
          <a:bodyPr wrap="square" lIns="0" rIns="0" tIns="0" bIns="0">
            <a:spAutoFit/>
          </a:bodyPr>
          <a:lstStyle/>
          <a:p>
            <a:pPr algn="l"/>
            <a:r>
              <a:rPr sz="1600" b="0">
                <a:solidFill>
                  <a:srgbClr val="78716C"/>
                </a:solidFill>
                <a:latin typeface="Calibri"/>
              </a:rPr>
              <a:t>of malpractice claims trace to calendar misses</a:t>
            </a:r>
          </a:p>
        </p:txBody>
      </p:sp>
      <p:sp>
        <p:nvSpPr>
          <p:cNvPr id="15" name="TextBox 14"/>
          <p:cNvSpPr txBox="1"/>
          <p:nvPr/>
        </p:nvSpPr>
        <p:spPr>
          <a:xfrm>
            <a:off x="685800" y="5577840"/>
            <a:ext cx="10972800" cy="914400"/>
          </a:xfrm>
          <a:prstGeom prst="rect">
            <a:avLst/>
          </a:prstGeom>
          <a:noFill/>
        </p:spPr>
        <p:txBody>
          <a:bodyPr wrap="square" lIns="0" rIns="0" tIns="0" bIns="0">
            <a:spAutoFit/>
          </a:bodyPr>
          <a:lstStyle/>
          <a:p>
            <a:pPr algn="l"/>
            <a:r>
              <a:rPr sz="1400" b="0">
                <a:solidFill>
                  <a:srgbClr val="78716C"/>
                </a:solidFill>
                <a:latin typeface="Calibri"/>
              </a:rPr>
              <a:t>No existing Indian tool unifies case management, AI drafting, deadline intelligence, and research grounded in Indian law. MyKase has no AI. Harvey doesn't speak Indian law. IndianKanoon is search-only. BNSS replaced CrPC in July 2024 — every template library is voided.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3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What we built</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3400" b="1">
                <a:solidFill>
                  <a:srgbClr val="1C1917"/>
                </a:solidFill>
                <a:latin typeface="Calibri"/>
              </a:rPr>
              <a:t>Lawris — four pillars, one case file</a:t>
            </a:r>
          </a:p>
        </p:txBody>
      </p:sp>
      <p:sp>
        <p:nvSpPr>
          <p:cNvPr id="7" name="TextBox 6"/>
          <p:cNvSpPr txBox="1"/>
          <p:nvPr/>
        </p:nvSpPr>
        <p:spPr>
          <a:xfrm>
            <a:off x="685800" y="1828800"/>
            <a:ext cx="10972800" cy="914400"/>
          </a:xfrm>
          <a:prstGeom prst="rect">
            <a:avLst/>
          </a:prstGeom>
          <a:noFill/>
        </p:spPr>
        <p:txBody>
          <a:bodyPr wrap="square" lIns="0" rIns="0" tIns="0" bIns="0">
            <a:spAutoFit/>
          </a:bodyPr>
          <a:lstStyle/>
          <a:p>
            <a:pPr algn="l"/>
            <a:r>
              <a:rPr sz="1800" b="0">
                <a:solidFill>
                  <a:srgbClr val="1C1917"/>
                </a:solidFill>
                <a:latin typeface="Calibri"/>
              </a:rPr>
              <a:t>Open a case → auto-computed statutory deadlines → court-ready drafts in &lt;30s → research answers grounded in the case's own documents and Indian statutes.</a:t>
            </a:r>
          </a:p>
        </p:txBody>
      </p:sp>
      <p:sp>
        <p:nvSpPr>
          <p:cNvPr id="8" name="Rectangle 7"/>
          <p:cNvSpPr/>
          <p:nvPr/>
        </p:nvSpPr>
        <p:spPr>
          <a:xfrm>
            <a:off x="685800" y="3108960"/>
            <a:ext cx="137160" cy="3657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108960"/>
            <a:ext cx="5120640" cy="365760"/>
          </a:xfrm>
          <a:prstGeom prst="rect">
            <a:avLst/>
          </a:prstGeom>
          <a:noFill/>
        </p:spPr>
        <p:txBody>
          <a:bodyPr wrap="square" lIns="0" rIns="0" tIns="0" bIns="0">
            <a:spAutoFit/>
          </a:bodyPr>
          <a:lstStyle/>
          <a:p>
            <a:pPr algn="l"/>
            <a:r>
              <a:rPr sz="1300" b="1">
                <a:solidFill>
                  <a:srgbClr val="B91C1C"/>
                </a:solidFill>
                <a:latin typeface="Calibri"/>
              </a:rPr>
              <a:t>DEADLINE BRAIN</a:t>
            </a:r>
          </a:p>
        </p:txBody>
      </p:sp>
      <p:sp>
        <p:nvSpPr>
          <p:cNvPr id="10" name="TextBox 9"/>
          <p:cNvSpPr txBox="1"/>
          <p:nvPr/>
        </p:nvSpPr>
        <p:spPr>
          <a:xfrm>
            <a:off x="960120" y="3566160"/>
            <a:ext cx="5120640" cy="914400"/>
          </a:xfrm>
          <a:prstGeom prst="rect">
            <a:avLst/>
          </a:prstGeom>
          <a:noFill/>
        </p:spPr>
        <p:txBody>
          <a:bodyPr wrap="square" lIns="0" rIns="0" tIns="0" bIns="0">
            <a:spAutoFit/>
          </a:bodyPr>
          <a:lstStyle/>
          <a:p>
            <a:pPr algn="l"/>
            <a:r>
              <a:rPr sz="1300" b="0">
                <a:solidFill>
                  <a:srgbClr val="1C1917"/>
                </a:solidFill>
                <a:latin typeface="Calibri"/>
              </a:rPr>
              <a:t>BNSS 187(3) chargesheet rule, Limitation Act periods, hearing alerts — all auto-generated from FIR data.</a:t>
            </a:r>
          </a:p>
        </p:txBody>
      </p:sp>
      <p:sp>
        <p:nvSpPr>
          <p:cNvPr id="11" name="Rectangle 10"/>
          <p:cNvSpPr/>
          <p:nvPr/>
        </p:nvSpPr>
        <p:spPr>
          <a:xfrm>
            <a:off x="6355080" y="3108960"/>
            <a:ext cx="137160" cy="36576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3108960"/>
            <a:ext cx="5120640" cy="365760"/>
          </a:xfrm>
          <a:prstGeom prst="rect">
            <a:avLst/>
          </a:prstGeom>
          <a:noFill/>
        </p:spPr>
        <p:txBody>
          <a:bodyPr wrap="square" lIns="0" rIns="0" tIns="0" bIns="0">
            <a:spAutoFit/>
          </a:bodyPr>
          <a:lstStyle/>
          <a:p>
            <a:pPr algn="l"/>
            <a:r>
              <a:rPr sz="1300" b="1">
                <a:solidFill>
                  <a:srgbClr val="3F3D99"/>
                </a:solidFill>
                <a:latin typeface="Calibri"/>
              </a:rPr>
              <a:t>AI DRAFTING</a:t>
            </a:r>
          </a:p>
        </p:txBody>
      </p:sp>
      <p:sp>
        <p:nvSpPr>
          <p:cNvPr id="13" name="TextBox 12"/>
          <p:cNvSpPr txBox="1"/>
          <p:nvPr/>
        </p:nvSpPr>
        <p:spPr>
          <a:xfrm>
            <a:off x="6629400" y="3566160"/>
            <a:ext cx="5120640" cy="914400"/>
          </a:xfrm>
          <a:prstGeom prst="rect">
            <a:avLst/>
          </a:prstGeom>
          <a:noFill/>
        </p:spPr>
        <p:txBody>
          <a:bodyPr wrap="square" lIns="0" rIns="0" tIns="0" bIns="0">
            <a:spAutoFit/>
          </a:bodyPr>
          <a:lstStyle/>
          <a:p>
            <a:pPr algn="l"/>
            <a:r>
              <a:rPr sz="1300" b="0">
                <a:solidFill>
                  <a:srgbClr val="1C1917"/>
                </a:solidFill>
                <a:latin typeface="Calibri"/>
              </a:rPr>
              <a:t>Bail applications (§483 BNSS) and plaints (Order VII CPC) streamed in under 30 seconds with real Indian-court formatting.</a:t>
            </a:r>
          </a:p>
        </p:txBody>
      </p:sp>
      <p:sp>
        <p:nvSpPr>
          <p:cNvPr id="14" name="Rectangle 13"/>
          <p:cNvSpPr/>
          <p:nvPr/>
        </p:nvSpPr>
        <p:spPr>
          <a:xfrm>
            <a:off x="685800" y="4663440"/>
            <a:ext cx="1371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663440"/>
            <a:ext cx="5120640" cy="365760"/>
          </a:xfrm>
          <a:prstGeom prst="rect">
            <a:avLst/>
          </a:prstGeom>
          <a:noFill/>
        </p:spPr>
        <p:txBody>
          <a:bodyPr wrap="square" lIns="0" rIns="0" tIns="0" bIns="0">
            <a:spAutoFit/>
          </a:bodyPr>
          <a:lstStyle/>
          <a:p>
            <a:pPr algn="l"/>
            <a:r>
              <a:rPr sz="1300" b="1">
                <a:solidFill>
                  <a:srgbClr val="059669"/>
                </a:solidFill>
                <a:latin typeface="Calibri"/>
              </a:rPr>
              <a:t>HEARING MEMORY</a:t>
            </a:r>
          </a:p>
        </p:txBody>
      </p:sp>
      <p:sp>
        <p:nvSpPr>
          <p:cNvPr id="16" name="TextBox 15"/>
          <p:cNvSpPr txBox="1"/>
          <p:nvPr/>
        </p:nvSpPr>
        <p:spPr>
          <a:xfrm>
            <a:off x="960120" y="5120640"/>
            <a:ext cx="5120640" cy="914400"/>
          </a:xfrm>
          <a:prstGeom prst="rect">
            <a:avLst/>
          </a:prstGeom>
          <a:noFill/>
        </p:spPr>
        <p:txBody>
          <a:bodyPr wrap="square" lIns="0" rIns="0" tIns="0" bIns="0">
            <a:spAutoFit/>
          </a:bodyPr>
          <a:lstStyle/>
          <a:p>
            <a:pPr algn="l"/>
            <a:r>
              <a:rPr sz="1300" b="0">
                <a:solidFill>
                  <a:srgbClr val="1C1917"/>
                </a:solidFill>
                <a:latin typeface="Calibri"/>
              </a:rPr>
              <a:t>Every logged hearing regenerates the case summary. Next-date hearings become deadline rows automatically.</a:t>
            </a:r>
          </a:p>
        </p:txBody>
      </p:sp>
      <p:sp>
        <p:nvSpPr>
          <p:cNvPr id="17" name="Rectangle 16"/>
          <p:cNvSpPr/>
          <p:nvPr/>
        </p:nvSpPr>
        <p:spPr>
          <a:xfrm>
            <a:off x="6355080" y="4663440"/>
            <a:ext cx="137160" cy="3657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663440"/>
            <a:ext cx="5120640" cy="365760"/>
          </a:xfrm>
          <a:prstGeom prst="rect">
            <a:avLst/>
          </a:prstGeom>
          <a:noFill/>
        </p:spPr>
        <p:txBody>
          <a:bodyPr wrap="square" lIns="0" rIns="0" tIns="0" bIns="0">
            <a:spAutoFit/>
          </a:bodyPr>
          <a:lstStyle/>
          <a:p>
            <a:pPr algn="l"/>
            <a:r>
              <a:rPr sz="1300" b="1">
                <a:solidFill>
                  <a:srgbClr val="1D4ED8"/>
                </a:solidFill>
                <a:latin typeface="Calibri"/>
              </a:rPr>
              <a:t>GROUNDED RESEARCH</a:t>
            </a:r>
          </a:p>
        </p:txBody>
      </p:sp>
      <p:sp>
        <p:nvSpPr>
          <p:cNvPr id="19" name="TextBox 18"/>
          <p:cNvSpPr txBox="1"/>
          <p:nvPr/>
        </p:nvSpPr>
        <p:spPr>
          <a:xfrm>
            <a:off x="6629400" y="5120640"/>
            <a:ext cx="5120640" cy="914400"/>
          </a:xfrm>
          <a:prstGeom prst="rect">
            <a:avLst/>
          </a:prstGeom>
          <a:noFill/>
        </p:spPr>
        <p:txBody>
          <a:bodyPr wrap="square" lIns="0" rIns="0" tIns="0" bIns="0">
            <a:spAutoFit/>
          </a:bodyPr>
          <a:lstStyle/>
          <a:p>
            <a:pPr algn="l"/>
            <a:r>
              <a:rPr sz="1300" b="0">
                <a:solidFill>
                  <a:srgbClr val="1C1917"/>
                </a:solidFill>
                <a:latin typeface="Calibri"/>
              </a:rPr>
              <a:t>Answers cite the lawyer's own uploads AND a curated corpus of Indian statutes + landmark judgments.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4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System architecture</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One Next.js app · Supabase · Gemini</a:t>
            </a:r>
          </a:p>
        </p:txBody>
      </p:sp>
      <p:sp>
        <p:nvSpPr>
          <p:cNvPr id="7" name="Rounded Rectangle 6"/>
          <p:cNvSpPr/>
          <p:nvPr/>
        </p:nvSpPr>
        <p:spPr>
          <a:xfrm>
            <a:off x="914400" y="1737360"/>
            <a:ext cx="10332720" cy="822960"/>
          </a:xfrm>
          <a:prstGeom prst="roundRect">
            <a:avLst>
              <a:gd name="adj" fmla="val 6000"/>
            </a:avLst>
          </a:prstGeom>
          <a:solidFill>
            <a:srgbClr val="1E1B4B"/>
          </a:solidFill>
          <a:ln w="9525">
            <a:solidFill>
              <a:srgbClr val="1E1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65960"/>
            <a:ext cx="10058400" cy="457200"/>
          </a:xfrm>
          <a:prstGeom prst="rect">
            <a:avLst/>
          </a:prstGeom>
          <a:noFill/>
        </p:spPr>
        <p:txBody>
          <a:bodyPr wrap="square" lIns="0" rIns="0" tIns="0" bIns="0">
            <a:spAutoFit/>
          </a:bodyPr>
          <a:lstStyle/>
          <a:p>
            <a:pPr algn="l"/>
            <a:r>
              <a:rPr sz="1400" b="1">
                <a:solidFill>
                  <a:srgbClr val="FFFFFF"/>
                </a:solidFill>
                <a:latin typeface="Calibri"/>
              </a:rPr>
              <a:t>BROWSER  ·  React Server Components + Client Components + AI stream reader</a:t>
            </a:r>
          </a:p>
        </p:txBody>
      </p:sp>
      <p:sp>
        <p:nvSpPr>
          <p:cNvPr id="9" name="Rounded Rectangle 8"/>
          <p:cNvSpPr/>
          <p:nvPr/>
        </p:nvSpPr>
        <p:spPr>
          <a:xfrm>
            <a:off x="914400" y="2788920"/>
            <a:ext cx="10332720" cy="1920240"/>
          </a:xfrm>
          <a:prstGeom prst="roundRect">
            <a:avLst>
              <a:gd name="adj" fmla="val 6000"/>
            </a:avLst>
          </a:prstGeom>
          <a:solidFill>
            <a:srgbClr val="FFFFFF"/>
          </a:solidFill>
          <a:ln w="9525">
            <a:solidFill>
              <a:srgbClr val="3F3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880360"/>
            <a:ext cx="10058400" cy="320040"/>
          </a:xfrm>
          <a:prstGeom prst="rect">
            <a:avLst/>
          </a:prstGeom>
          <a:noFill/>
        </p:spPr>
        <p:txBody>
          <a:bodyPr wrap="square" lIns="0" rIns="0" tIns="0" bIns="0">
            <a:spAutoFit/>
          </a:bodyPr>
          <a:lstStyle/>
          <a:p>
            <a:pPr algn="l"/>
            <a:r>
              <a:rPr sz="1300" b="1">
                <a:solidFill>
                  <a:srgbClr val="3F3D99"/>
                </a:solidFill>
                <a:latin typeface="Calibri"/>
              </a:rPr>
              <a:t>NEXT.JS 14 — App Router + API handlers + Middleware</a:t>
            </a:r>
          </a:p>
        </p:txBody>
      </p:sp>
      <p:sp>
        <p:nvSpPr>
          <p:cNvPr id="11" name="TextBox 10"/>
          <p:cNvSpPr txBox="1"/>
          <p:nvPr/>
        </p:nvSpPr>
        <p:spPr>
          <a:xfrm>
            <a:off x="1188720" y="3246120"/>
            <a:ext cx="1828800" cy="274320"/>
          </a:xfrm>
          <a:prstGeom prst="rect">
            <a:avLst/>
          </a:prstGeom>
          <a:noFill/>
        </p:spPr>
        <p:txBody>
          <a:bodyPr wrap="square" lIns="0" rIns="0" tIns="0" bIns="0">
            <a:spAutoFit/>
          </a:bodyPr>
          <a:lstStyle/>
          <a:p>
            <a:pPr algn="l"/>
            <a:r>
              <a:rPr sz="1100" b="1">
                <a:solidFill>
                  <a:srgbClr val="1C1917"/>
                </a:solidFill>
                <a:latin typeface="Calibri"/>
              </a:rPr>
              <a:t>Pages</a:t>
            </a:r>
          </a:p>
        </p:txBody>
      </p:sp>
      <p:sp>
        <p:nvSpPr>
          <p:cNvPr id="12" name="TextBox 11"/>
          <p:cNvSpPr txBox="1"/>
          <p:nvPr/>
        </p:nvSpPr>
        <p:spPr>
          <a:xfrm>
            <a:off x="3108960" y="3246120"/>
            <a:ext cx="2926080" cy="274320"/>
          </a:xfrm>
          <a:prstGeom prst="rect">
            <a:avLst/>
          </a:prstGeom>
          <a:noFill/>
        </p:spPr>
        <p:txBody>
          <a:bodyPr wrap="square" lIns="0" rIns="0" tIns="0" bIns="0">
            <a:spAutoFit/>
          </a:bodyPr>
          <a:lstStyle/>
          <a:p>
            <a:pPr algn="l"/>
            <a:r>
              <a:rPr sz="1100" b="0">
                <a:solidFill>
                  <a:srgbClr val="78716C"/>
                </a:solidFill>
                <a:latin typeface="Calibri"/>
              </a:rPr>
              <a:t>/, /cases, /cases/:id, /calendar</a:t>
            </a:r>
          </a:p>
        </p:txBody>
      </p:sp>
      <p:sp>
        <p:nvSpPr>
          <p:cNvPr id="13" name="TextBox 12"/>
          <p:cNvSpPr txBox="1"/>
          <p:nvPr/>
        </p:nvSpPr>
        <p:spPr>
          <a:xfrm>
            <a:off x="6035040" y="3246120"/>
            <a:ext cx="1828800" cy="274320"/>
          </a:xfrm>
          <a:prstGeom prst="rect">
            <a:avLst/>
          </a:prstGeom>
          <a:noFill/>
        </p:spPr>
        <p:txBody>
          <a:bodyPr wrap="square" lIns="0" rIns="0" tIns="0" bIns="0">
            <a:spAutoFit/>
          </a:bodyPr>
          <a:lstStyle/>
          <a:p>
            <a:pPr algn="l"/>
            <a:r>
              <a:rPr sz="1100" b="1">
                <a:solidFill>
                  <a:srgbClr val="1C1917"/>
                </a:solidFill>
                <a:latin typeface="Calibri"/>
              </a:rPr>
              <a:t>/api/ai/draft</a:t>
            </a:r>
          </a:p>
        </p:txBody>
      </p:sp>
      <p:sp>
        <p:nvSpPr>
          <p:cNvPr id="14" name="TextBox 13"/>
          <p:cNvSpPr txBox="1"/>
          <p:nvPr/>
        </p:nvSpPr>
        <p:spPr>
          <a:xfrm>
            <a:off x="7955280" y="3246120"/>
            <a:ext cx="2926080" cy="274320"/>
          </a:xfrm>
          <a:prstGeom prst="rect">
            <a:avLst/>
          </a:prstGeom>
          <a:noFill/>
        </p:spPr>
        <p:txBody>
          <a:bodyPr wrap="square" lIns="0" rIns="0" tIns="0" bIns="0">
            <a:spAutoFit/>
          </a:bodyPr>
          <a:lstStyle/>
          <a:p>
            <a:pPr algn="l"/>
            <a:r>
              <a:rPr sz="1100" b="0">
                <a:solidFill>
                  <a:srgbClr val="78716C"/>
                </a:solidFill>
                <a:latin typeface="Calibri"/>
              </a:rPr>
              <a:t>streaming Gemini 2.5 Flash</a:t>
            </a:r>
          </a:p>
        </p:txBody>
      </p:sp>
      <p:sp>
        <p:nvSpPr>
          <p:cNvPr id="15" name="TextBox 14"/>
          <p:cNvSpPr txBox="1"/>
          <p:nvPr/>
        </p:nvSpPr>
        <p:spPr>
          <a:xfrm>
            <a:off x="1188720" y="3703320"/>
            <a:ext cx="1828800" cy="274320"/>
          </a:xfrm>
          <a:prstGeom prst="rect">
            <a:avLst/>
          </a:prstGeom>
          <a:noFill/>
        </p:spPr>
        <p:txBody>
          <a:bodyPr wrap="square" lIns="0" rIns="0" tIns="0" bIns="0">
            <a:spAutoFit/>
          </a:bodyPr>
          <a:lstStyle/>
          <a:p>
            <a:pPr algn="l"/>
            <a:r>
              <a:rPr sz="1100" b="1">
                <a:solidFill>
                  <a:srgbClr val="1C1917"/>
                </a:solidFill>
                <a:latin typeface="Calibri"/>
              </a:rPr>
              <a:t>/api/ai/research</a:t>
            </a:r>
          </a:p>
        </p:txBody>
      </p:sp>
      <p:sp>
        <p:nvSpPr>
          <p:cNvPr id="16" name="TextBox 15"/>
          <p:cNvSpPr txBox="1"/>
          <p:nvPr/>
        </p:nvSpPr>
        <p:spPr>
          <a:xfrm>
            <a:off x="3108960" y="3703320"/>
            <a:ext cx="2926080" cy="274320"/>
          </a:xfrm>
          <a:prstGeom prst="rect">
            <a:avLst/>
          </a:prstGeom>
          <a:noFill/>
        </p:spPr>
        <p:txBody>
          <a:bodyPr wrap="square" lIns="0" rIns="0" tIns="0" bIns="0">
            <a:spAutoFit/>
          </a:bodyPr>
          <a:lstStyle/>
          <a:p>
            <a:pPr algn="l"/>
            <a:r>
              <a:rPr sz="1100" b="0">
                <a:solidFill>
                  <a:srgbClr val="78716C"/>
                </a:solidFill>
                <a:latin typeface="Calibri"/>
              </a:rPr>
              <a:t>hybrid RAG + structured JSON + URL enrichment</a:t>
            </a:r>
          </a:p>
        </p:txBody>
      </p:sp>
      <p:sp>
        <p:nvSpPr>
          <p:cNvPr id="17" name="TextBox 16"/>
          <p:cNvSpPr txBox="1"/>
          <p:nvPr/>
        </p:nvSpPr>
        <p:spPr>
          <a:xfrm>
            <a:off x="6035040" y="3703320"/>
            <a:ext cx="1828800" cy="274320"/>
          </a:xfrm>
          <a:prstGeom prst="rect">
            <a:avLst/>
          </a:prstGeom>
          <a:noFill/>
        </p:spPr>
        <p:txBody>
          <a:bodyPr wrap="square" lIns="0" rIns="0" tIns="0" bIns="0">
            <a:spAutoFit/>
          </a:bodyPr>
          <a:lstStyle/>
          <a:p>
            <a:pPr algn="l"/>
            <a:r>
              <a:rPr sz="1100" b="1">
                <a:solidFill>
                  <a:srgbClr val="1C1917"/>
                </a:solidFill>
                <a:latin typeface="Calibri"/>
              </a:rPr>
              <a:t>/api/documents/ingest</a:t>
            </a:r>
          </a:p>
        </p:txBody>
      </p:sp>
      <p:sp>
        <p:nvSpPr>
          <p:cNvPr id="18" name="TextBox 17"/>
          <p:cNvSpPr txBox="1"/>
          <p:nvPr/>
        </p:nvSpPr>
        <p:spPr>
          <a:xfrm>
            <a:off x="7955280" y="3703320"/>
            <a:ext cx="2926080" cy="274320"/>
          </a:xfrm>
          <a:prstGeom prst="rect">
            <a:avLst/>
          </a:prstGeom>
          <a:noFill/>
        </p:spPr>
        <p:txBody>
          <a:bodyPr wrap="square" lIns="0" rIns="0" tIns="0" bIns="0">
            <a:spAutoFit/>
          </a:bodyPr>
          <a:lstStyle/>
          <a:p>
            <a:pPr algn="l"/>
            <a:r>
              <a:rPr sz="1100" b="0">
                <a:solidFill>
                  <a:srgbClr val="78716C"/>
                </a:solidFill>
                <a:latin typeface="Calibri"/>
              </a:rPr>
              <a:t>pdf-parse → chunk → embed → Storage</a:t>
            </a:r>
          </a:p>
        </p:txBody>
      </p:sp>
      <p:sp>
        <p:nvSpPr>
          <p:cNvPr id="19" name="TextBox 18"/>
          <p:cNvSpPr txBox="1"/>
          <p:nvPr/>
        </p:nvSpPr>
        <p:spPr>
          <a:xfrm>
            <a:off x="1188720" y="4160520"/>
            <a:ext cx="1828800" cy="274320"/>
          </a:xfrm>
          <a:prstGeom prst="rect">
            <a:avLst/>
          </a:prstGeom>
          <a:noFill/>
        </p:spPr>
        <p:txBody>
          <a:bodyPr wrap="square" lIns="0" rIns="0" tIns="0" bIns="0">
            <a:spAutoFit/>
          </a:bodyPr>
          <a:lstStyle/>
          <a:p>
            <a:pPr algn="l"/>
            <a:r>
              <a:rPr sz="1100" b="1">
                <a:solidFill>
                  <a:srgbClr val="1C1917"/>
                </a:solidFill>
                <a:latin typeface="Calibri"/>
              </a:rPr>
              <a:t>/api/cases, /api/deadlines/*</a:t>
            </a:r>
          </a:p>
        </p:txBody>
      </p:sp>
      <p:sp>
        <p:nvSpPr>
          <p:cNvPr id="20" name="TextBox 19"/>
          <p:cNvSpPr txBox="1"/>
          <p:nvPr/>
        </p:nvSpPr>
        <p:spPr>
          <a:xfrm>
            <a:off x="3108960" y="4160520"/>
            <a:ext cx="2926080" cy="274320"/>
          </a:xfrm>
          <a:prstGeom prst="rect">
            <a:avLst/>
          </a:prstGeom>
          <a:noFill/>
        </p:spPr>
        <p:txBody>
          <a:bodyPr wrap="square" lIns="0" rIns="0" tIns="0" bIns="0">
            <a:spAutoFit/>
          </a:bodyPr>
          <a:lstStyle/>
          <a:p>
            <a:pPr algn="l"/>
            <a:r>
              <a:rPr sz="1100" b="0">
                <a:solidFill>
                  <a:srgbClr val="78716C"/>
                </a:solidFill>
                <a:latin typeface="Calibri"/>
              </a:rPr>
              <a:t>CRUD + auto-deadlines</a:t>
            </a:r>
          </a:p>
        </p:txBody>
      </p:sp>
      <p:sp>
        <p:nvSpPr>
          <p:cNvPr id="21" name="TextBox 20"/>
          <p:cNvSpPr txBox="1"/>
          <p:nvPr/>
        </p:nvSpPr>
        <p:spPr>
          <a:xfrm>
            <a:off x="6035040" y="4160520"/>
            <a:ext cx="1828800" cy="274320"/>
          </a:xfrm>
          <a:prstGeom prst="rect">
            <a:avLst/>
          </a:prstGeom>
          <a:noFill/>
        </p:spPr>
        <p:txBody>
          <a:bodyPr wrap="square" lIns="0" rIns="0" tIns="0" bIns="0">
            <a:spAutoFit/>
          </a:bodyPr>
          <a:lstStyle/>
          <a:p>
            <a:pPr algn="l"/>
            <a:r>
              <a:rPr sz="1100" b="1">
                <a:solidFill>
                  <a:srgbClr val="1C1917"/>
                </a:solidFill>
                <a:latin typeface="Calibri"/>
              </a:rPr>
              <a:t>Middleware</a:t>
            </a:r>
          </a:p>
        </p:txBody>
      </p:sp>
      <p:sp>
        <p:nvSpPr>
          <p:cNvPr id="22" name="TextBox 21"/>
          <p:cNvSpPr txBox="1"/>
          <p:nvPr/>
        </p:nvSpPr>
        <p:spPr>
          <a:xfrm>
            <a:off x="7955280" y="4160520"/>
            <a:ext cx="2926080" cy="274320"/>
          </a:xfrm>
          <a:prstGeom prst="rect">
            <a:avLst/>
          </a:prstGeom>
          <a:noFill/>
        </p:spPr>
        <p:txBody>
          <a:bodyPr wrap="square" lIns="0" rIns="0" tIns="0" bIns="0">
            <a:spAutoFit/>
          </a:bodyPr>
          <a:lstStyle/>
          <a:p>
            <a:pPr algn="l"/>
            <a:r>
              <a:rPr sz="1100" b="0">
                <a:solidFill>
                  <a:srgbClr val="78716C"/>
                </a:solidFill>
                <a:latin typeface="Calibri"/>
              </a:rPr>
              <a:t>Supabase SSR session + LAWYER_ID fallback</a:t>
            </a:r>
          </a:p>
        </p:txBody>
      </p:sp>
      <p:sp>
        <p:nvSpPr>
          <p:cNvPr id="23" name="Rectangle 22"/>
          <p:cNvSpPr/>
          <p:nvPr/>
        </p:nvSpPr>
        <p:spPr>
          <a:xfrm>
            <a:off x="914400" y="4983480"/>
            <a:ext cx="137160"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983480"/>
            <a:ext cx="3200400" cy="365760"/>
          </a:xfrm>
          <a:prstGeom prst="rect">
            <a:avLst/>
          </a:prstGeom>
          <a:noFill/>
        </p:spPr>
        <p:txBody>
          <a:bodyPr wrap="square" lIns="0" rIns="0" tIns="0" bIns="0">
            <a:spAutoFit/>
          </a:bodyPr>
          <a:lstStyle/>
          <a:p>
            <a:pPr algn="l"/>
            <a:r>
              <a:rPr sz="1200" b="1">
                <a:solidFill>
                  <a:srgbClr val="059669"/>
                </a:solidFill>
                <a:latin typeface="Calibri"/>
              </a:rPr>
              <a:t>SUPABASE</a:t>
            </a:r>
          </a:p>
        </p:txBody>
      </p:sp>
      <p:sp>
        <p:nvSpPr>
          <p:cNvPr id="25" name="TextBox 24"/>
          <p:cNvSpPr txBox="1"/>
          <p:nvPr/>
        </p:nvSpPr>
        <p:spPr>
          <a:xfrm>
            <a:off x="1143000" y="5349240"/>
            <a:ext cx="3200400" cy="640080"/>
          </a:xfrm>
          <a:prstGeom prst="rect">
            <a:avLst/>
          </a:prstGeom>
          <a:noFill/>
        </p:spPr>
        <p:txBody>
          <a:bodyPr wrap="square" lIns="0" rIns="0" tIns="0" bIns="0">
            <a:spAutoFit/>
          </a:bodyPr>
          <a:lstStyle/>
          <a:p>
            <a:pPr algn="l"/>
            <a:r>
              <a:rPr sz="1100" b="0">
                <a:solidFill>
                  <a:srgbClr val="1C1917"/>
                </a:solidFill>
                <a:latin typeface="Calibri"/>
              </a:rPr>
              <a:t>Postgres + pgvector · Storage · Auth</a:t>
            </a:r>
          </a:p>
        </p:txBody>
      </p:sp>
      <p:sp>
        <p:nvSpPr>
          <p:cNvPr id="26" name="Rectangle 25"/>
          <p:cNvSpPr/>
          <p:nvPr/>
        </p:nvSpPr>
        <p:spPr>
          <a:xfrm>
            <a:off x="4434840" y="4983480"/>
            <a:ext cx="137160"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983480"/>
            <a:ext cx="3200400" cy="365760"/>
          </a:xfrm>
          <a:prstGeom prst="rect">
            <a:avLst/>
          </a:prstGeom>
          <a:noFill/>
        </p:spPr>
        <p:txBody>
          <a:bodyPr wrap="square" lIns="0" rIns="0" tIns="0" bIns="0">
            <a:spAutoFit/>
          </a:bodyPr>
          <a:lstStyle/>
          <a:p>
            <a:pPr algn="l"/>
            <a:r>
              <a:rPr sz="1200" b="1">
                <a:solidFill>
                  <a:srgbClr val="B45309"/>
                </a:solidFill>
                <a:latin typeface="Calibri"/>
              </a:rPr>
              <a:t>GOOGLE GEMINI</a:t>
            </a:r>
          </a:p>
        </p:txBody>
      </p:sp>
      <p:sp>
        <p:nvSpPr>
          <p:cNvPr id="28" name="TextBox 27"/>
          <p:cNvSpPr txBox="1"/>
          <p:nvPr/>
        </p:nvSpPr>
        <p:spPr>
          <a:xfrm>
            <a:off x="4663440" y="5349240"/>
            <a:ext cx="3200400" cy="640080"/>
          </a:xfrm>
          <a:prstGeom prst="rect">
            <a:avLst/>
          </a:prstGeom>
          <a:noFill/>
        </p:spPr>
        <p:txBody>
          <a:bodyPr wrap="square" lIns="0" rIns="0" tIns="0" bIns="0">
            <a:spAutoFit/>
          </a:bodyPr>
          <a:lstStyle/>
          <a:p>
            <a:pPr algn="l"/>
            <a:r>
              <a:rPr sz="1100" b="0">
                <a:solidFill>
                  <a:srgbClr val="1C1917"/>
                </a:solidFill>
                <a:latin typeface="Calibri"/>
              </a:rPr>
              <a:t>2.5 Flash drafting · Flash-Lite research · embedding-001</a:t>
            </a:r>
          </a:p>
        </p:txBody>
      </p:sp>
      <p:sp>
        <p:nvSpPr>
          <p:cNvPr id="29" name="Rectangle 28"/>
          <p:cNvSpPr/>
          <p:nvPr/>
        </p:nvSpPr>
        <p:spPr>
          <a:xfrm>
            <a:off x="7955279" y="4983480"/>
            <a:ext cx="137160" cy="914400"/>
          </a:xfrm>
          <a:prstGeom prst="rect">
            <a:avLst/>
          </a:prstGeom>
          <a:solidFill>
            <a:srgbClr val="78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983480"/>
            <a:ext cx="3200400" cy="365760"/>
          </a:xfrm>
          <a:prstGeom prst="rect">
            <a:avLst/>
          </a:prstGeom>
          <a:noFill/>
        </p:spPr>
        <p:txBody>
          <a:bodyPr wrap="square" lIns="0" rIns="0" tIns="0" bIns="0">
            <a:spAutoFit/>
          </a:bodyPr>
          <a:lstStyle/>
          <a:p>
            <a:pPr algn="l"/>
            <a:r>
              <a:rPr sz="1200" b="1">
                <a:solidFill>
                  <a:srgbClr val="78716C"/>
                </a:solidFill>
                <a:latin typeface="Calibri"/>
              </a:rPr>
              <a:t>vendor helpers</a:t>
            </a:r>
          </a:p>
        </p:txBody>
      </p:sp>
      <p:sp>
        <p:nvSpPr>
          <p:cNvPr id="31" name="TextBox 30"/>
          <p:cNvSpPr txBox="1"/>
          <p:nvPr/>
        </p:nvSpPr>
        <p:spPr>
          <a:xfrm>
            <a:off x="8183879" y="5349240"/>
            <a:ext cx="3200400" cy="640080"/>
          </a:xfrm>
          <a:prstGeom prst="rect">
            <a:avLst/>
          </a:prstGeom>
          <a:noFill/>
        </p:spPr>
        <p:txBody>
          <a:bodyPr wrap="square" lIns="0" rIns="0" tIns="0" bIns="0">
            <a:spAutoFit/>
          </a:bodyPr>
          <a:lstStyle/>
          <a:p>
            <a:pPr algn="l"/>
            <a:r>
              <a:rPr sz="1100" b="0">
                <a:solidFill>
                  <a:srgbClr val="1C1917"/>
                </a:solidFill>
                <a:latin typeface="Calibri"/>
              </a:rPr>
              <a:t>zod · date-fns · pdf-parse · tsx · dotenv</a:t>
            </a:r>
          </a:p>
        </p:txBody>
      </p:sp>
      <p:sp>
        <p:nvSpPr>
          <p:cNvPr id="32" name="TextBox 31"/>
          <p:cNvSpPr txBox="1"/>
          <p:nvPr/>
        </p:nvSpPr>
        <p:spPr>
          <a:xfrm>
            <a:off x="914400" y="6172200"/>
            <a:ext cx="10332720" cy="548640"/>
          </a:xfrm>
          <a:prstGeom prst="rect">
            <a:avLst/>
          </a:prstGeom>
          <a:noFill/>
        </p:spPr>
        <p:txBody>
          <a:bodyPr wrap="square" lIns="0" rIns="0" tIns="0" bIns="0">
            <a:spAutoFit/>
          </a:bodyPr>
          <a:lstStyle/>
          <a:p>
            <a:pPr algn="l"/>
            <a:r>
              <a:rPr sz="1100" b="0">
                <a:solidFill>
                  <a:srgbClr val="78716C"/>
                </a:solidFill>
                <a:latin typeface="Calibri"/>
              </a:rPr>
              <a:t>Architectural bets: monolithic Next.js (no microservices), pgvector instead of Pinecone, streaming via ReadableStream (no WebSockets), RSC-first data fetching with client components only where interactive.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5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Data model</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9 tables · 9 enums · pgvector embedded</a:t>
            </a:r>
          </a:p>
        </p:txBody>
      </p:sp>
      <p:sp>
        <p:nvSpPr>
          <p:cNvPr id="7" name="Rounded Rectangle 6"/>
          <p:cNvSpPr/>
          <p:nvPr/>
        </p:nvSpPr>
        <p:spPr>
          <a:xfrm>
            <a:off x="594360" y="178308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20"/>
            <a:ext cx="1828800" cy="320040"/>
          </a:xfrm>
          <a:prstGeom prst="rect">
            <a:avLst/>
          </a:prstGeom>
          <a:noFill/>
        </p:spPr>
        <p:txBody>
          <a:bodyPr wrap="square" lIns="0" rIns="0" tIns="0" bIns="0">
            <a:spAutoFit/>
          </a:bodyPr>
          <a:lstStyle/>
          <a:p>
            <a:pPr algn="l"/>
            <a:r>
              <a:rPr sz="1300" b="1">
                <a:solidFill>
                  <a:srgbClr val="3F3D99"/>
                </a:solidFill>
                <a:latin typeface="Consolas"/>
              </a:rPr>
              <a:t>users</a:t>
            </a:r>
          </a:p>
        </p:txBody>
      </p:sp>
      <p:sp>
        <p:nvSpPr>
          <p:cNvPr id="9" name="TextBox 8"/>
          <p:cNvSpPr txBox="1"/>
          <p:nvPr/>
        </p:nvSpPr>
        <p:spPr>
          <a:xfrm>
            <a:off x="2606040" y="1874520"/>
            <a:ext cx="1280160" cy="320040"/>
          </a:xfrm>
          <a:prstGeom prst="rect">
            <a:avLst/>
          </a:prstGeom>
          <a:noFill/>
        </p:spPr>
        <p:txBody>
          <a:bodyPr wrap="square" lIns="0" rIns="0" tIns="0" bIns="0">
            <a:spAutoFit/>
          </a:bodyPr>
          <a:lstStyle/>
          <a:p>
            <a:pPr algn="l"/>
            <a:r>
              <a:rPr sz="1100" b="0">
                <a:solidFill>
                  <a:srgbClr val="78716C"/>
                </a:solidFill>
                <a:latin typeface="Calibri"/>
              </a:rPr>
              <a:t>1 row</a:t>
            </a:r>
          </a:p>
        </p:txBody>
      </p:sp>
      <p:sp>
        <p:nvSpPr>
          <p:cNvPr id="10" name="TextBox 9"/>
          <p:cNvSpPr txBox="1"/>
          <p:nvPr/>
        </p:nvSpPr>
        <p:spPr>
          <a:xfrm>
            <a:off x="777240" y="2167128"/>
            <a:ext cx="5120640" cy="201168"/>
          </a:xfrm>
          <a:prstGeom prst="rect">
            <a:avLst/>
          </a:prstGeom>
          <a:noFill/>
        </p:spPr>
        <p:txBody>
          <a:bodyPr wrap="square" lIns="0" rIns="0" tIns="0" bIns="0">
            <a:spAutoFit/>
          </a:bodyPr>
          <a:lstStyle/>
          <a:p>
            <a:pPr algn="l"/>
            <a:r>
              <a:rPr sz="1000" b="0">
                <a:solidFill>
                  <a:srgbClr val="1C1917"/>
                </a:solidFill>
                <a:latin typeface="Consolas"/>
              </a:rPr>
              <a:t>id, email, full_name, bar_council_no</a:t>
            </a:r>
          </a:p>
        </p:txBody>
      </p:sp>
      <p:sp>
        <p:nvSpPr>
          <p:cNvPr id="11" name="Rounded Rectangle 10"/>
          <p:cNvSpPr/>
          <p:nvPr/>
        </p:nvSpPr>
        <p:spPr>
          <a:xfrm>
            <a:off x="594360" y="265176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43200"/>
            <a:ext cx="1828800" cy="320040"/>
          </a:xfrm>
          <a:prstGeom prst="rect">
            <a:avLst/>
          </a:prstGeom>
          <a:noFill/>
        </p:spPr>
        <p:txBody>
          <a:bodyPr wrap="square" lIns="0" rIns="0" tIns="0" bIns="0">
            <a:spAutoFit/>
          </a:bodyPr>
          <a:lstStyle/>
          <a:p>
            <a:pPr algn="l"/>
            <a:r>
              <a:rPr sz="1300" b="1">
                <a:solidFill>
                  <a:srgbClr val="3F3D99"/>
                </a:solidFill>
                <a:latin typeface="Consolas"/>
              </a:rPr>
              <a:t>clients</a:t>
            </a:r>
          </a:p>
        </p:txBody>
      </p:sp>
      <p:sp>
        <p:nvSpPr>
          <p:cNvPr id="13" name="TextBox 12"/>
          <p:cNvSpPr txBox="1"/>
          <p:nvPr/>
        </p:nvSpPr>
        <p:spPr>
          <a:xfrm>
            <a:off x="2606040" y="2743200"/>
            <a:ext cx="1280160" cy="320040"/>
          </a:xfrm>
          <a:prstGeom prst="rect">
            <a:avLst/>
          </a:prstGeom>
          <a:noFill/>
        </p:spPr>
        <p:txBody>
          <a:bodyPr wrap="square" lIns="0" rIns="0" tIns="0" bIns="0">
            <a:spAutoFit/>
          </a:bodyPr>
          <a:lstStyle/>
          <a:p>
            <a:pPr algn="l"/>
            <a:r>
              <a:rPr sz="1100" b="0">
                <a:solidFill>
                  <a:srgbClr val="78716C"/>
                </a:solidFill>
                <a:latin typeface="Calibri"/>
              </a:rPr>
              <a:t>2 rows</a:t>
            </a:r>
          </a:p>
        </p:txBody>
      </p:sp>
      <p:sp>
        <p:nvSpPr>
          <p:cNvPr id="14" name="TextBox 13"/>
          <p:cNvSpPr txBox="1"/>
          <p:nvPr/>
        </p:nvSpPr>
        <p:spPr>
          <a:xfrm>
            <a:off x="777240" y="3035808"/>
            <a:ext cx="5120640" cy="201168"/>
          </a:xfrm>
          <a:prstGeom prst="rect">
            <a:avLst/>
          </a:prstGeom>
          <a:noFill/>
        </p:spPr>
        <p:txBody>
          <a:bodyPr wrap="square" lIns="0" rIns="0" tIns="0" bIns="0">
            <a:spAutoFit/>
          </a:bodyPr>
          <a:lstStyle/>
          <a:p>
            <a:pPr algn="l"/>
            <a:r>
              <a:rPr sz="1000" b="0">
                <a:solidFill>
                  <a:srgbClr val="1C1917"/>
                </a:solidFill>
                <a:latin typeface="Consolas"/>
              </a:rPr>
              <a:t>id, lawyer_id, full_name, aadhar_no</a:t>
            </a:r>
          </a:p>
        </p:txBody>
      </p:sp>
      <p:sp>
        <p:nvSpPr>
          <p:cNvPr id="15" name="Rounded Rectangle 14"/>
          <p:cNvSpPr/>
          <p:nvPr/>
        </p:nvSpPr>
        <p:spPr>
          <a:xfrm>
            <a:off x="594360" y="3520439"/>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611879"/>
            <a:ext cx="1828800" cy="320040"/>
          </a:xfrm>
          <a:prstGeom prst="rect">
            <a:avLst/>
          </a:prstGeom>
          <a:noFill/>
        </p:spPr>
        <p:txBody>
          <a:bodyPr wrap="square" lIns="0" rIns="0" tIns="0" bIns="0">
            <a:spAutoFit/>
          </a:bodyPr>
          <a:lstStyle/>
          <a:p>
            <a:pPr algn="l"/>
            <a:r>
              <a:rPr sz="1300" b="1">
                <a:solidFill>
                  <a:srgbClr val="3F3D99"/>
                </a:solidFill>
                <a:latin typeface="Consolas"/>
              </a:rPr>
              <a:t>cases</a:t>
            </a:r>
          </a:p>
        </p:txBody>
      </p:sp>
      <p:sp>
        <p:nvSpPr>
          <p:cNvPr id="17" name="TextBox 16"/>
          <p:cNvSpPr txBox="1"/>
          <p:nvPr/>
        </p:nvSpPr>
        <p:spPr>
          <a:xfrm>
            <a:off x="2606040" y="3611879"/>
            <a:ext cx="1280160" cy="320040"/>
          </a:xfrm>
          <a:prstGeom prst="rect">
            <a:avLst/>
          </a:prstGeom>
          <a:noFill/>
        </p:spPr>
        <p:txBody>
          <a:bodyPr wrap="square" lIns="0" rIns="0" tIns="0" bIns="0">
            <a:spAutoFit/>
          </a:bodyPr>
          <a:lstStyle/>
          <a:p>
            <a:pPr algn="l"/>
            <a:r>
              <a:rPr sz="1100" b="0">
                <a:solidFill>
                  <a:srgbClr val="78716C"/>
                </a:solidFill>
                <a:latin typeface="Calibri"/>
              </a:rPr>
              <a:t>3 rows</a:t>
            </a:r>
          </a:p>
        </p:txBody>
      </p:sp>
      <p:sp>
        <p:nvSpPr>
          <p:cNvPr id="18" name="TextBox 17"/>
          <p:cNvSpPr txBox="1"/>
          <p:nvPr/>
        </p:nvSpPr>
        <p:spPr>
          <a:xfrm>
            <a:off x="777240" y="3904487"/>
            <a:ext cx="5120640" cy="201168"/>
          </a:xfrm>
          <a:prstGeom prst="rect">
            <a:avLst/>
          </a:prstGeom>
          <a:noFill/>
        </p:spPr>
        <p:txBody>
          <a:bodyPr wrap="square" lIns="0" rIns="0" tIns="0" bIns="0">
            <a:spAutoFit/>
          </a:bodyPr>
          <a:lstStyle/>
          <a:p>
            <a:pPr algn="l"/>
            <a:r>
              <a:rPr sz="1000" b="0">
                <a:solidFill>
                  <a:srgbClr val="1C1917"/>
                </a:solidFill>
                <a:latin typeface="Consolas"/>
              </a:rPr>
              <a:t>fir_date, sections, offence_max_years</a:t>
            </a:r>
          </a:p>
        </p:txBody>
      </p:sp>
      <p:sp>
        <p:nvSpPr>
          <p:cNvPr id="19" name="TextBox 18"/>
          <p:cNvSpPr txBox="1"/>
          <p:nvPr/>
        </p:nvSpPr>
        <p:spPr>
          <a:xfrm>
            <a:off x="777240" y="4087367"/>
            <a:ext cx="5120640" cy="201168"/>
          </a:xfrm>
          <a:prstGeom prst="rect">
            <a:avLst/>
          </a:prstGeom>
          <a:noFill/>
        </p:spPr>
        <p:txBody>
          <a:bodyPr wrap="square" lIns="0" rIns="0" tIns="0" bIns="0">
            <a:spAutoFit/>
          </a:bodyPr>
          <a:lstStyle/>
          <a:p>
            <a:pPr algn="l"/>
            <a:r>
              <a:rPr sz="1000" b="0">
                <a:solidFill>
                  <a:srgbClr val="1C1917"/>
                </a:solidFill>
                <a:latin typeface="Consolas"/>
              </a:rPr>
              <a:t>phase, status, ai_summary</a:t>
            </a:r>
          </a:p>
        </p:txBody>
      </p:sp>
      <p:sp>
        <p:nvSpPr>
          <p:cNvPr id="20" name="Rounded Rectangle 19"/>
          <p:cNvSpPr/>
          <p:nvPr/>
        </p:nvSpPr>
        <p:spPr>
          <a:xfrm>
            <a:off x="594360" y="438912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480560"/>
            <a:ext cx="1828800" cy="320040"/>
          </a:xfrm>
          <a:prstGeom prst="rect">
            <a:avLst/>
          </a:prstGeom>
          <a:noFill/>
        </p:spPr>
        <p:txBody>
          <a:bodyPr wrap="square" lIns="0" rIns="0" tIns="0" bIns="0">
            <a:spAutoFit/>
          </a:bodyPr>
          <a:lstStyle/>
          <a:p>
            <a:pPr algn="l"/>
            <a:r>
              <a:rPr sz="1300" b="1">
                <a:solidFill>
                  <a:srgbClr val="3F3D99"/>
                </a:solidFill>
                <a:latin typeface="Consolas"/>
              </a:rPr>
              <a:t>deadlines</a:t>
            </a:r>
          </a:p>
        </p:txBody>
      </p:sp>
      <p:sp>
        <p:nvSpPr>
          <p:cNvPr id="22" name="TextBox 21"/>
          <p:cNvSpPr txBox="1"/>
          <p:nvPr/>
        </p:nvSpPr>
        <p:spPr>
          <a:xfrm>
            <a:off x="2606040" y="4480560"/>
            <a:ext cx="1280160" cy="320040"/>
          </a:xfrm>
          <a:prstGeom prst="rect">
            <a:avLst/>
          </a:prstGeom>
          <a:noFill/>
        </p:spPr>
        <p:txBody>
          <a:bodyPr wrap="square" lIns="0" rIns="0" tIns="0" bIns="0">
            <a:spAutoFit/>
          </a:bodyPr>
          <a:lstStyle/>
          <a:p>
            <a:pPr algn="l"/>
            <a:r>
              <a:rPr sz="1100" b="0">
                <a:solidFill>
                  <a:srgbClr val="78716C"/>
                </a:solidFill>
                <a:latin typeface="Calibri"/>
              </a:rPr>
              <a:t>4 rows</a:t>
            </a:r>
          </a:p>
        </p:txBody>
      </p:sp>
      <p:sp>
        <p:nvSpPr>
          <p:cNvPr id="23" name="TextBox 22"/>
          <p:cNvSpPr txBox="1"/>
          <p:nvPr/>
        </p:nvSpPr>
        <p:spPr>
          <a:xfrm>
            <a:off x="777240" y="4773168"/>
            <a:ext cx="5120640" cy="201168"/>
          </a:xfrm>
          <a:prstGeom prst="rect">
            <a:avLst/>
          </a:prstGeom>
          <a:noFill/>
        </p:spPr>
        <p:txBody>
          <a:bodyPr wrap="square" lIns="0" rIns="0" tIns="0" bIns="0">
            <a:spAutoFit/>
          </a:bodyPr>
          <a:lstStyle/>
          <a:p>
            <a:pPr algn="l"/>
            <a:r>
              <a:rPr sz="1000" b="0">
                <a:solidFill>
                  <a:srgbClr val="1C1917"/>
                </a:solidFill>
                <a:latin typeface="Consolas"/>
              </a:rPr>
              <a:t>case_id, due_date, urgency</a:t>
            </a:r>
          </a:p>
        </p:txBody>
      </p:sp>
      <p:sp>
        <p:nvSpPr>
          <p:cNvPr id="24" name="TextBox 23"/>
          <p:cNvSpPr txBox="1"/>
          <p:nvPr/>
        </p:nvSpPr>
        <p:spPr>
          <a:xfrm>
            <a:off x="777240" y="4956048"/>
            <a:ext cx="5120640" cy="201168"/>
          </a:xfrm>
          <a:prstGeom prst="rect">
            <a:avLst/>
          </a:prstGeom>
          <a:noFill/>
        </p:spPr>
        <p:txBody>
          <a:bodyPr wrap="square" lIns="0" rIns="0" tIns="0" bIns="0">
            <a:spAutoFit/>
          </a:bodyPr>
          <a:lstStyle/>
          <a:p>
            <a:pPr algn="l"/>
            <a:r>
              <a:rPr sz="1000" b="0">
                <a:solidFill>
                  <a:srgbClr val="1C1917"/>
                </a:solidFill>
                <a:latin typeface="Consolas"/>
              </a:rPr>
              <a:t>is_auto_generated</a:t>
            </a:r>
          </a:p>
        </p:txBody>
      </p:sp>
      <p:sp>
        <p:nvSpPr>
          <p:cNvPr id="25" name="Rounded Rectangle 24"/>
          <p:cNvSpPr/>
          <p:nvPr/>
        </p:nvSpPr>
        <p:spPr>
          <a:xfrm>
            <a:off x="594360" y="525780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349240"/>
            <a:ext cx="1828800" cy="320040"/>
          </a:xfrm>
          <a:prstGeom prst="rect">
            <a:avLst/>
          </a:prstGeom>
          <a:noFill/>
        </p:spPr>
        <p:txBody>
          <a:bodyPr wrap="square" lIns="0" rIns="0" tIns="0" bIns="0">
            <a:spAutoFit/>
          </a:bodyPr>
          <a:lstStyle/>
          <a:p>
            <a:pPr algn="l"/>
            <a:r>
              <a:rPr sz="1300" b="1">
                <a:solidFill>
                  <a:srgbClr val="3F3D99"/>
                </a:solidFill>
                <a:latin typeface="Consolas"/>
              </a:rPr>
              <a:t>documents</a:t>
            </a:r>
          </a:p>
        </p:txBody>
      </p:sp>
      <p:sp>
        <p:nvSpPr>
          <p:cNvPr id="27" name="TextBox 26"/>
          <p:cNvSpPr txBox="1"/>
          <p:nvPr/>
        </p:nvSpPr>
        <p:spPr>
          <a:xfrm>
            <a:off x="2606040" y="5349240"/>
            <a:ext cx="1280160" cy="320040"/>
          </a:xfrm>
          <a:prstGeom prst="rect">
            <a:avLst/>
          </a:prstGeom>
          <a:noFill/>
        </p:spPr>
        <p:txBody>
          <a:bodyPr wrap="square" lIns="0" rIns="0" tIns="0" bIns="0">
            <a:spAutoFit/>
          </a:bodyPr>
          <a:lstStyle/>
          <a:p>
            <a:pPr algn="l"/>
            <a:r>
              <a:rPr sz="1100" b="0">
                <a:solidFill>
                  <a:srgbClr val="78716C"/>
                </a:solidFill>
                <a:latin typeface="Calibri"/>
              </a:rPr>
              <a:t>varies</a:t>
            </a:r>
          </a:p>
        </p:txBody>
      </p:sp>
      <p:sp>
        <p:nvSpPr>
          <p:cNvPr id="28" name="TextBox 27"/>
          <p:cNvSpPr txBox="1"/>
          <p:nvPr/>
        </p:nvSpPr>
        <p:spPr>
          <a:xfrm>
            <a:off x="777240" y="5641848"/>
            <a:ext cx="5120640" cy="201168"/>
          </a:xfrm>
          <a:prstGeom prst="rect">
            <a:avLst/>
          </a:prstGeom>
          <a:noFill/>
        </p:spPr>
        <p:txBody>
          <a:bodyPr wrap="square" lIns="0" rIns="0" tIns="0" bIns="0">
            <a:spAutoFit/>
          </a:bodyPr>
          <a:lstStyle/>
          <a:p>
            <a:pPr algn="l"/>
            <a:r>
              <a:rPr sz="1000" b="0">
                <a:solidFill>
                  <a:srgbClr val="1C1917"/>
                </a:solidFill>
                <a:latin typeface="Consolas"/>
              </a:rPr>
              <a:t>case_id, name, doc_type, storage_path</a:t>
            </a:r>
          </a:p>
        </p:txBody>
      </p:sp>
      <p:sp>
        <p:nvSpPr>
          <p:cNvPr id="29" name="Rounded Rectangle 28"/>
          <p:cNvSpPr/>
          <p:nvPr/>
        </p:nvSpPr>
        <p:spPr>
          <a:xfrm>
            <a:off x="6172200" y="178308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1874520"/>
            <a:ext cx="1828800" cy="320040"/>
          </a:xfrm>
          <a:prstGeom prst="rect">
            <a:avLst/>
          </a:prstGeom>
          <a:noFill/>
        </p:spPr>
        <p:txBody>
          <a:bodyPr wrap="square" lIns="0" rIns="0" tIns="0" bIns="0">
            <a:spAutoFit/>
          </a:bodyPr>
          <a:lstStyle/>
          <a:p>
            <a:pPr algn="l"/>
            <a:r>
              <a:rPr sz="1300" b="1">
                <a:solidFill>
                  <a:srgbClr val="3F3D99"/>
                </a:solidFill>
                <a:latin typeface="Consolas"/>
              </a:rPr>
              <a:t>hearing_logs</a:t>
            </a:r>
          </a:p>
        </p:txBody>
      </p:sp>
      <p:sp>
        <p:nvSpPr>
          <p:cNvPr id="31" name="TextBox 30"/>
          <p:cNvSpPr txBox="1"/>
          <p:nvPr/>
        </p:nvSpPr>
        <p:spPr>
          <a:xfrm>
            <a:off x="8183880" y="1874520"/>
            <a:ext cx="1280160" cy="320040"/>
          </a:xfrm>
          <a:prstGeom prst="rect">
            <a:avLst/>
          </a:prstGeom>
          <a:noFill/>
        </p:spPr>
        <p:txBody>
          <a:bodyPr wrap="square" lIns="0" rIns="0" tIns="0" bIns="0">
            <a:spAutoFit/>
          </a:bodyPr>
          <a:lstStyle/>
          <a:p>
            <a:pPr algn="l"/>
            <a:r>
              <a:rPr sz="1100" b="0">
                <a:solidFill>
                  <a:srgbClr val="78716C"/>
                </a:solidFill>
                <a:latin typeface="Calibri"/>
              </a:rPr>
              <a:t>2 rows</a:t>
            </a:r>
          </a:p>
        </p:txBody>
      </p:sp>
      <p:sp>
        <p:nvSpPr>
          <p:cNvPr id="32" name="TextBox 31"/>
          <p:cNvSpPr txBox="1"/>
          <p:nvPr/>
        </p:nvSpPr>
        <p:spPr>
          <a:xfrm>
            <a:off x="6355080" y="2167128"/>
            <a:ext cx="5120640" cy="201168"/>
          </a:xfrm>
          <a:prstGeom prst="rect">
            <a:avLst/>
          </a:prstGeom>
          <a:noFill/>
        </p:spPr>
        <p:txBody>
          <a:bodyPr wrap="square" lIns="0" rIns="0" tIns="0" bIns="0">
            <a:spAutoFit/>
          </a:bodyPr>
          <a:lstStyle/>
          <a:p>
            <a:pPr algn="l"/>
            <a:r>
              <a:rPr sz="1000" b="0">
                <a:solidFill>
                  <a:srgbClr val="1C1917"/>
                </a:solidFill>
                <a:latin typeface="Consolas"/>
              </a:rPr>
              <a:t>hearing_date, what_happened</a:t>
            </a:r>
          </a:p>
        </p:txBody>
      </p:sp>
      <p:sp>
        <p:nvSpPr>
          <p:cNvPr id="33" name="TextBox 32"/>
          <p:cNvSpPr txBox="1"/>
          <p:nvPr/>
        </p:nvSpPr>
        <p:spPr>
          <a:xfrm>
            <a:off x="6355080" y="2350008"/>
            <a:ext cx="5120640" cy="201168"/>
          </a:xfrm>
          <a:prstGeom prst="rect">
            <a:avLst/>
          </a:prstGeom>
          <a:noFill/>
        </p:spPr>
        <p:txBody>
          <a:bodyPr wrap="square" lIns="0" rIns="0" tIns="0" bIns="0">
            <a:spAutoFit/>
          </a:bodyPr>
          <a:lstStyle/>
          <a:p>
            <a:pPr algn="l"/>
            <a:r>
              <a:rPr sz="1000" b="0">
                <a:solidFill>
                  <a:srgbClr val="1C1917"/>
                </a:solidFill>
                <a:latin typeface="Consolas"/>
              </a:rPr>
              <a:t>judge_order, next_date</a:t>
            </a:r>
          </a:p>
        </p:txBody>
      </p:sp>
      <p:sp>
        <p:nvSpPr>
          <p:cNvPr id="34" name="Rounded Rectangle 33"/>
          <p:cNvSpPr/>
          <p:nvPr/>
        </p:nvSpPr>
        <p:spPr>
          <a:xfrm>
            <a:off x="6172200" y="265176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2743200"/>
            <a:ext cx="1828800" cy="320040"/>
          </a:xfrm>
          <a:prstGeom prst="rect">
            <a:avLst/>
          </a:prstGeom>
          <a:noFill/>
        </p:spPr>
        <p:txBody>
          <a:bodyPr wrap="square" lIns="0" rIns="0" tIns="0" bIns="0">
            <a:spAutoFit/>
          </a:bodyPr>
          <a:lstStyle/>
          <a:p>
            <a:pPr algn="l"/>
            <a:r>
              <a:rPr sz="1300" b="1">
                <a:solidFill>
                  <a:srgbClr val="3F3D99"/>
                </a:solidFill>
                <a:latin typeface="Consolas"/>
              </a:rPr>
              <a:t>research_notes</a:t>
            </a:r>
          </a:p>
        </p:txBody>
      </p:sp>
      <p:sp>
        <p:nvSpPr>
          <p:cNvPr id="36" name="TextBox 35"/>
          <p:cNvSpPr txBox="1"/>
          <p:nvPr/>
        </p:nvSpPr>
        <p:spPr>
          <a:xfrm>
            <a:off x="8183880" y="2743200"/>
            <a:ext cx="1280160" cy="320040"/>
          </a:xfrm>
          <a:prstGeom prst="rect">
            <a:avLst/>
          </a:prstGeom>
          <a:noFill/>
        </p:spPr>
        <p:txBody>
          <a:bodyPr wrap="square" lIns="0" rIns="0" tIns="0" bIns="0">
            <a:spAutoFit/>
          </a:bodyPr>
          <a:lstStyle/>
          <a:p>
            <a:pPr algn="l"/>
            <a:r>
              <a:rPr sz="1100" b="0">
                <a:solidFill>
                  <a:srgbClr val="78716C"/>
                </a:solidFill>
                <a:latin typeface="Calibri"/>
              </a:rPr>
              <a:t>grows</a:t>
            </a:r>
          </a:p>
        </p:txBody>
      </p:sp>
      <p:sp>
        <p:nvSpPr>
          <p:cNvPr id="37" name="TextBox 36"/>
          <p:cNvSpPr txBox="1"/>
          <p:nvPr/>
        </p:nvSpPr>
        <p:spPr>
          <a:xfrm>
            <a:off x="6355080" y="3035808"/>
            <a:ext cx="5120640" cy="201168"/>
          </a:xfrm>
          <a:prstGeom prst="rect">
            <a:avLst/>
          </a:prstGeom>
          <a:noFill/>
        </p:spPr>
        <p:txBody>
          <a:bodyPr wrap="square" lIns="0" rIns="0" tIns="0" bIns="0">
            <a:spAutoFit/>
          </a:bodyPr>
          <a:lstStyle/>
          <a:p>
            <a:pPr algn="l"/>
            <a:r>
              <a:rPr sz="1000" b="0">
                <a:solidFill>
                  <a:srgbClr val="1C1917"/>
                </a:solidFill>
                <a:latin typeface="Consolas"/>
              </a:rPr>
              <a:t>query, content (JSON), citation, tags</a:t>
            </a:r>
          </a:p>
        </p:txBody>
      </p:sp>
      <p:sp>
        <p:nvSpPr>
          <p:cNvPr id="38" name="Rounded Rectangle 37"/>
          <p:cNvSpPr/>
          <p:nvPr/>
        </p:nvSpPr>
        <p:spPr>
          <a:xfrm>
            <a:off x="6172200" y="3520439"/>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3611879"/>
            <a:ext cx="1828800" cy="320040"/>
          </a:xfrm>
          <a:prstGeom prst="rect">
            <a:avLst/>
          </a:prstGeom>
          <a:noFill/>
        </p:spPr>
        <p:txBody>
          <a:bodyPr wrap="square" lIns="0" rIns="0" tIns="0" bIns="0">
            <a:spAutoFit/>
          </a:bodyPr>
          <a:lstStyle/>
          <a:p>
            <a:pPr algn="l"/>
            <a:r>
              <a:rPr sz="1300" b="1">
                <a:solidFill>
                  <a:srgbClr val="3F3D99"/>
                </a:solidFill>
                <a:latin typeface="Consolas"/>
              </a:rPr>
              <a:t>document_chunks</a:t>
            </a:r>
          </a:p>
        </p:txBody>
      </p:sp>
      <p:sp>
        <p:nvSpPr>
          <p:cNvPr id="40" name="TextBox 39"/>
          <p:cNvSpPr txBox="1"/>
          <p:nvPr/>
        </p:nvSpPr>
        <p:spPr>
          <a:xfrm>
            <a:off x="8183880" y="3611879"/>
            <a:ext cx="1280160" cy="320040"/>
          </a:xfrm>
          <a:prstGeom prst="rect">
            <a:avLst/>
          </a:prstGeom>
          <a:noFill/>
        </p:spPr>
        <p:txBody>
          <a:bodyPr wrap="square" lIns="0" rIns="0" tIns="0" bIns="0">
            <a:spAutoFit/>
          </a:bodyPr>
          <a:lstStyle/>
          <a:p>
            <a:pPr algn="l"/>
            <a:r>
              <a:rPr sz="1100" b="0">
                <a:solidFill>
                  <a:srgbClr val="78716C"/>
                </a:solidFill>
                <a:latin typeface="Calibri"/>
              </a:rPr>
              <a:t>per case</a:t>
            </a:r>
          </a:p>
        </p:txBody>
      </p:sp>
      <p:sp>
        <p:nvSpPr>
          <p:cNvPr id="41" name="TextBox 40"/>
          <p:cNvSpPr txBox="1"/>
          <p:nvPr/>
        </p:nvSpPr>
        <p:spPr>
          <a:xfrm>
            <a:off x="6355080" y="3904487"/>
            <a:ext cx="5120640" cy="201168"/>
          </a:xfrm>
          <a:prstGeom prst="rect">
            <a:avLst/>
          </a:prstGeom>
          <a:noFill/>
        </p:spPr>
        <p:txBody>
          <a:bodyPr wrap="square" lIns="0" rIns="0" tIns="0" bIns="0">
            <a:spAutoFit/>
          </a:bodyPr>
          <a:lstStyle/>
          <a:p>
            <a:pPr algn="l"/>
            <a:r>
              <a:rPr sz="1000" b="0">
                <a:solidFill>
                  <a:srgbClr val="1C1917"/>
                </a:solidFill>
                <a:latin typeface="Consolas"/>
              </a:rPr>
              <a:t>case_id FK · vector(768) embedding</a:t>
            </a:r>
          </a:p>
        </p:txBody>
      </p:sp>
      <p:sp>
        <p:nvSpPr>
          <p:cNvPr id="42" name="TextBox 41"/>
          <p:cNvSpPr txBox="1"/>
          <p:nvPr/>
        </p:nvSpPr>
        <p:spPr>
          <a:xfrm>
            <a:off x="6355080" y="4087367"/>
            <a:ext cx="5120640" cy="201168"/>
          </a:xfrm>
          <a:prstGeom prst="rect">
            <a:avLst/>
          </a:prstGeom>
          <a:noFill/>
        </p:spPr>
        <p:txBody>
          <a:bodyPr wrap="square" lIns="0" rIns="0" tIns="0" bIns="0">
            <a:spAutoFit/>
          </a:bodyPr>
          <a:lstStyle/>
          <a:p>
            <a:pPr algn="l"/>
            <a:r>
              <a:rPr sz="1000" b="0">
                <a:solidFill>
                  <a:srgbClr val="1C1917"/>
                </a:solidFill>
                <a:latin typeface="Consolas"/>
              </a:rPr>
              <a:t>used by retrieveChunks()</a:t>
            </a:r>
          </a:p>
        </p:txBody>
      </p:sp>
      <p:sp>
        <p:nvSpPr>
          <p:cNvPr id="43" name="Rounded Rectangle 42"/>
          <p:cNvSpPr/>
          <p:nvPr/>
        </p:nvSpPr>
        <p:spPr>
          <a:xfrm>
            <a:off x="6172200" y="4389120"/>
            <a:ext cx="5394960" cy="7772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4480560"/>
            <a:ext cx="1828800" cy="320040"/>
          </a:xfrm>
          <a:prstGeom prst="rect">
            <a:avLst/>
          </a:prstGeom>
          <a:noFill/>
        </p:spPr>
        <p:txBody>
          <a:bodyPr wrap="square" lIns="0" rIns="0" tIns="0" bIns="0">
            <a:spAutoFit/>
          </a:bodyPr>
          <a:lstStyle/>
          <a:p>
            <a:pPr algn="l"/>
            <a:r>
              <a:rPr sz="1300" b="1">
                <a:solidFill>
                  <a:srgbClr val="3F3D99"/>
                </a:solidFill>
                <a:latin typeface="Consolas"/>
              </a:rPr>
              <a:t>corpus_chunks</a:t>
            </a:r>
          </a:p>
        </p:txBody>
      </p:sp>
      <p:sp>
        <p:nvSpPr>
          <p:cNvPr id="45" name="TextBox 44"/>
          <p:cNvSpPr txBox="1"/>
          <p:nvPr/>
        </p:nvSpPr>
        <p:spPr>
          <a:xfrm>
            <a:off x="8183880" y="4480560"/>
            <a:ext cx="1280160" cy="320040"/>
          </a:xfrm>
          <a:prstGeom prst="rect">
            <a:avLst/>
          </a:prstGeom>
          <a:noFill/>
        </p:spPr>
        <p:txBody>
          <a:bodyPr wrap="square" lIns="0" rIns="0" tIns="0" bIns="0">
            <a:spAutoFit/>
          </a:bodyPr>
          <a:lstStyle/>
          <a:p>
            <a:pPr algn="l"/>
            <a:r>
              <a:rPr sz="1100" b="0">
                <a:solidFill>
                  <a:srgbClr val="78716C"/>
                </a:solidFill>
                <a:latin typeface="Calibri"/>
              </a:rPr>
              <a:t>~761 rows</a:t>
            </a:r>
          </a:p>
        </p:txBody>
      </p:sp>
      <p:sp>
        <p:nvSpPr>
          <p:cNvPr id="46" name="TextBox 45"/>
          <p:cNvSpPr txBox="1"/>
          <p:nvPr/>
        </p:nvSpPr>
        <p:spPr>
          <a:xfrm>
            <a:off x="6355080" y="4773168"/>
            <a:ext cx="5120640" cy="201168"/>
          </a:xfrm>
          <a:prstGeom prst="rect">
            <a:avLst/>
          </a:prstGeom>
          <a:noFill/>
        </p:spPr>
        <p:txBody>
          <a:bodyPr wrap="square" lIns="0" rIns="0" tIns="0" bIns="0">
            <a:spAutoFit/>
          </a:bodyPr>
          <a:lstStyle/>
          <a:p>
            <a:pPr algn="l"/>
            <a:r>
              <a:rPr sz="1000" b="0">
                <a:solidFill>
                  <a:srgbClr val="1C1917"/>
                </a:solidFill>
                <a:latin typeface="Consolas"/>
              </a:rPr>
              <a:t>source_type (statute/judgment)</a:t>
            </a:r>
          </a:p>
        </p:txBody>
      </p:sp>
      <p:sp>
        <p:nvSpPr>
          <p:cNvPr id="47" name="TextBox 46"/>
          <p:cNvSpPr txBox="1"/>
          <p:nvPr/>
        </p:nvSpPr>
        <p:spPr>
          <a:xfrm>
            <a:off x="6355080" y="4956048"/>
            <a:ext cx="5120640" cy="201168"/>
          </a:xfrm>
          <a:prstGeom prst="rect">
            <a:avLst/>
          </a:prstGeom>
          <a:noFill/>
        </p:spPr>
        <p:txBody>
          <a:bodyPr wrap="square" lIns="0" rIns="0" tIns="0" bIns="0">
            <a:spAutoFit/>
          </a:bodyPr>
          <a:lstStyle/>
          <a:p>
            <a:pPr algn="l"/>
            <a:r>
              <a:rPr sz="1000" b="0">
                <a:solidFill>
                  <a:srgbClr val="1C1917"/>
                </a:solidFill>
                <a:latin typeface="Consolas"/>
              </a:rPr>
              <a:t>source_name, category, vector(768)</a:t>
            </a:r>
          </a:p>
        </p:txBody>
      </p:sp>
      <p:sp>
        <p:nvSpPr>
          <p:cNvPr id="48" name="TextBox 47"/>
          <p:cNvSpPr txBox="1"/>
          <p:nvPr/>
        </p:nvSpPr>
        <p:spPr>
          <a:xfrm>
            <a:off x="594360" y="6263640"/>
            <a:ext cx="10972800" cy="457200"/>
          </a:xfrm>
          <a:prstGeom prst="rect">
            <a:avLst/>
          </a:prstGeom>
          <a:noFill/>
        </p:spPr>
        <p:txBody>
          <a:bodyPr wrap="square" lIns="0" rIns="0" tIns="0" bIns="0">
            <a:spAutoFit/>
          </a:bodyPr>
          <a:lstStyle/>
          <a:p>
            <a:pPr algn="l"/>
            <a:r>
              <a:rPr sz="1100" b="0">
                <a:solidFill>
                  <a:srgbClr val="78716C"/>
                </a:solidFill>
                <a:latin typeface="Calibri"/>
              </a:rPr>
              <a:t>All FKs cascade-delete from case or user. Enums: case_type, case_phase, case_status, court_type, deadline_type, urgency, doc_type, doc_source, research_source.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6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Pillar 1 — Deadline Brain</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3000" b="1">
                <a:solidFill>
                  <a:srgbClr val="1C1917"/>
                </a:solidFill>
                <a:latin typeface="Calibri"/>
              </a:rPr>
              <a:t>Statutory law as code. Zero AI. Zero hallucination.</a:t>
            </a:r>
          </a:p>
        </p:txBody>
      </p:sp>
      <p:sp>
        <p:nvSpPr>
          <p:cNvPr id="7" name="Rounded Rectangle 6"/>
          <p:cNvSpPr/>
          <p:nvPr/>
        </p:nvSpPr>
        <p:spPr>
          <a:xfrm>
            <a:off x="685800" y="1920240"/>
            <a:ext cx="3657600" cy="32004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3200400" cy="274320"/>
          </a:xfrm>
          <a:prstGeom prst="rect">
            <a:avLst/>
          </a:prstGeom>
          <a:noFill/>
        </p:spPr>
        <p:txBody>
          <a:bodyPr wrap="square" lIns="0" rIns="0" tIns="0" bIns="0">
            <a:spAutoFit/>
          </a:bodyPr>
          <a:lstStyle/>
          <a:p>
            <a:pPr algn="l"/>
            <a:r>
              <a:rPr sz="1100" b="1">
                <a:solidFill>
                  <a:srgbClr val="3F3D99"/>
                </a:solidFill>
                <a:latin typeface="Calibri"/>
              </a:rPr>
              <a:t>INPUT</a:t>
            </a:r>
          </a:p>
        </p:txBody>
      </p:sp>
      <p:sp>
        <p:nvSpPr>
          <p:cNvPr id="9" name="TextBox 8"/>
          <p:cNvSpPr txBox="1"/>
          <p:nvPr/>
        </p:nvSpPr>
        <p:spPr>
          <a:xfrm>
            <a:off x="868680" y="2423160"/>
            <a:ext cx="3383280" cy="2560320"/>
          </a:xfrm>
          <a:prstGeom prst="rect">
            <a:avLst/>
          </a:prstGeom>
          <a:noFill/>
        </p:spPr>
        <p:txBody>
          <a:bodyPr wrap="square" lIns="0" rIns="0" tIns="0" bIns="0">
            <a:spAutoFit/>
          </a:bodyPr>
          <a:lstStyle/>
          <a:p>
            <a:pPr algn="l">
              <a:lnSpc>
                <a:spcPct val="115000"/>
              </a:lnSpc>
            </a:pPr>
            <a:r>
              <a:rPr sz="1200" b="0">
                <a:solidFill>
                  <a:srgbClr val="1C1917"/>
                </a:solidFill>
                <a:latin typeface="Consolas"/>
              </a:rPr>
              <a:t>POST /api/cases</a:t>
            </a:r>
          </a:p>
          <a:p>
            <a:pPr algn="l">
              <a:lnSpc>
                <a:spcPct val="115000"/>
              </a:lnSpc>
            </a:pPr>
            <a:r>
              <a:rPr sz="1200" b="0">
                <a:solidFill>
                  <a:srgbClr val="1C1917"/>
                </a:solidFill>
                <a:latin typeface="Consolas"/>
              </a:rPr>
              <a:t/>
            </a:r>
          </a:p>
          <a:p>
            <a:pPr algn="l">
              <a:lnSpc>
                <a:spcPct val="115000"/>
              </a:lnSpc>
            </a:pPr>
            <a:r>
              <a:rPr sz="1200" b="0">
                <a:solidFill>
                  <a:srgbClr val="1C1917"/>
                </a:solidFill>
                <a:latin typeface="Consolas"/>
              </a:rPr>
              <a:t>  title: 'Sharma — POCSO'</a:t>
            </a:r>
          </a:p>
          <a:p>
            <a:pPr algn="l">
              <a:lnSpc>
                <a:spcPct val="115000"/>
              </a:lnSpc>
            </a:pPr>
            <a:r>
              <a:rPr sz="1200" b="0">
                <a:solidFill>
                  <a:srgbClr val="1C1917"/>
                </a:solidFill>
                <a:latin typeface="Consolas"/>
              </a:rPr>
              <a:t>  case_type: 'criminal'</a:t>
            </a:r>
          </a:p>
          <a:p>
            <a:pPr algn="l">
              <a:lnSpc>
                <a:spcPct val="115000"/>
              </a:lnSpc>
            </a:pPr>
            <a:r>
              <a:rPr sz="1200" b="0">
                <a:solidFill>
                  <a:srgbClr val="1C1917"/>
                </a:solidFill>
                <a:latin typeface="Consolas"/>
              </a:rPr>
              <a:t>  fir_date: '2026-02-01'</a:t>
            </a:r>
          </a:p>
          <a:p>
            <a:pPr algn="l">
              <a:lnSpc>
                <a:spcPct val="115000"/>
              </a:lnSpc>
            </a:pPr>
            <a:r>
              <a:rPr sz="1200" b="0">
                <a:solidFill>
                  <a:srgbClr val="1C1917"/>
                </a:solidFill>
                <a:latin typeface="Consolas"/>
              </a:rPr>
              <a:t>  offence_max_years: 10</a:t>
            </a:r>
          </a:p>
          <a:p>
            <a:pPr algn="l">
              <a:lnSpc>
                <a:spcPct val="115000"/>
              </a:lnSpc>
            </a:pPr>
            <a:r>
              <a:rPr sz="1200" b="0">
                <a:solidFill>
                  <a:srgbClr val="1C1917"/>
                </a:solidFill>
                <a:latin typeface="Consolas"/>
              </a:rPr>
              <a:t>  sections: '506, 376 BNS'</a:t>
            </a:r>
          </a:p>
        </p:txBody>
      </p:sp>
      <p:sp>
        <p:nvSpPr>
          <p:cNvPr id="10" name="Rounded Rectangle 9"/>
          <p:cNvSpPr/>
          <p:nvPr/>
        </p:nvSpPr>
        <p:spPr>
          <a:xfrm>
            <a:off x="4572000" y="1920240"/>
            <a:ext cx="3200400" cy="3200400"/>
          </a:xfrm>
          <a:prstGeom prst="roundRect">
            <a:avLst>
              <a:gd name="adj" fmla="val 6000"/>
            </a:avLst>
          </a:prstGeom>
          <a:solidFill>
            <a:srgbClr val="1E1B4B"/>
          </a:solidFill>
          <a:ln w="9525">
            <a:solidFill>
              <a:srgbClr val="1E1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057400"/>
            <a:ext cx="2834640" cy="274320"/>
          </a:xfrm>
          <a:prstGeom prst="rect">
            <a:avLst/>
          </a:prstGeom>
          <a:noFill/>
        </p:spPr>
        <p:txBody>
          <a:bodyPr wrap="square" lIns="0" rIns="0" tIns="0" bIns="0">
            <a:spAutoFit/>
          </a:bodyPr>
          <a:lstStyle/>
          <a:p>
            <a:pPr algn="l"/>
            <a:r>
              <a:rPr sz="1100" b="1">
                <a:solidFill>
                  <a:srgbClr val="FFFFFF"/>
                </a:solidFill>
                <a:latin typeface="Calibri"/>
              </a:rPr>
              <a:t>RULES (deadlines.ts)</a:t>
            </a:r>
          </a:p>
        </p:txBody>
      </p:sp>
      <p:sp>
        <p:nvSpPr>
          <p:cNvPr id="12" name="TextBox 11"/>
          <p:cNvSpPr txBox="1"/>
          <p:nvPr/>
        </p:nvSpPr>
        <p:spPr>
          <a:xfrm>
            <a:off x="4754880" y="2423160"/>
            <a:ext cx="2926080" cy="2560320"/>
          </a:xfrm>
          <a:prstGeom prst="rect">
            <a:avLst/>
          </a:prstGeom>
          <a:noFill/>
        </p:spPr>
        <p:txBody>
          <a:bodyPr wrap="square" lIns="0" rIns="0" tIns="0" bIns="0">
            <a:spAutoFit/>
          </a:bodyPr>
          <a:lstStyle/>
          <a:p>
            <a:pPr algn="l">
              <a:lnSpc>
                <a:spcPct val="115000"/>
              </a:lnSpc>
            </a:pPr>
            <a:r>
              <a:rPr sz="1200" b="0">
                <a:solidFill>
                  <a:srgbClr val="FFFFFF"/>
                </a:solidFill>
                <a:latin typeface="Consolas"/>
              </a:rPr>
              <a:t>BNSS §187(3):</a:t>
            </a:r>
          </a:p>
          <a:p>
            <a:pPr algn="l">
              <a:lnSpc>
                <a:spcPct val="115000"/>
              </a:lnSpc>
            </a:pPr>
            <a:r>
              <a:rPr sz="1200" b="0">
                <a:solidFill>
                  <a:srgbClr val="FFFFFF"/>
                </a:solidFill>
                <a:latin typeface="Consolas"/>
              </a:rPr>
              <a:t>  &lt;10y → 60d chargesheet</a:t>
            </a:r>
          </a:p>
          <a:p>
            <a:pPr algn="l">
              <a:lnSpc>
                <a:spcPct val="115000"/>
              </a:lnSpc>
            </a:pPr>
            <a:r>
              <a:rPr sz="1200" b="0">
                <a:solidFill>
                  <a:srgbClr val="FFFFFF"/>
                </a:solidFill>
                <a:latin typeface="Consolas"/>
              </a:rPr>
              <a:t>  ≥10y → 90d chargesheet</a:t>
            </a:r>
          </a:p>
          <a:p>
            <a:pPr algn="l">
              <a:lnSpc>
                <a:spcPct val="115000"/>
              </a:lnSpc>
            </a:pPr>
            <a:r>
              <a:rPr sz="1200" b="0">
                <a:solidFill>
                  <a:srgbClr val="FFFFFF"/>
                </a:solidFill>
                <a:latin typeface="Consolas"/>
              </a:rPr>
              <a:t/>
            </a:r>
          </a:p>
          <a:p>
            <a:pPr algn="l">
              <a:lnSpc>
                <a:spcPct val="115000"/>
              </a:lnSpc>
            </a:pPr>
            <a:r>
              <a:rPr sz="1200" b="0">
                <a:solidFill>
                  <a:srgbClr val="FFFFFF"/>
                </a:solidFill>
                <a:latin typeface="Consolas"/>
              </a:rPr>
              <a:t>Limitation Act:</a:t>
            </a:r>
          </a:p>
          <a:p>
            <a:pPr algn="l">
              <a:lnSpc>
                <a:spcPct val="115000"/>
              </a:lnSpc>
            </a:pPr>
            <a:r>
              <a:rPr sz="1200" b="0">
                <a:solidFill>
                  <a:srgbClr val="FFFFFF"/>
                </a:solidFill>
                <a:latin typeface="Consolas"/>
              </a:rPr>
              <a:t>  civil → 3y default</a:t>
            </a:r>
          </a:p>
          <a:p>
            <a:pPr algn="l">
              <a:lnSpc>
                <a:spcPct val="115000"/>
              </a:lnSpc>
            </a:pPr>
            <a:r>
              <a:rPr sz="1200" b="0">
                <a:solidFill>
                  <a:srgbClr val="FFFFFF"/>
                </a:solidFill>
                <a:latin typeface="Consolas"/>
              </a:rPr>
              <a:t/>
            </a:r>
          </a:p>
          <a:p>
            <a:pPr algn="l">
              <a:lnSpc>
                <a:spcPct val="115000"/>
              </a:lnSpc>
            </a:pPr>
            <a:r>
              <a:rPr sz="1200" b="0">
                <a:solidFill>
                  <a:srgbClr val="FFFFFF"/>
                </a:solidFill>
                <a:latin typeface="Consolas"/>
              </a:rPr>
              <a:t>Hearing logs:</a:t>
            </a:r>
          </a:p>
          <a:p>
            <a:pPr algn="l">
              <a:lnSpc>
                <a:spcPct val="115000"/>
              </a:lnSpc>
            </a:pPr>
            <a:r>
              <a:rPr sz="1200" b="0">
                <a:solidFill>
                  <a:srgbClr val="FFFFFF"/>
                </a:solidFill>
                <a:latin typeface="Consolas"/>
              </a:rPr>
              <a:t>  next_date → new row</a:t>
            </a:r>
          </a:p>
        </p:txBody>
      </p:sp>
      <p:sp>
        <p:nvSpPr>
          <p:cNvPr id="13" name="Rounded Rectangle 12"/>
          <p:cNvSpPr/>
          <p:nvPr/>
        </p:nvSpPr>
        <p:spPr>
          <a:xfrm>
            <a:off x="8001000" y="1920240"/>
            <a:ext cx="3657600" cy="32004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2057400"/>
            <a:ext cx="3200400" cy="274320"/>
          </a:xfrm>
          <a:prstGeom prst="rect">
            <a:avLst/>
          </a:prstGeom>
          <a:noFill/>
        </p:spPr>
        <p:txBody>
          <a:bodyPr wrap="square" lIns="0" rIns="0" tIns="0" bIns="0">
            <a:spAutoFit/>
          </a:bodyPr>
          <a:lstStyle/>
          <a:p>
            <a:pPr algn="l"/>
            <a:r>
              <a:rPr sz="1100" b="1">
                <a:solidFill>
                  <a:srgbClr val="059669"/>
                </a:solidFill>
                <a:latin typeface="Calibri"/>
              </a:rPr>
              <a:t>OUTPUT</a:t>
            </a:r>
          </a:p>
        </p:txBody>
      </p:sp>
      <p:sp>
        <p:nvSpPr>
          <p:cNvPr id="15" name="TextBox 14"/>
          <p:cNvSpPr txBox="1"/>
          <p:nvPr/>
        </p:nvSpPr>
        <p:spPr>
          <a:xfrm>
            <a:off x="8183879" y="2423160"/>
            <a:ext cx="3383280" cy="2560320"/>
          </a:xfrm>
          <a:prstGeom prst="rect">
            <a:avLst/>
          </a:prstGeom>
          <a:noFill/>
        </p:spPr>
        <p:txBody>
          <a:bodyPr wrap="square" lIns="0" rIns="0" tIns="0" bIns="0">
            <a:spAutoFit/>
          </a:bodyPr>
          <a:lstStyle/>
          <a:p>
            <a:pPr algn="l">
              <a:lnSpc>
                <a:spcPct val="115000"/>
              </a:lnSpc>
            </a:pPr>
            <a:r>
              <a:rPr sz="1100" b="0">
                <a:solidFill>
                  <a:srgbClr val="1C1917"/>
                </a:solidFill>
                <a:latin typeface="Consolas"/>
              </a:rPr>
              <a:t>deadlines rows:</a:t>
            </a:r>
          </a:p>
          <a:p>
            <a:pPr algn="l">
              <a:lnSpc>
                <a:spcPct val="115000"/>
              </a:lnSpc>
            </a:pPr>
            <a:r>
              <a:rPr sz="1100" b="0">
                <a:solidFill>
                  <a:srgbClr val="1C1917"/>
                </a:solidFill>
                <a:latin typeface="Consolas"/>
              </a:rPr>
              <a:t/>
            </a:r>
          </a:p>
          <a:p>
            <a:pPr algn="l">
              <a:lnSpc>
                <a:spcPct val="115000"/>
              </a:lnSpc>
            </a:pPr>
            <a:r>
              <a:rPr sz="1100" b="0">
                <a:solidFill>
                  <a:srgbClr val="1C1917"/>
                </a:solidFill>
                <a:latin typeface="Consolas"/>
              </a:rPr>
              <a:t>  2026-04-02  chargesheet  RED</a:t>
            </a:r>
          </a:p>
          <a:p>
            <a:pPr algn="l">
              <a:lnSpc>
                <a:spcPct val="115000"/>
              </a:lnSpc>
            </a:pPr>
            <a:r>
              <a:rPr sz="1100" b="0">
                <a:solidFill>
                  <a:srgbClr val="1C1917"/>
                </a:solidFill>
                <a:latin typeface="Consolas"/>
              </a:rPr>
              <a:t>  2026-05-15  hearing      AMBER</a:t>
            </a:r>
          </a:p>
          <a:p>
            <a:pPr algn="l">
              <a:lnSpc>
                <a:spcPct val="115000"/>
              </a:lnSpc>
            </a:pPr>
            <a:r>
              <a:rPr sz="1100" b="0">
                <a:solidFill>
                  <a:srgbClr val="1C1917"/>
                </a:solidFill>
                <a:latin typeface="Consolas"/>
              </a:rPr>
              <a:t>  2029-02-01  limitation   GREEN</a:t>
            </a:r>
          </a:p>
          <a:p>
            <a:pPr algn="l">
              <a:lnSpc>
                <a:spcPct val="115000"/>
              </a:lnSpc>
            </a:pPr>
            <a:r>
              <a:rPr sz="1100" b="0">
                <a:solidFill>
                  <a:srgbClr val="1C1917"/>
                </a:solidFill>
                <a:latin typeface="Consolas"/>
              </a:rPr>
              <a:t/>
            </a:r>
          </a:p>
          <a:p>
            <a:pPr algn="l">
              <a:lnSpc>
                <a:spcPct val="115000"/>
              </a:lnSpc>
            </a:pPr>
            <a:r>
              <a:rPr sz="1100" b="0">
                <a:solidFill>
                  <a:srgbClr val="1C1917"/>
                </a:solidFill>
                <a:latin typeface="Consolas"/>
              </a:rPr>
              <a:t>classifyUrgency(due_date)</a:t>
            </a:r>
          </a:p>
          <a:p>
            <a:pPr algn="l">
              <a:lnSpc>
                <a:spcPct val="115000"/>
              </a:lnSpc>
            </a:pPr>
            <a:r>
              <a:rPr sz="1100" b="0">
                <a:solidFill>
                  <a:srgbClr val="1C1917"/>
                </a:solidFill>
                <a:latin typeface="Consolas"/>
              </a:rPr>
              <a:t>  critical ≤3d / high ≤7d</a:t>
            </a:r>
          </a:p>
          <a:p>
            <a:pPr algn="l">
              <a:lnSpc>
                <a:spcPct val="115000"/>
              </a:lnSpc>
            </a:pPr>
            <a:r>
              <a:rPr sz="1100" b="0">
                <a:solidFill>
                  <a:srgbClr val="1C1917"/>
                </a:solidFill>
                <a:latin typeface="Consolas"/>
              </a:rPr>
              <a:t>  medium ≤30d / low &gt;30d</a:t>
            </a:r>
          </a:p>
        </p:txBody>
      </p:sp>
      <p:cxnSp>
        <p:nvCxnSpPr>
          <p:cNvPr id="16" name="Connector 15"/>
          <p:cNvCxnSpPr/>
          <p:nvPr/>
        </p:nvCxnSpPr>
        <p:spPr>
          <a:xfrm>
            <a:off x="4343400" y="3520440"/>
            <a:ext cx="228600" cy="0"/>
          </a:xfrm>
          <a:prstGeom prst="line">
            <a:avLst/>
          </a:prstGeom>
          <a:ln w="25400">
            <a:solidFill>
              <a:srgbClr val="3F3D9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72400" y="3520440"/>
            <a:ext cx="228600" cy="0"/>
          </a:xfrm>
          <a:prstGeom prst="line">
            <a:avLst/>
          </a:prstGeom>
          <a:ln w="25400">
            <a:solidFill>
              <a:srgbClr val="3F3D9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5486400"/>
            <a:ext cx="10972800" cy="1005840"/>
          </a:xfrm>
          <a:prstGeom prst="rect">
            <a:avLst/>
          </a:prstGeom>
          <a:noFill/>
        </p:spPr>
        <p:txBody>
          <a:bodyPr wrap="square" lIns="0" rIns="0" tIns="0" bIns="0">
            <a:spAutoFit/>
          </a:bodyPr>
          <a:lstStyle/>
          <a:p>
            <a:pPr algn="l"/>
            <a:r>
              <a:rPr sz="1200" b="0">
                <a:solidFill>
                  <a:srgbClr val="78716C"/>
                </a:solidFill>
                <a:latin typeface="Calibri"/>
              </a:rPr>
              <a:t>UI surfacing: color-coded pills on dashboard, case detail, and calendar. Red pill on the POCSO case is the thing the judges will see in the demo — that's the deadline the system computed and the lawyer would otherwise have missed.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7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Pillar 2 — AI document drafting (streaming)</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Tokens → ReadableStream → editor pane</a:t>
            </a:r>
          </a:p>
        </p:txBody>
      </p:sp>
      <p:sp>
        <p:nvSpPr>
          <p:cNvPr id="7" name="Rounded Rectangle 6"/>
          <p:cNvSpPr/>
          <p:nvPr/>
        </p:nvSpPr>
        <p:spPr>
          <a:xfrm>
            <a:off x="685800" y="2011680"/>
            <a:ext cx="1828800" cy="14630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011680"/>
            <a:ext cx="1828800" cy="9144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94560"/>
            <a:ext cx="1645920" cy="320040"/>
          </a:xfrm>
          <a:prstGeom prst="rect">
            <a:avLst/>
          </a:prstGeom>
          <a:noFill/>
        </p:spPr>
        <p:txBody>
          <a:bodyPr wrap="square" lIns="0" rIns="0" tIns="0" bIns="0">
            <a:spAutoFit/>
          </a:bodyPr>
          <a:lstStyle/>
          <a:p>
            <a:pPr algn="l"/>
            <a:r>
              <a:rPr sz="1100" b="1">
                <a:solidFill>
                  <a:srgbClr val="3F3D99"/>
                </a:solidFill>
                <a:latin typeface="Calibri"/>
              </a:rPr>
              <a:t>USER</a:t>
            </a:r>
          </a:p>
        </p:txBody>
      </p:sp>
      <p:sp>
        <p:nvSpPr>
          <p:cNvPr id="10" name="TextBox 9"/>
          <p:cNvSpPr txBox="1"/>
          <p:nvPr/>
        </p:nvSpPr>
        <p:spPr>
          <a:xfrm>
            <a:off x="822960" y="2560320"/>
            <a:ext cx="1600200" cy="868680"/>
          </a:xfrm>
          <a:prstGeom prst="rect">
            <a:avLst/>
          </a:prstGeom>
          <a:noFill/>
        </p:spPr>
        <p:txBody>
          <a:bodyPr wrap="square" lIns="0" rIns="0" tIns="0" bIns="0">
            <a:spAutoFit/>
          </a:bodyPr>
          <a:lstStyle/>
          <a:p>
            <a:pPr algn="l">
              <a:lnSpc>
                <a:spcPct val="115000"/>
              </a:lnSpc>
            </a:pPr>
            <a:r>
              <a:rPr sz="1000" b="0">
                <a:solidFill>
                  <a:srgbClr val="1C1917"/>
                </a:solidFill>
                <a:latin typeface="Consolas"/>
              </a:rPr>
              <a:t>Click</a:t>
            </a:r>
          </a:p>
          <a:p>
            <a:pPr algn="l">
              <a:lnSpc>
                <a:spcPct val="115000"/>
              </a:lnSpc>
            </a:pPr>
            <a:r>
              <a:rPr sz="1000" b="0">
                <a:solidFill>
                  <a:srgbClr val="1C1917"/>
                </a:solidFill>
                <a:latin typeface="Consolas"/>
              </a:rPr>
              <a:t>Draft Bail</a:t>
            </a:r>
          </a:p>
        </p:txBody>
      </p:sp>
      <p:sp>
        <p:nvSpPr>
          <p:cNvPr id="11" name="Rounded Rectangle 10"/>
          <p:cNvSpPr/>
          <p:nvPr/>
        </p:nvSpPr>
        <p:spPr>
          <a:xfrm>
            <a:off x="2743200" y="2011680"/>
            <a:ext cx="1828800" cy="14630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2011680"/>
            <a:ext cx="1828800" cy="91440"/>
          </a:xfrm>
          <a:prstGeom prst="rect">
            <a:avLst/>
          </a:prstGeom>
          <a:solidFill>
            <a:srgbClr val="78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2194560"/>
            <a:ext cx="1645920" cy="320040"/>
          </a:xfrm>
          <a:prstGeom prst="rect">
            <a:avLst/>
          </a:prstGeom>
          <a:noFill/>
        </p:spPr>
        <p:txBody>
          <a:bodyPr wrap="square" lIns="0" rIns="0" tIns="0" bIns="0">
            <a:spAutoFit/>
          </a:bodyPr>
          <a:lstStyle/>
          <a:p>
            <a:pPr algn="l"/>
            <a:r>
              <a:rPr sz="1100" b="1">
                <a:solidFill>
                  <a:srgbClr val="78716C"/>
                </a:solidFill>
                <a:latin typeface="Calibri"/>
              </a:rPr>
              <a:t>/api/ai/draft</a:t>
            </a:r>
          </a:p>
        </p:txBody>
      </p:sp>
      <p:sp>
        <p:nvSpPr>
          <p:cNvPr id="14" name="TextBox 13"/>
          <p:cNvSpPr txBox="1"/>
          <p:nvPr/>
        </p:nvSpPr>
        <p:spPr>
          <a:xfrm>
            <a:off x="2880360" y="2560320"/>
            <a:ext cx="1600200" cy="868680"/>
          </a:xfrm>
          <a:prstGeom prst="rect">
            <a:avLst/>
          </a:prstGeom>
          <a:noFill/>
        </p:spPr>
        <p:txBody>
          <a:bodyPr wrap="square" lIns="0" rIns="0" tIns="0" bIns="0">
            <a:spAutoFit/>
          </a:bodyPr>
          <a:lstStyle/>
          <a:p>
            <a:pPr algn="l">
              <a:lnSpc>
                <a:spcPct val="115000"/>
              </a:lnSpc>
            </a:pPr>
            <a:r>
              <a:rPr sz="1000" b="0">
                <a:solidFill>
                  <a:srgbClr val="1C1917"/>
                </a:solidFill>
                <a:latin typeface="Consolas"/>
              </a:rPr>
              <a:t>zod parse</a:t>
            </a:r>
          </a:p>
          <a:p>
            <a:pPr algn="l">
              <a:lnSpc>
                <a:spcPct val="115000"/>
              </a:lnSpc>
            </a:pPr>
            <a:r>
              <a:rPr sz="1000" b="0">
                <a:solidFill>
                  <a:srgbClr val="1C1917"/>
                </a:solidFill>
                <a:latin typeface="Consolas"/>
              </a:rPr>
              <a:t>load case+client</a:t>
            </a:r>
          </a:p>
        </p:txBody>
      </p:sp>
      <p:sp>
        <p:nvSpPr>
          <p:cNvPr id="15" name="Rounded Rectangle 14"/>
          <p:cNvSpPr/>
          <p:nvPr/>
        </p:nvSpPr>
        <p:spPr>
          <a:xfrm>
            <a:off x="5029200" y="2011680"/>
            <a:ext cx="1828800" cy="14630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0" y="2011680"/>
            <a:ext cx="1828800"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194560"/>
            <a:ext cx="1645920" cy="320040"/>
          </a:xfrm>
          <a:prstGeom prst="rect">
            <a:avLst/>
          </a:prstGeom>
          <a:noFill/>
        </p:spPr>
        <p:txBody>
          <a:bodyPr wrap="square" lIns="0" rIns="0" tIns="0" bIns="0">
            <a:spAutoFit/>
          </a:bodyPr>
          <a:lstStyle/>
          <a:p>
            <a:pPr algn="l"/>
            <a:r>
              <a:rPr sz="1100" b="1">
                <a:solidFill>
                  <a:srgbClr val="B45309"/>
                </a:solidFill>
                <a:latin typeface="Calibri"/>
              </a:rPr>
              <a:t>Gemini 2.5 Flash</a:t>
            </a:r>
          </a:p>
        </p:txBody>
      </p:sp>
      <p:sp>
        <p:nvSpPr>
          <p:cNvPr id="18" name="TextBox 17"/>
          <p:cNvSpPr txBox="1"/>
          <p:nvPr/>
        </p:nvSpPr>
        <p:spPr>
          <a:xfrm>
            <a:off x="5166360" y="2560320"/>
            <a:ext cx="1600200" cy="868680"/>
          </a:xfrm>
          <a:prstGeom prst="rect">
            <a:avLst/>
          </a:prstGeom>
          <a:noFill/>
        </p:spPr>
        <p:txBody>
          <a:bodyPr wrap="square" lIns="0" rIns="0" tIns="0" bIns="0">
            <a:spAutoFit/>
          </a:bodyPr>
          <a:lstStyle/>
          <a:p>
            <a:pPr algn="l">
              <a:lnSpc>
                <a:spcPct val="115000"/>
              </a:lnSpc>
            </a:pPr>
            <a:r>
              <a:rPr sz="1000" b="0">
                <a:solidFill>
                  <a:srgbClr val="1C1917"/>
                </a:solidFill>
                <a:latin typeface="Consolas"/>
              </a:rPr>
              <a:t>generateContentStream</a:t>
            </a:r>
          </a:p>
          <a:p>
            <a:pPr algn="l">
              <a:lnSpc>
                <a:spcPct val="115000"/>
              </a:lnSpc>
            </a:pPr>
            <a:r>
              <a:rPr sz="1000" b="0">
                <a:solidFill>
                  <a:srgbClr val="1C1917"/>
                </a:solidFill>
                <a:latin typeface="Consolas"/>
              </a:rPr>
              <a:t>prompt: bail-application.ts</a:t>
            </a:r>
          </a:p>
        </p:txBody>
      </p:sp>
      <p:sp>
        <p:nvSpPr>
          <p:cNvPr id="19" name="Rounded Rectangle 18"/>
          <p:cNvSpPr/>
          <p:nvPr/>
        </p:nvSpPr>
        <p:spPr>
          <a:xfrm>
            <a:off x="7772400" y="2011680"/>
            <a:ext cx="1828800" cy="14630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2011680"/>
            <a:ext cx="1828800" cy="9144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2194560"/>
            <a:ext cx="1645920" cy="320040"/>
          </a:xfrm>
          <a:prstGeom prst="rect">
            <a:avLst/>
          </a:prstGeom>
          <a:noFill/>
        </p:spPr>
        <p:txBody>
          <a:bodyPr wrap="square" lIns="0" rIns="0" tIns="0" bIns="0">
            <a:spAutoFit/>
          </a:bodyPr>
          <a:lstStyle/>
          <a:p>
            <a:pPr algn="l"/>
            <a:r>
              <a:rPr sz="1100" b="1">
                <a:solidFill>
                  <a:srgbClr val="3F3D99"/>
                </a:solidFill>
                <a:latin typeface="Calibri"/>
              </a:rPr>
              <a:t>ReadableStream</a:t>
            </a:r>
          </a:p>
        </p:txBody>
      </p:sp>
      <p:sp>
        <p:nvSpPr>
          <p:cNvPr id="22" name="TextBox 21"/>
          <p:cNvSpPr txBox="1"/>
          <p:nvPr/>
        </p:nvSpPr>
        <p:spPr>
          <a:xfrm>
            <a:off x="7909560" y="2560320"/>
            <a:ext cx="1600200" cy="868680"/>
          </a:xfrm>
          <a:prstGeom prst="rect">
            <a:avLst/>
          </a:prstGeom>
          <a:noFill/>
        </p:spPr>
        <p:txBody>
          <a:bodyPr wrap="square" lIns="0" rIns="0" tIns="0" bIns="0">
            <a:spAutoFit/>
          </a:bodyPr>
          <a:lstStyle/>
          <a:p>
            <a:pPr algn="l">
              <a:lnSpc>
                <a:spcPct val="115000"/>
              </a:lnSpc>
            </a:pPr>
            <a:r>
              <a:rPr sz="1000" b="0">
                <a:solidFill>
                  <a:srgbClr val="1C1917"/>
                </a:solidFill>
                <a:latin typeface="Consolas"/>
              </a:rPr>
              <a:t>for-await chunks</a:t>
            </a:r>
          </a:p>
          <a:p>
            <a:pPr algn="l">
              <a:lnSpc>
                <a:spcPct val="115000"/>
              </a:lnSpc>
            </a:pPr>
            <a:r>
              <a:rPr sz="1000" b="0">
                <a:solidFill>
                  <a:srgbClr val="1C1917"/>
                </a:solidFill>
                <a:latin typeface="Consolas"/>
              </a:rPr>
              <a:t>enqueue bytes</a:t>
            </a:r>
          </a:p>
        </p:txBody>
      </p:sp>
      <p:sp>
        <p:nvSpPr>
          <p:cNvPr id="23" name="Rounded Rectangle 22"/>
          <p:cNvSpPr/>
          <p:nvPr/>
        </p:nvSpPr>
        <p:spPr>
          <a:xfrm>
            <a:off x="10058400" y="2011680"/>
            <a:ext cx="1828800" cy="14630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58400" y="2011680"/>
            <a:ext cx="182880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95560" y="2194560"/>
            <a:ext cx="1645920" cy="320040"/>
          </a:xfrm>
          <a:prstGeom prst="rect">
            <a:avLst/>
          </a:prstGeom>
          <a:noFill/>
        </p:spPr>
        <p:txBody>
          <a:bodyPr wrap="square" lIns="0" rIns="0" tIns="0" bIns="0">
            <a:spAutoFit/>
          </a:bodyPr>
          <a:lstStyle/>
          <a:p>
            <a:pPr algn="l"/>
            <a:r>
              <a:rPr sz="1100" b="1">
                <a:solidFill>
                  <a:srgbClr val="059669"/>
                </a:solidFill>
                <a:latin typeface="Calibri"/>
              </a:rPr>
              <a:t>&lt;AiDraftPanel&gt;</a:t>
            </a:r>
          </a:p>
        </p:txBody>
      </p:sp>
      <p:sp>
        <p:nvSpPr>
          <p:cNvPr id="26" name="TextBox 25"/>
          <p:cNvSpPr txBox="1"/>
          <p:nvPr/>
        </p:nvSpPr>
        <p:spPr>
          <a:xfrm>
            <a:off x="10195560" y="2560320"/>
            <a:ext cx="1600200" cy="868680"/>
          </a:xfrm>
          <a:prstGeom prst="rect">
            <a:avLst/>
          </a:prstGeom>
          <a:noFill/>
        </p:spPr>
        <p:txBody>
          <a:bodyPr wrap="square" lIns="0" rIns="0" tIns="0" bIns="0">
            <a:spAutoFit/>
          </a:bodyPr>
          <a:lstStyle/>
          <a:p>
            <a:pPr algn="l">
              <a:lnSpc>
                <a:spcPct val="115000"/>
              </a:lnSpc>
            </a:pPr>
            <a:r>
              <a:rPr sz="1000" b="0">
                <a:solidFill>
                  <a:srgbClr val="1C1917"/>
                </a:solidFill>
                <a:latin typeface="Consolas"/>
              </a:rPr>
              <a:t>fetch reader</a:t>
            </a:r>
          </a:p>
          <a:p>
            <a:pPr algn="l">
              <a:lnSpc>
                <a:spcPct val="115000"/>
              </a:lnSpc>
            </a:pPr>
            <a:r>
              <a:rPr sz="1000" b="0">
                <a:solidFill>
                  <a:srgbClr val="1C1917"/>
                </a:solidFill>
                <a:latin typeface="Consolas"/>
              </a:rPr>
              <a:t>setDraft() each tick</a:t>
            </a:r>
          </a:p>
        </p:txBody>
      </p:sp>
      <p:cxnSp>
        <p:nvCxnSpPr>
          <p:cNvPr id="27" name="Connector 26"/>
          <p:cNvCxnSpPr/>
          <p:nvPr/>
        </p:nvCxnSpPr>
        <p:spPr>
          <a:xfrm>
            <a:off x="2514600" y="2743200"/>
            <a:ext cx="228600" cy="0"/>
          </a:xfrm>
          <a:prstGeom prst="line">
            <a:avLst/>
          </a:prstGeom>
          <a:ln w="1905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00600" y="2743200"/>
            <a:ext cx="228600" cy="0"/>
          </a:xfrm>
          <a:prstGeom prst="line">
            <a:avLst/>
          </a:prstGeom>
          <a:ln w="1905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43800" y="2743200"/>
            <a:ext cx="228600" cy="0"/>
          </a:xfrm>
          <a:prstGeom prst="line">
            <a:avLst/>
          </a:prstGeom>
          <a:ln w="19050">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29800" y="2743200"/>
            <a:ext cx="228600" cy="0"/>
          </a:xfrm>
          <a:prstGeom prst="line">
            <a:avLst/>
          </a:prstGeom>
          <a:ln w="19050">
            <a:solidFill>
              <a:srgbClr val="78716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85800" y="3931920"/>
            <a:ext cx="11155680" cy="13716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5486400" cy="274320"/>
          </a:xfrm>
          <a:prstGeom prst="rect">
            <a:avLst/>
          </a:prstGeom>
          <a:noFill/>
        </p:spPr>
        <p:txBody>
          <a:bodyPr wrap="square" lIns="0" rIns="0" tIns="0" bIns="0">
            <a:spAutoFit/>
          </a:bodyPr>
          <a:lstStyle/>
          <a:p>
            <a:pPr algn="l"/>
            <a:r>
              <a:rPr sz="1100" b="1">
                <a:solidFill>
                  <a:srgbClr val="3F3D99"/>
                </a:solidFill>
                <a:latin typeface="Calibri"/>
              </a:rPr>
              <a:t>ON STREAM COMPLETE</a:t>
            </a:r>
          </a:p>
        </p:txBody>
      </p:sp>
      <p:sp>
        <p:nvSpPr>
          <p:cNvPr id="33" name="TextBox 32"/>
          <p:cNvSpPr txBox="1"/>
          <p:nvPr/>
        </p:nvSpPr>
        <p:spPr>
          <a:xfrm>
            <a:off x="868680" y="4389120"/>
            <a:ext cx="10789920" cy="822960"/>
          </a:xfrm>
          <a:prstGeom prst="rect">
            <a:avLst/>
          </a:prstGeom>
          <a:noFill/>
        </p:spPr>
        <p:txBody>
          <a:bodyPr wrap="square" lIns="0" rIns="0" tIns="0" bIns="0">
            <a:spAutoFit/>
          </a:bodyPr>
          <a:lstStyle/>
          <a:p>
            <a:pPr algn="l">
              <a:lnSpc>
                <a:spcPct val="115000"/>
              </a:lnSpc>
            </a:pPr>
            <a:r>
              <a:rPr sz="1100" b="0">
                <a:solidFill>
                  <a:srgbClr val="1C1917"/>
                </a:solidFill>
                <a:latin typeface="Calibri"/>
              </a:rPr>
              <a:t>INSERT documents (source: ai_drafted, content: full draft Markdown, ai_prompt_used: snapshot)</a:t>
            </a:r>
          </a:p>
          <a:p>
            <a:pPr algn="l">
              <a:lnSpc>
                <a:spcPct val="115000"/>
              </a:lnSpc>
            </a:pPr>
            <a:r>
              <a:rPr sz="1100" b="0">
                <a:solidFill>
                  <a:srgbClr val="1C1917"/>
                </a:solidFill>
                <a:latin typeface="Calibri"/>
              </a:rPr>
              <a:t/>
            </a:r>
          </a:p>
          <a:p>
            <a:pPr algn="l">
              <a:lnSpc>
                <a:spcPct val="115000"/>
              </a:lnSpc>
            </a:pPr>
            <a:r>
              <a:rPr sz="1100" b="0">
                <a:solidFill>
                  <a:srgbClr val="1C1917"/>
                </a:solidFill>
                <a:latin typeface="Calibri"/>
              </a:rPr>
              <a:t>Quality signal from live test: bail app cited Satender Kumar Antil + Dataram Singh + Balchand,</a:t>
            </a:r>
          </a:p>
          <a:p>
            <a:pPr algn="l">
              <a:lnSpc>
                <a:spcPct val="115000"/>
              </a:lnSpc>
            </a:pPr>
            <a:r>
              <a:rPr sz="1100" b="0">
                <a:solidFill>
                  <a:srgbClr val="1C1917"/>
                </a:solidFill>
                <a:latin typeface="Calibri"/>
              </a:rPr>
              <a:t>flagged the chargesheet as overdue based on FIR date — WITHOUT being told explicitly.</a:t>
            </a:r>
          </a:p>
        </p:txBody>
      </p:sp>
      <p:sp>
        <p:nvSpPr>
          <p:cNvPr id="34" name="TextBox 33"/>
          <p:cNvSpPr txBox="1"/>
          <p:nvPr/>
        </p:nvSpPr>
        <p:spPr>
          <a:xfrm>
            <a:off x="685800" y="5852160"/>
            <a:ext cx="10972800" cy="640080"/>
          </a:xfrm>
          <a:prstGeom prst="rect">
            <a:avLst/>
          </a:prstGeom>
          <a:noFill/>
        </p:spPr>
        <p:txBody>
          <a:bodyPr wrap="square" lIns="0" rIns="0" tIns="0" bIns="0">
            <a:spAutoFit/>
          </a:bodyPr>
          <a:lstStyle/>
          <a:p>
            <a:pPr algn="l"/>
            <a:r>
              <a:rPr sz="1100" b="0">
                <a:solidFill>
                  <a:srgbClr val="78716C"/>
                </a:solidFill>
                <a:latin typeface="Calibri"/>
              </a:rPr>
              <a:t>Models: Drafting = gemini-2.5-flash, Research/Summarise = gemini-2.5-flash-lite. All three IDs configurable via env vars — swap to Pro without touching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8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Research — iteration 1 · per-case RAG</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Lawyer's own uploads → embedded → retrievable</a:t>
            </a:r>
          </a:p>
        </p:txBody>
      </p:sp>
      <p:sp>
        <p:nvSpPr>
          <p:cNvPr id="7" name="Rounded Rectangle 6"/>
          <p:cNvSpPr/>
          <p:nvPr/>
        </p:nvSpPr>
        <p:spPr>
          <a:xfrm>
            <a:off x="5486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1371600" cy="365760"/>
          </a:xfrm>
          <a:prstGeom prst="rect">
            <a:avLst/>
          </a:prstGeom>
          <a:noFill/>
        </p:spPr>
        <p:txBody>
          <a:bodyPr wrap="square" lIns="0" rIns="0" tIns="0" bIns="0">
            <a:spAutoFit/>
          </a:bodyPr>
          <a:lstStyle/>
          <a:p>
            <a:pPr algn="ctr"/>
            <a:r>
              <a:rPr sz="1000" b="1">
                <a:solidFill>
                  <a:srgbClr val="3F3D99"/>
                </a:solidFill>
                <a:latin typeface="Calibri"/>
              </a:rPr>
              <a:t>PDF upload</a:t>
            </a:r>
          </a:p>
        </p:txBody>
      </p:sp>
      <p:sp>
        <p:nvSpPr>
          <p:cNvPr id="9" name="TextBox 8"/>
          <p:cNvSpPr txBox="1"/>
          <p:nvPr/>
        </p:nvSpPr>
        <p:spPr>
          <a:xfrm>
            <a:off x="6400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multipart</a:t>
            </a:r>
          </a:p>
          <a:p>
            <a:pPr algn="ctr">
              <a:lnSpc>
                <a:spcPct val="115000"/>
              </a:lnSpc>
            </a:pPr>
            <a:r>
              <a:rPr sz="900" b="0">
                <a:solidFill>
                  <a:srgbClr val="1C1917"/>
                </a:solidFill>
                <a:latin typeface="Consolas"/>
              </a:rPr>
              <a:t>formData</a:t>
            </a:r>
          </a:p>
        </p:txBody>
      </p:sp>
      <p:cxnSp>
        <p:nvCxnSpPr>
          <p:cNvPr id="10" name="Connector 9"/>
          <p:cNvCxnSpPr/>
          <p:nvPr/>
        </p:nvCxnSpPr>
        <p:spPr>
          <a:xfrm>
            <a:off x="2103120"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488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0280" y="2057400"/>
            <a:ext cx="1371600" cy="365760"/>
          </a:xfrm>
          <a:prstGeom prst="rect">
            <a:avLst/>
          </a:prstGeom>
          <a:noFill/>
        </p:spPr>
        <p:txBody>
          <a:bodyPr wrap="square" lIns="0" rIns="0" tIns="0" bIns="0">
            <a:spAutoFit/>
          </a:bodyPr>
          <a:lstStyle/>
          <a:p>
            <a:pPr algn="ctr"/>
            <a:r>
              <a:rPr sz="1000" b="1">
                <a:solidFill>
                  <a:srgbClr val="3F3D99"/>
                </a:solidFill>
                <a:latin typeface="Calibri"/>
              </a:rPr>
              <a:t>documents row</a:t>
            </a:r>
          </a:p>
        </p:txBody>
      </p:sp>
      <p:sp>
        <p:nvSpPr>
          <p:cNvPr id="13" name="TextBox 12"/>
          <p:cNvSpPr txBox="1"/>
          <p:nvPr/>
        </p:nvSpPr>
        <p:spPr>
          <a:xfrm>
            <a:off x="22402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UUID</a:t>
            </a:r>
          </a:p>
          <a:p>
            <a:pPr algn="ctr">
              <a:lnSpc>
                <a:spcPct val="115000"/>
              </a:lnSpc>
            </a:pPr>
            <a:r>
              <a:rPr sz="900" b="0">
                <a:solidFill>
                  <a:srgbClr val="1C1917"/>
                </a:solidFill>
                <a:latin typeface="Consolas"/>
              </a:rPr>
              <a:t>issued</a:t>
            </a:r>
          </a:p>
        </p:txBody>
      </p:sp>
      <p:cxnSp>
        <p:nvCxnSpPr>
          <p:cNvPr id="14" name="Connector 13"/>
          <p:cNvCxnSpPr/>
          <p:nvPr/>
        </p:nvCxnSpPr>
        <p:spPr>
          <a:xfrm>
            <a:off x="3703320"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49039"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79" y="2057400"/>
            <a:ext cx="1371600" cy="365760"/>
          </a:xfrm>
          <a:prstGeom prst="rect">
            <a:avLst/>
          </a:prstGeom>
          <a:noFill/>
        </p:spPr>
        <p:txBody>
          <a:bodyPr wrap="square" lIns="0" rIns="0" tIns="0" bIns="0">
            <a:spAutoFit/>
          </a:bodyPr>
          <a:lstStyle/>
          <a:p>
            <a:pPr algn="ctr"/>
            <a:r>
              <a:rPr sz="1000" b="1">
                <a:solidFill>
                  <a:srgbClr val="3F3D99"/>
                </a:solidFill>
                <a:latin typeface="Calibri"/>
              </a:rPr>
              <a:t>Supabase
Storage</a:t>
            </a:r>
          </a:p>
        </p:txBody>
      </p:sp>
      <p:sp>
        <p:nvSpPr>
          <p:cNvPr id="17" name="TextBox 16"/>
          <p:cNvSpPr txBox="1"/>
          <p:nvPr/>
        </p:nvSpPr>
        <p:spPr>
          <a:xfrm>
            <a:off x="3840479"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case-documents/</a:t>
            </a:r>
          </a:p>
          <a:p>
            <a:pPr algn="ctr">
              <a:lnSpc>
                <a:spcPct val="115000"/>
              </a:lnSpc>
            </a:pPr>
            <a:r>
              <a:rPr sz="900" b="0">
                <a:solidFill>
                  <a:srgbClr val="1C1917"/>
                </a:solidFill>
                <a:latin typeface="Consolas"/>
              </a:rPr>
              <a:t>{case_id}/</a:t>
            </a:r>
          </a:p>
          <a:p>
            <a:pPr algn="ctr">
              <a:lnSpc>
                <a:spcPct val="115000"/>
              </a:lnSpc>
            </a:pPr>
            <a:r>
              <a:rPr sz="900" b="0">
                <a:solidFill>
                  <a:srgbClr val="1C1917"/>
                </a:solidFill>
                <a:latin typeface="Consolas"/>
              </a:rPr>
              <a:t>{doc.id}_...</a:t>
            </a:r>
          </a:p>
        </p:txBody>
      </p:sp>
      <p:cxnSp>
        <p:nvCxnSpPr>
          <p:cNvPr id="18" name="Connector 17"/>
          <p:cNvCxnSpPr/>
          <p:nvPr/>
        </p:nvCxnSpPr>
        <p:spPr>
          <a:xfrm>
            <a:off x="5303519"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492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057400"/>
            <a:ext cx="1371600" cy="365760"/>
          </a:xfrm>
          <a:prstGeom prst="rect">
            <a:avLst/>
          </a:prstGeom>
          <a:noFill/>
        </p:spPr>
        <p:txBody>
          <a:bodyPr wrap="square" lIns="0" rIns="0" tIns="0" bIns="0">
            <a:spAutoFit/>
          </a:bodyPr>
          <a:lstStyle/>
          <a:p>
            <a:pPr algn="ctr"/>
            <a:r>
              <a:rPr sz="1000" b="1">
                <a:solidFill>
                  <a:srgbClr val="3F3D99"/>
                </a:solidFill>
                <a:latin typeface="Calibri"/>
              </a:rPr>
              <a:t>pdf-parse</a:t>
            </a:r>
          </a:p>
        </p:txBody>
      </p:sp>
      <p:sp>
        <p:nvSpPr>
          <p:cNvPr id="21" name="TextBox 20"/>
          <p:cNvSpPr txBox="1"/>
          <p:nvPr/>
        </p:nvSpPr>
        <p:spPr>
          <a:xfrm>
            <a:off x="54406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text layer</a:t>
            </a:r>
          </a:p>
          <a:p>
            <a:pPr algn="ctr">
              <a:lnSpc>
                <a:spcPct val="115000"/>
              </a:lnSpc>
            </a:pPr>
            <a:r>
              <a:rPr sz="900" b="0">
                <a:solidFill>
                  <a:srgbClr val="1C1917"/>
                </a:solidFill>
                <a:latin typeface="Consolas"/>
              </a:rPr>
              <a:t>extraction</a:t>
            </a:r>
          </a:p>
        </p:txBody>
      </p:sp>
      <p:cxnSp>
        <p:nvCxnSpPr>
          <p:cNvPr id="22" name="Connector 21"/>
          <p:cNvCxnSpPr/>
          <p:nvPr/>
        </p:nvCxnSpPr>
        <p:spPr>
          <a:xfrm>
            <a:off x="6903720"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494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2057400"/>
            <a:ext cx="1371600" cy="365760"/>
          </a:xfrm>
          <a:prstGeom prst="rect">
            <a:avLst/>
          </a:prstGeom>
          <a:noFill/>
        </p:spPr>
        <p:txBody>
          <a:bodyPr wrap="square" lIns="0" rIns="0" tIns="0" bIns="0">
            <a:spAutoFit/>
          </a:bodyPr>
          <a:lstStyle/>
          <a:p>
            <a:pPr algn="ctr"/>
            <a:r>
              <a:rPr sz="1000" b="1">
                <a:solidFill>
                  <a:srgbClr val="3F3D99"/>
                </a:solidFill>
                <a:latin typeface="Calibri"/>
              </a:rPr>
              <a:t>chunkText</a:t>
            </a:r>
          </a:p>
        </p:txBody>
      </p:sp>
      <p:sp>
        <p:nvSpPr>
          <p:cNvPr id="25" name="TextBox 24"/>
          <p:cNvSpPr txBox="1"/>
          <p:nvPr/>
        </p:nvSpPr>
        <p:spPr>
          <a:xfrm>
            <a:off x="70408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500 words</a:t>
            </a:r>
          </a:p>
          <a:p>
            <a:pPr algn="ctr">
              <a:lnSpc>
                <a:spcPct val="115000"/>
              </a:lnSpc>
            </a:pPr>
            <a:r>
              <a:rPr sz="900" b="0">
                <a:solidFill>
                  <a:srgbClr val="1C1917"/>
                </a:solidFill>
                <a:latin typeface="Consolas"/>
              </a:rPr>
              <a:t>50 overlap</a:t>
            </a:r>
          </a:p>
        </p:txBody>
      </p:sp>
      <p:cxnSp>
        <p:nvCxnSpPr>
          <p:cNvPr id="26" name="Connector 25"/>
          <p:cNvCxnSpPr/>
          <p:nvPr/>
        </p:nvCxnSpPr>
        <p:spPr>
          <a:xfrm>
            <a:off x="8503920"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5496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41080" y="2057400"/>
            <a:ext cx="1371600" cy="365760"/>
          </a:xfrm>
          <a:prstGeom prst="rect">
            <a:avLst/>
          </a:prstGeom>
          <a:noFill/>
        </p:spPr>
        <p:txBody>
          <a:bodyPr wrap="square" lIns="0" rIns="0" tIns="0" bIns="0">
            <a:spAutoFit/>
          </a:bodyPr>
          <a:lstStyle/>
          <a:p>
            <a:pPr algn="ctr"/>
            <a:r>
              <a:rPr sz="1000" b="1">
                <a:solidFill>
                  <a:srgbClr val="3F3D99"/>
                </a:solidFill>
                <a:latin typeface="Calibri"/>
              </a:rPr>
              <a:t>embedText</a:t>
            </a:r>
          </a:p>
        </p:txBody>
      </p:sp>
      <p:sp>
        <p:nvSpPr>
          <p:cNvPr id="29" name="TextBox 28"/>
          <p:cNvSpPr txBox="1"/>
          <p:nvPr/>
        </p:nvSpPr>
        <p:spPr>
          <a:xfrm>
            <a:off x="86410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gemini-</a:t>
            </a:r>
          </a:p>
          <a:p>
            <a:pPr algn="ctr">
              <a:lnSpc>
                <a:spcPct val="115000"/>
              </a:lnSpc>
            </a:pPr>
            <a:r>
              <a:rPr sz="900" b="0">
                <a:solidFill>
                  <a:srgbClr val="1C1917"/>
                </a:solidFill>
                <a:latin typeface="Consolas"/>
              </a:rPr>
              <a:t>embedding-001</a:t>
            </a:r>
          </a:p>
          <a:p>
            <a:pPr algn="ctr">
              <a:lnSpc>
                <a:spcPct val="115000"/>
              </a:lnSpc>
            </a:pPr>
            <a:r>
              <a:rPr sz="900" b="0">
                <a:solidFill>
                  <a:srgbClr val="1C1917"/>
                </a:solidFill>
                <a:latin typeface="Consolas"/>
              </a:rPr>
              <a:t>@ 768 dims</a:t>
            </a:r>
          </a:p>
        </p:txBody>
      </p:sp>
      <p:cxnSp>
        <p:nvCxnSpPr>
          <p:cNvPr id="30" name="Connector 29"/>
          <p:cNvCxnSpPr/>
          <p:nvPr/>
        </p:nvCxnSpPr>
        <p:spPr>
          <a:xfrm>
            <a:off x="10104120" y="2651760"/>
            <a:ext cx="45720" cy="0"/>
          </a:xfrm>
          <a:prstGeom prst="line">
            <a:avLst/>
          </a:prstGeom>
          <a:ln w="15240">
            <a:solidFill>
              <a:srgbClr val="78716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149840" y="1920240"/>
            <a:ext cx="1554480" cy="1463040"/>
          </a:xfrm>
          <a:prstGeom prst="roundRect">
            <a:avLst>
              <a:gd name="adj" fmla="val 6000"/>
            </a:avLst>
          </a:prstGeom>
          <a:solidFill>
            <a:srgbClr val="FFFFFF"/>
          </a:solidFill>
          <a:ln w="9525">
            <a:solidFill>
              <a:srgbClr val="C7C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0" y="2057400"/>
            <a:ext cx="1371600" cy="365760"/>
          </a:xfrm>
          <a:prstGeom prst="rect">
            <a:avLst/>
          </a:prstGeom>
          <a:noFill/>
        </p:spPr>
        <p:txBody>
          <a:bodyPr wrap="square" lIns="0" rIns="0" tIns="0" bIns="0">
            <a:spAutoFit/>
          </a:bodyPr>
          <a:lstStyle/>
          <a:p>
            <a:pPr algn="ctr"/>
            <a:r>
              <a:rPr sz="1000" b="1">
                <a:solidFill>
                  <a:srgbClr val="3F3D99"/>
                </a:solidFill>
                <a:latin typeface="Calibri"/>
              </a:rPr>
              <a:t>document_chunks</a:t>
            </a:r>
          </a:p>
        </p:txBody>
      </p:sp>
      <p:sp>
        <p:nvSpPr>
          <p:cNvPr id="33" name="TextBox 32"/>
          <p:cNvSpPr txBox="1"/>
          <p:nvPr/>
        </p:nvSpPr>
        <p:spPr>
          <a:xfrm>
            <a:off x="10241280" y="2468880"/>
            <a:ext cx="1371600" cy="914400"/>
          </a:xfrm>
          <a:prstGeom prst="rect">
            <a:avLst/>
          </a:prstGeom>
          <a:noFill/>
        </p:spPr>
        <p:txBody>
          <a:bodyPr wrap="square" lIns="0" rIns="0" tIns="0" bIns="0">
            <a:spAutoFit/>
          </a:bodyPr>
          <a:lstStyle/>
          <a:p>
            <a:pPr algn="ctr">
              <a:lnSpc>
                <a:spcPct val="115000"/>
              </a:lnSpc>
            </a:pPr>
            <a:r>
              <a:rPr sz="900" b="0">
                <a:solidFill>
                  <a:srgbClr val="1C1917"/>
                </a:solidFill>
                <a:latin typeface="Consolas"/>
              </a:rPr>
              <a:t>vector(768)</a:t>
            </a:r>
          </a:p>
          <a:p>
            <a:pPr algn="ctr">
              <a:lnSpc>
                <a:spcPct val="115000"/>
              </a:lnSpc>
            </a:pPr>
            <a:r>
              <a:rPr sz="900" b="0">
                <a:solidFill>
                  <a:srgbClr val="1C1917"/>
                </a:solidFill>
                <a:latin typeface="Consolas"/>
              </a:rPr>
              <a:t>case_id scoped</a:t>
            </a:r>
          </a:p>
        </p:txBody>
      </p:sp>
      <p:sp>
        <p:nvSpPr>
          <p:cNvPr id="34" name="Rounded Rectangle 33"/>
          <p:cNvSpPr/>
          <p:nvPr/>
        </p:nvSpPr>
        <p:spPr>
          <a:xfrm>
            <a:off x="685800" y="3749039"/>
            <a:ext cx="11155680" cy="1645920"/>
          </a:xfrm>
          <a:prstGeom prst="roundRect">
            <a:avLst>
              <a:gd name="adj" fmla="val 6000"/>
            </a:avLst>
          </a:prstGeom>
          <a:solidFill>
            <a:srgbClr val="1E1B4B"/>
          </a:solidFill>
          <a:ln w="9525">
            <a:solidFill>
              <a:srgbClr val="1E1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3886200"/>
            <a:ext cx="5486400" cy="274320"/>
          </a:xfrm>
          <a:prstGeom prst="rect">
            <a:avLst/>
          </a:prstGeom>
          <a:noFill/>
        </p:spPr>
        <p:txBody>
          <a:bodyPr wrap="square" lIns="0" rIns="0" tIns="0" bIns="0">
            <a:spAutoFit/>
          </a:bodyPr>
          <a:lstStyle/>
          <a:p>
            <a:pPr algn="l"/>
            <a:r>
              <a:rPr sz="1100" b="1">
                <a:solidFill>
                  <a:srgbClr val="C7C4F0"/>
                </a:solidFill>
                <a:latin typeface="Calibri"/>
              </a:rPr>
              <a:t>RETRIEVAL</a:t>
            </a:r>
          </a:p>
        </p:txBody>
      </p:sp>
      <p:sp>
        <p:nvSpPr>
          <p:cNvPr id="36" name="TextBox 35"/>
          <p:cNvSpPr txBox="1"/>
          <p:nvPr/>
        </p:nvSpPr>
        <p:spPr>
          <a:xfrm>
            <a:off x="868680" y="4206240"/>
            <a:ext cx="10881360" cy="1097280"/>
          </a:xfrm>
          <a:prstGeom prst="rect">
            <a:avLst/>
          </a:prstGeom>
          <a:noFill/>
        </p:spPr>
        <p:txBody>
          <a:bodyPr wrap="square" lIns="0" rIns="0" tIns="0" bIns="0">
            <a:spAutoFit/>
          </a:bodyPr>
          <a:lstStyle/>
          <a:p>
            <a:pPr algn="l">
              <a:lnSpc>
                <a:spcPct val="115000"/>
              </a:lnSpc>
            </a:pPr>
            <a:r>
              <a:rPr sz="1200" b="0">
                <a:solidFill>
                  <a:srgbClr val="FFFFFF"/>
                </a:solidFill>
                <a:latin typeface="Consolas"/>
              </a:rPr>
              <a:t>retrieveChunks(query, case_id, topK=3) →</a:t>
            </a:r>
          </a:p>
          <a:p>
            <a:pPr algn="l">
              <a:lnSpc>
                <a:spcPct val="115000"/>
              </a:lnSpc>
            </a:pPr>
            <a:r>
              <a:rPr sz="1200" b="0">
                <a:solidFill>
                  <a:srgbClr val="FFFFFF"/>
                </a:solidFill>
                <a:latin typeface="Consolas"/>
              </a:rPr>
              <a:t>  embedText(query)                             // 768-dim query vector</a:t>
            </a:r>
          </a:p>
          <a:p>
            <a:pPr algn="l">
              <a:lnSpc>
                <a:spcPct val="115000"/>
              </a:lnSpc>
            </a:pPr>
            <a:r>
              <a:rPr sz="1200" b="0">
                <a:solidFill>
                  <a:srgbClr val="FFFFFF"/>
                </a:solidFill>
                <a:latin typeface="Consolas"/>
              </a:rPr>
              <a:t>  RPC match_chunks(query_embedding, case_id)    // cosine similarity</a:t>
            </a:r>
          </a:p>
          <a:p>
            <a:pPr algn="l">
              <a:lnSpc>
                <a:spcPct val="115000"/>
              </a:lnSpc>
            </a:pPr>
            <a:r>
              <a:rPr sz="1200" b="0">
                <a:solidFill>
                  <a:srgbClr val="FFFFFF"/>
                </a:solidFill>
                <a:latin typeface="Consolas"/>
              </a:rPr>
              <a:t>  returns top-3 ChunkMatch[] scoped to this case</a:t>
            </a:r>
          </a:p>
        </p:txBody>
      </p:sp>
      <p:sp>
        <p:nvSpPr>
          <p:cNvPr id="37" name="TextBox 36"/>
          <p:cNvSpPr txBox="1"/>
          <p:nvPr/>
        </p:nvSpPr>
        <p:spPr>
          <a:xfrm>
            <a:off x="685800" y="5577840"/>
            <a:ext cx="10972800" cy="822960"/>
          </a:xfrm>
          <a:prstGeom prst="rect">
            <a:avLst/>
          </a:prstGeom>
          <a:noFill/>
        </p:spPr>
        <p:txBody>
          <a:bodyPr wrap="square" lIns="0" rIns="0" tIns="0" bIns="0">
            <a:spAutoFit/>
          </a:bodyPr>
          <a:lstStyle/>
          <a:p>
            <a:pPr algn="l"/>
            <a:r>
              <a:rPr sz="1100" b="0">
                <a:solidFill>
                  <a:srgbClr val="78716C"/>
                </a:solidFill>
                <a:latin typeface="Calibri"/>
              </a:rPr>
              <a:t>Signed URLs: src/lib/storage.ts creates a 1-hour signed URL for each uploaded PDF. The research response includes case_documents[] so the UI can turn [DOC] citations into clickable links that open the original 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9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Research — iteration 2 · two-tier corpus</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Per-case docs + shared Indian law corpus</a:t>
            </a:r>
          </a:p>
        </p:txBody>
      </p:sp>
      <p:sp>
        <p:nvSpPr>
          <p:cNvPr id="7" name="Rounded Rectangle 6"/>
          <p:cNvSpPr/>
          <p:nvPr/>
        </p:nvSpPr>
        <p:spPr>
          <a:xfrm>
            <a:off x="685800" y="1783080"/>
            <a:ext cx="5303520" cy="30175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783080"/>
            <a:ext cx="137160" cy="30175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0240"/>
            <a:ext cx="5029200" cy="365760"/>
          </a:xfrm>
          <a:prstGeom prst="rect">
            <a:avLst/>
          </a:prstGeom>
          <a:noFill/>
        </p:spPr>
        <p:txBody>
          <a:bodyPr wrap="square" lIns="0" rIns="0" tIns="0" bIns="0">
            <a:spAutoFit/>
          </a:bodyPr>
          <a:lstStyle/>
          <a:p>
            <a:pPr algn="l"/>
            <a:r>
              <a:rPr sz="1300" b="1">
                <a:solidFill>
                  <a:srgbClr val="B45309"/>
                </a:solidFill>
                <a:latin typeface="Calibri"/>
              </a:rPr>
              <a:t>PER-CASE TIER (document_chunks)</a:t>
            </a:r>
          </a:p>
        </p:txBody>
      </p:sp>
      <p:sp>
        <p:nvSpPr>
          <p:cNvPr id="10" name="TextBox 9"/>
          <p:cNvSpPr txBox="1"/>
          <p:nvPr/>
        </p:nvSpPr>
        <p:spPr>
          <a:xfrm>
            <a:off x="960120" y="2331720"/>
            <a:ext cx="5029200" cy="2377440"/>
          </a:xfrm>
          <a:prstGeom prst="rect">
            <a:avLst/>
          </a:prstGeom>
          <a:noFill/>
        </p:spPr>
        <p:txBody>
          <a:bodyPr wrap="square" lIns="0" rIns="0" tIns="0" bIns="0">
            <a:spAutoFit/>
          </a:bodyPr>
          <a:lstStyle/>
          <a:p>
            <a:pPr algn="l">
              <a:lnSpc>
                <a:spcPct val="115000"/>
              </a:lnSpc>
            </a:pPr>
            <a:r>
              <a:rPr sz="1200" b="0">
                <a:solidFill>
                  <a:srgbClr val="1C1917"/>
                </a:solidFill>
                <a:latin typeface="Calibri"/>
              </a:rPr>
              <a:t>Scope: one lawyer's case_id</a:t>
            </a:r>
          </a:p>
          <a:p>
            <a:pPr algn="l">
              <a:lnSpc>
                <a:spcPct val="115000"/>
              </a:lnSpc>
            </a:pPr>
            <a:r>
              <a:rPr sz="1200" b="0">
                <a:solidFill>
                  <a:srgbClr val="1C1917"/>
                </a:solidFill>
                <a:latin typeface="Calibri"/>
              </a:rPr>
              <a:t>Source: their uploaded PDFs</a:t>
            </a:r>
          </a:p>
          <a:p>
            <a:pPr algn="l">
              <a:lnSpc>
                <a:spcPct val="115000"/>
              </a:lnSpc>
            </a:pPr>
            <a:r>
              <a:rPr sz="1200" b="0">
                <a:solidFill>
                  <a:srgbClr val="1C1917"/>
                </a:solidFill>
                <a:latin typeface="Calibri"/>
              </a:rPr>
              <a:t>Ingestion: /api/documents/ingest</a:t>
            </a:r>
          </a:p>
          <a:p>
            <a:pPr algn="l">
              <a:lnSpc>
                <a:spcPct val="115000"/>
              </a:lnSpc>
            </a:pPr>
            <a:r>
              <a:rPr sz="1200" b="0">
                <a:solidFill>
                  <a:srgbClr val="1C1917"/>
                </a:solidFill>
                <a:latin typeface="Calibri"/>
              </a:rPr>
              <a:t>Retrieval: retrieveChunks(q, case_id, 3)</a:t>
            </a:r>
          </a:p>
          <a:p>
            <a:pPr algn="l">
              <a:lnSpc>
                <a:spcPct val="115000"/>
              </a:lnSpc>
            </a:pPr>
            <a:r>
              <a:rPr sz="1200" b="0">
                <a:solidFill>
                  <a:srgbClr val="1C1917"/>
                </a:solidFill>
                <a:latin typeface="Calibri"/>
              </a:rPr>
              <a:t>Prompt prefix: [DOC]</a:t>
            </a:r>
          </a:p>
          <a:p>
            <a:pPr algn="l">
              <a:lnSpc>
                <a:spcPct val="115000"/>
              </a:lnSpc>
            </a:pPr>
            <a:r>
              <a:rPr sz="1200" b="0">
                <a:solidFill>
                  <a:srgbClr val="1C1917"/>
                </a:solidFill>
                <a:latin typeface="Calibri"/>
              </a:rPr>
              <a:t>UI badge: amber</a:t>
            </a:r>
          </a:p>
        </p:txBody>
      </p:sp>
      <p:sp>
        <p:nvSpPr>
          <p:cNvPr id="11" name="Rounded Rectangle 10"/>
          <p:cNvSpPr/>
          <p:nvPr/>
        </p:nvSpPr>
        <p:spPr>
          <a:xfrm>
            <a:off x="6263640" y="1783080"/>
            <a:ext cx="5303520" cy="30175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783080"/>
            <a:ext cx="137160" cy="30175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920240"/>
            <a:ext cx="5029200" cy="365760"/>
          </a:xfrm>
          <a:prstGeom prst="rect">
            <a:avLst/>
          </a:prstGeom>
          <a:noFill/>
        </p:spPr>
        <p:txBody>
          <a:bodyPr wrap="square" lIns="0" rIns="0" tIns="0" bIns="0">
            <a:spAutoFit/>
          </a:bodyPr>
          <a:lstStyle/>
          <a:p>
            <a:pPr algn="l"/>
            <a:r>
              <a:rPr sz="1300" b="1">
                <a:solidFill>
                  <a:srgbClr val="1D4ED8"/>
                </a:solidFill>
                <a:latin typeface="Calibri"/>
              </a:rPr>
              <a:t>CORPUS TIER (corpus_chunks)</a:t>
            </a:r>
          </a:p>
        </p:txBody>
      </p:sp>
      <p:sp>
        <p:nvSpPr>
          <p:cNvPr id="14" name="TextBox 13"/>
          <p:cNvSpPr txBox="1"/>
          <p:nvPr/>
        </p:nvSpPr>
        <p:spPr>
          <a:xfrm>
            <a:off x="6537960" y="2331720"/>
            <a:ext cx="5029200" cy="2377440"/>
          </a:xfrm>
          <a:prstGeom prst="rect">
            <a:avLst/>
          </a:prstGeom>
          <a:noFill/>
        </p:spPr>
        <p:txBody>
          <a:bodyPr wrap="square" lIns="0" rIns="0" tIns="0" bIns="0">
            <a:spAutoFit/>
          </a:bodyPr>
          <a:lstStyle/>
          <a:p>
            <a:pPr algn="l">
              <a:lnSpc>
                <a:spcPct val="115000"/>
              </a:lnSpc>
            </a:pPr>
            <a:r>
              <a:rPr sz="1200" b="0">
                <a:solidFill>
                  <a:srgbClr val="1C1917"/>
                </a:solidFill>
                <a:latin typeface="Calibri"/>
              </a:rPr>
              <a:t>Scope: shared across all lawyers</a:t>
            </a:r>
          </a:p>
          <a:p>
            <a:pPr algn="l">
              <a:lnSpc>
                <a:spcPct val="115000"/>
              </a:lnSpc>
            </a:pPr>
            <a:r>
              <a:rPr sz="1200" b="0">
                <a:solidFill>
                  <a:srgbClr val="1C1917"/>
                </a:solidFill>
                <a:latin typeface="Calibri"/>
              </a:rPr>
              <a:t>Source: 6 statutes + 8 landmark judgments</a:t>
            </a:r>
          </a:p>
          <a:p>
            <a:pPr algn="l">
              <a:lnSpc>
                <a:spcPct val="115000"/>
              </a:lnSpc>
            </a:pPr>
            <a:r>
              <a:rPr sz="1200" b="0">
                <a:solidFill>
                  <a:srgbClr val="1C1917"/>
                </a:solidFill>
                <a:latin typeface="Calibri"/>
              </a:rPr>
              <a:t>Ingestion: scripts/ingest-corpus.ts</a:t>
            </a:r>
          </a:p>
          <a:p>
            <a:pPr algn="l">
              <a:lnSpc>
                <a:spcPct val="115000"/>
              </a:lnSpc>
            </a:pPr>
            <a:r>
              <a:rPr sz="1200" b="0">
                <a:solidFill>
                  <a:srgbClr val="1C1917"/>
                </a:solidFill>
                <a:latin typeface="Calibri"/>
              </a:rPr>
              <a:t>Retrieval: retrieveCorpusChunksHybrid(q, 6)</a:t>
            </a:r>
          </a:p>
          <a:p>
            <a:pPr algn="l">
              <a:lnSpc>
                <a:spcPct val="115000"/>
              </a:lnSpc>
            </a:pPr>
            <a:r>
              <a:rPr sz="1200" b="0">
                <a:solidFill>
                  <a:srgbClr val="1C1917"/>
                </a:solidFill>
                <a:latin typeface="Calibri"/>
              </a:rPr>
              <a:t>Prompt prefix: [LAW: source_name]</a:t>
            </a:r>
          </a:p>
          <a:p>
            <a:pPr algn="l">
              <a:lnSpc>
                <a:spcPct val="115000"/>
              </a:lnSpc>
            </a:pPr>
            <a:r>
              <a:rPr sz="1200" b="0">
                <a:solidFill>
                  <a:srgbClr val="1C1917"/>
                </a:solidFill>
                <a:latin typeface="Calibri"/>
              </a:rPr>
              <a:t>UI badge: blue</a:t>
            </a:r>
          </a:p>
        </p:txBody>
      </p:sp>
      <p:sp>
        <p:nvSpPr>
          <p:cNvPr id="15" name="Rounded Rectangle 14"/>
          <p:cNvSpPr/>
          <p:nvPr/>
        </p:nvSpPr>
        <p:spPr>
          <a:xfrm>
            <a:off x="685800" y="4937760"/>
            <a:ext cx="11155680" cy="1554480"/>
          </a:xfrm>
          <a:prstGeom prst="roundRect">
            <a:avLst>
              <a:gd name="adj" fmla="val 6000"/>
            </a:avLst>
          </a:prstGeom>
          <a:solidFill>
            <a:srgbClr val="1E1B4B"/>
          </a:solidFill>
          <a:ln w="9525">
            <a:solidFill>
              <a:srgbClr val="1E1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074920"/>
            <a:ext cx="10972800" cy="274320"/>
          </a:xfrm>
          <a:prstGeom prst="rect">
            <a:avLst/>
          </a:prstGeom>
          <a:noFill/>
        </p:spPr>
        <p:txBody>
          <a:bodyPr wrap="square" lIns="0" rIns="0" tIns="0" bIns="0">
            <a:spAutoFit/>
          </a:bodyPr>
          <a:lstStyle/>
          <a:p>
            <a:pPr algn="l"/>
            <a:r>
              <a:rPr sz="1200" b="1">
                <a:solidFill>
                  <a:srgbClr val="C7C4F0"/>
                </a:solidFill>
                <a:latin typeface="Calibri"/>
              </a:rPr>
              <a:t>CORPUS CONTENTS · 14 sources · ~761 chunks</a:t>
            </a:r>
          </a:p>
        </p:txBody>
      </p:sp>
      <p:sp>
        <p:nvSpPr>
          <p:cNvPr id="17" name="TextBox 16"/>
          <p:cNvSpPr txBox="1"/>
          <p:nvPr/>
        </p:nvSpPr>
        <p:spPr>
          <a:xfrm>
            <a:off x="868680" y="5394960"/>
            <a:ext cx="10881360" cy="1005840"/>
          </a:xfrm>
          <a:prstGeom prst="rect">
            <a:avLst/>
          </a:prstGeom>
          <a:noFill/>
        </p:spPr>
        <p:txBody>
          <a:bodyPr wrap="square" lIns="0" rIns="0" tIns="0" bIns="0">
            <a:spAutoFit/>
          </a:bodyPr>
          <a:lstStyle/>
          <a:p>
            <a:pPr algn="l">
              <a:lnSpc>
                <a:spcPct val="115000"/>
              </a:lnSpc>
            </a:pPr>
            <a:r>
              <a:rPr sz="1100" b="0">
                <a:solidFill>
                  <a:srgbClr val="FFFFFF"/>
                </a:solidFill>
                <a:latin typeface="Consolas"/>
              </a:rPr>
              <a:t>Statutes (6):  BNSS 2023  ·  BNS 2023  ·  BSA 2023  ·  CPC 1908  ·  POCSO 2012  ·  Human Rights Act 1993</a:t>
            </a:r>
          </a:p>
          <a:p>
            <a:pPr algn="l">
              <a:lnSpc>
                <a:spcPct val="115000"/>
              </a:lnSpc>
            </a:pPr>
            <a:r>
              <a:rPr sz="1100" b="0">
                <a:solidFill>
                  <a:srgbClr val="FFFFFF"/>
                </a:solidFill>
                <a:latin typeface="Consolas"/>
              </a:rPr>
              <a:t>Judgments (8): Arnesh Kumar · Satender Kumar Antil · Maneka Gandhi · Hans Kumar ·</a:t>
            </a:r>
          </a:p>
          <a:p>
            <a:pPr algn="l">
              <a:lnSpc>
                <a:spcPct val="115000"/>
              </a:lnSpc>
            </a:pPr>
            <a:r>
              <a:rPr sz="1100" b="0">
                <a:solidFill>
                  <a:srgbClr val="FFFFFF"/>
                </a:solidFill>
                <a:latin typeface="Consolas"/>
              </a:rPr>
              <a:t>               A.S. Templeton · Mahender Bansal · Rahul Pathak · Sushma Trivedi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10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Research — iteration 3 · hybrid retrieval</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The fix for section-number queries</a:t>
            </a:r>
          </a:p>
        </p:txBody>
      </p:sp>
      <p:sp>
        <p:nvSpPr>
          <p:cNvPr id="7" name="Rounded Rectangle 6"/>
          <p:cNvSpPr/>
          <p:nvPr/>
        </p:nvSpPr>
        <p:spPr>
          <a:xfrm>
            <a:off x="685800" y="1783080"/>
            <a:ext cx="11155680" cy="1005840"/>
          </a:xfrm>
          <a:prstGeom prst="roundRect">
            <a:avLst>
              <a:gd name="adj" fmla="val 6000"/>
            </a:avLst>
          </a:prstGeom>
          <a:solidFill>
            <a:srgbClr val="B91C1C"/>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5486400" cy="274320"/>
          </a:xfrm>
          <a:prstGeom prst="rect">
            <a:avLst/>
          </a:prstGeom>
          <a:noFill/>
        </p:spPr>
        <p:txBody>
          <a:bodyPr wrap="square" lIns="0" rIns="0" tIns="0" bIns="0">
            <a:spAutoFit/>
          </a:bodyPr>
          <a:lstStyle/>
          <a:p>
            <a:pPr algn="l"/>
            <a:r>
              <a:rPr sz="1100" b="1">
                <a:solidFill>
                  <a:srgbClr val="FFFFFF"/>
                </a:solidFill>
                <a:latin typeface="Calibri"/>
              </a:rPr>
              <a:t>PROBLEM</a:t>
            </a:r>
          </a:p>
        </p:txBody>
      </p:sp>
      <p:sp>
        <p:nvSpPr>
          <p:cNvPr id="9" name="TextBox 8"/>
          <p:cNvSpPr txBox="1"/>
          <p:nvPr/>
        </p:nvSpPr>
        <p:spPr>
          <a:xfrm>
            <a:off x="868680" y="2194560"/>
            <a:ext cx="10881360" cy="640080"/>
          </a:xfrm>
          <a:prstGeom prst="rect">
            <a:avLst/>
          </a:prstGeom>
          <a:noFill/>
        </p:spPr>
        <p:txBody>
          <a:bodyPr wrap="square" lIns="0" rIns="0" tIns="0" bIns="0">
            <a:spAutoFit/>
          </a:bodyPr>
          <a:lstStyle/>
          <a:p>
            <a:pPr algn="l"/>
            <a:r>
              <a:rPr sz="1200" b="0">
                <a:solidFill>
                  <a:srgbClr val="FFFFFF"/>
                </a:solidFill>
                <a:latin typeface="Calibri"/>
              </a:rPr>
              <a:t>Query "BNSS §187(3) chargesheet deadline" → top hit was Satender Kumar Antil (a JUDGMENT about §187) at sim 0.58. Actual statute text didn't crack top-3.</a:t>
            </a:r>
          </a:p>
        </p:txBody>
      </p:sp>
      <p:sp>
        <p:nvSpPr>
          <p:cNvPr id="10" name="Rounded Rectangle 9"/>
          <p:cNvSpPr/>
          <p:nvPr/>
        </p:nvSpPr>
        <p:spPr>
          <a:xfrm>
            <a:off x="685800" y="2971800"/>
            <a:ext cx="3611880" cy="18288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71800"/>
            <a:ext cx="36118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154680"/>
            <a:ext cx="3383280" cy="365760"/>
          </a:xfrm>
          <a:prstGeom prst="rect">
            <a:avLst/>
          </a:prstGeom>
          <a:noFill/>
        </p:spPr>
        <p:txBody>
          <a:bodyPr wrap="square" lIns="0" rIns="0" tIns="0" bIns="0">
            <a:spAutoFit/>
          </a:bodyPr>
          <a:lstStyle/>
          <a:p>
            <a:pPr algn="l"/>
            <a:r>
              <a:rPr sz="1200" b="1">
                <a:solidFill>
                  <a:srgbClr val="059669"/>
                </a:solidFill>
                <a:latin typeface="Calibri"/>
              </a:rPr>
              <a:t>LAYER 1 · keyword boost</a:t>
            </a:r>
          </a:p>
        </p:txBody>
      </p:sp>
      <p:sp>
        <p:nvSpPr>
          <p:cNvPr id="13" name="TextBox 12"/>
          <p:cNvSpPr txBox="1"/>
          <p:nvPr/>
        </p:nvSpPr>
        <p:spPr>
          <a:xfrm>
            <a:off x="868680" y="3566160"/>
            <a:ext cx="3383280" cy="1234440"/>
          </a:xfrm>
          <a:prstGeom prst="rect">
            <a:avLst/>
          </a:prstGeom>
          <a:noFill/>
        </p:spPr>
        <p:txBody>
          <a:bodyPr wrap="square" lIns="0" rIns="0" tIns="0" bIns="0">
            <a:spAutoFit/>
          </a:bodyPr>
          <a:lstStyle/>
          <a:p>
            <a:pPr algn="l">
              <a:lnSpc>
                <a:spcPct val="115000"/>
              </a:lnSpc>
            </a:pPr>
            <a:r>
              <a:rPr sz="1100" b="0">
                <a:solidFill>
                  <a:srgbClr val="1C1917"/>
                </a:solidFill>
                <a:latin typeface="Calibri"/>
              </a:rPr>
              <a:t>Regex extract section numbers from query</a:t>
            </a:r>
          </a:p>
          <a:p>
            <a:pPr algn="l">
              <a:lnSpc>
                <a:spcPct val="115000"/>
              </a:lnSpc>
            </a:pPr>
            <a:r>
              <a:rPr sz="1100" b="0">
                <a:solidFill>
                  <a:srgbClr val="1C1917"/>
                </a:solidFill>
                <a:latin typeface="Calibri"/>
              </a:rPr>
              <a:t>→ ILIKE match statute chunks only</a:t>
            </a:r>
          </a:p>
          <a:p>
            <a:pPr algn="l">
              <a:lnSpc>
                <a:spcPct val="115000"/>
              </a:lnSpc>
            </a:pPr>
            <a:r>
              <a:rPr sz="1100" b="0">
                <a:solidFill>
                  <a:srgbClr val="1C1917"/>
                </a:solidFill>
                <a:latin typeface="Calibri"/>
              </a:rPr>
              <a:t>→ similarity = 1.00 (artificial)</a:t>
            </a:r>
          </a:p>
        </p:txBody>
      </p:sp>
      <p:sp>
        <p:nvSpPr>
          <p:cNvPr id="14" name="Rounded Rectangle 13"/>
          <p:cNvSpPr/>
          <p:nvPr/>
        </p:nvSpPr>
        <p:spPr>
          <a:xfrm>
            <a:off x="4434840" y="2971800"/>
            <a:ext cx="3611880" cy="18288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2971800"/>
            <a:ext cx="3611880" cy="91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3154680"/>
            <a:ext cx="3383280" cy="365760"/>
          </a:xfrm>
          <a:prstGeom prst="rect">
            <a:avLst/>
          </a:prstGeom>
          <a:noFill/>
        </p:spPr>
        <p:txBody>
          <a:bodyPr wrap="square" lIns="0" rIns="0" tIns="0" bIns="0">
            <a:spAutoFit/>
          </a:bodyPr>
          <a:lstStyle/>
          <a:p>
            <a:pPr algn="l"/>
            <a:r>
              <a:rPr sz="1200" b="1">
                <a:solidFill>
                  <a:srgbClr val="1D4ED8"/>
                </a:solidFill>
                <a:latin typeface="Calibri"/>
              </a:rPr>
              <a:t>LAYER 2 · stratified semantic</a:t>
            </a:r>
          </a:p>
        </p:txBody>
      </p:sp>
      <p:sp>
        <p:nvSpPr>
          <p:cNvPr id="17" name="TextBox 16"/>
          <p:cNvSpPr txBox="1"/>
          <p:nvPr/>
        </p:nvSpPr>
        <p:spPr>
          <a:xfrm>
            <a:off x="4617720" y="3566160"/>
            <a:ext cx="3383280" cy="1234440"/>
          </a:xfrm>
          <a:prstGeom prst="rect">
            <a:avLst/>
          </a:prstGeom>
          <a:noFill/>
        </p:spPr>
        <p:txBody>
          <a:bodyPr wrap="square" lIns="0" rIns="0" tIns="0" bIns="0">
            <a:spAutoFit/>
          </a:bodyPr>
          <a:lstStyle/>
          <a:p>
            <a:pPr algn="l">
              <a:lnSpc>
                <a:spcPct val="115000"/>
              </a:lnSpc>
            </a:pPr>
            <a:r>
              <a:rPr sz="1100" b="0">
                <a:solidFill>
                  <a:srgbClr val="1C1917"/>
                </a:solidFill>
                <a:latin typeface="Calibri"/>
              </a:rPr>
              <a:t>match_corpus_stratified RPC</a:t>
            </a:r>
          </a:p>
          <a:p>
            <a:pPr algn="l">
              <a:lnSpc>
                <a:spcPct val="115000"/>
              </a:lnSpc>
            </a:pPr>
            <a:r>
              <a:rPr sz="1100" b="0">
                <a:solidFill>
                  <a:srgbClr val="1C1917"/>
                </a:solidFill>
                <a:latin typeface="Calibri"/>
              </a:rPr>
              <a:t>→ top-3 statutes + top-3 judgments</a:t>
            </a:r>
          </a:p>
          <a:p>
            <a:pPr algn="l">
              <a:lnSpc>
                <a:spcPct val="115000"/>
              </a:lnSpc>
            </a:pPr>
            <a:r>
              <a:rPr sz="1100" b="0">
                <a:solidFill>
                  <a:srgbClr val="1C1917"/>
                </a:solidFill>
                <a:latin typeface="Calibri"/>
              </a:rPr>
              <a:t>→ prevents judgments monopolising</a:t>
            </a:r>
          </a:p>
        </p:txBody>
      </p:sp>
      <p:sp>
        <p:nvSpPr>
          <p:cNvPr id="18" name="Rounded Rectangle 17"/>
          <p:cNvSpPr/>
          <p:nvPr/>
        </p:nvSpPr>
        <p:spPr>
          <a:xfrm>
            <a:off x="8183879" y="2971800"/>
            <a:ext cx="3611880" cy="18288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2971800"/>
            <a:ext cx="3611880" cy="9144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59" y="3154680"/>
            <a:ext cx="3383280" cy="365760"/>
          </a:xfrm>
          <a:prstGeom prst="rect">
            <a:avLst/>
          </a:prstGeom>
          <a:noFill/>
        </p:spPr>
        <p:txBody>
          <a:bodyPr wrap="square" lIns="0" rIns="0" tIns="0" bIns="0">
            <a:spAutoFit/>
          </a:bodyPr>
          <a:lstStyle/>
          <a:p>
            <a:pPr algn="l"/>
            <a:r>
              <a:rPr sz="1200" b="1">
                <a:solidFill>
                  <a:srgbClr val="3F3D99"/>
                </a:solidFill>
                <a:latin typeface="Calibri"/>
              </a:rPr>
              <a:t>LAYER 3 · merge + dedup</a:t>
            </a:r>
          </a:p>
        </p:txBody>
      </p:sp>
      <p:sp>
        <p:nvSpPr>
          <p:cNvPr id="21" name="TextBox 20"/>
          <p:cNvSpPr txBox="1"/>
          <p:nvPr/>
        </p:nvSpPr>
        <p:spPr>
          <a:xfrm>
            <a:off x="8366759" y="3566160"/>
            <a:ext cx="3383280" cy="1234440"/>
          </a:xfrm>
          <a:prstGeom prst="rect">
            <a:avLst/>
          </a:prstGeom>
          <a:noFill/>
        </p:spPr>
        <p:txBody>
          <a:bodyPr wrap="square" lIns="0" rIns="0" tIns="0" bIns="0">
            <a:spAutoFit/>
          </a:bodyPr>
          <a:lstStyle/>
          <a:p>
            <a:pPr algn="l">
              <a:lnSpc>
                <a:spcPct val="115000"/>
              </a:lnSpc>
            </a:pPr>
            <a:r>
              <a:rPr sz="1100" b="0">
                <a:solidFill>
                  <a:srgbClr val="1C1917"/>
                </a:solidFill>
                <a:latin typeface="Calibri"/>
              </a:rPr>
              <a:t>Keyword hits ranked first</a:t>
            </a:r>
          </a:p>
          <a:p>
            <a:pPr algn="l">
              <a:lnSpc>
                <a:spcPct val="115000"/>
              </a:lnSpc>
            </a:pPr>
            <a:r>
              <a:rPr sz="1100" b="0">
                <a:solidFill>
                  <a:srgbClr val="1C1917"/>
                </a:solidFill>
                <a:latin typeface="Calibri"/>
              </a:rPr>
              <a:t>→ semantic hits appended</a:t>
            </a:r>
          </a:p>
          <a:p>
            <a:pPr algn="l">
              <a:lnSpc>
                <a:spcPct val="115000"/>
              </a:lnSpc>
            </a:pPr>
            <a:r>
              <a:rPr sz="1100" b="0">
                <a:solidFill>
                  <a:srgbClr val="1C1917"/>
                </a:solidFill>
                <a:latin typeface="Calibri"/>
              </a:rPr>
              <a:t>→ dedup by first-100-char signature</a:t>
            </a:r>
          </a:p>
          <a:p>
            <a:pPr algn="l">
              <a:lnSpc>
                <a:spcPct val="115000"/>
              </a:lnSpc>
            </a:pPr>
            <a:r>
              <a:rPr sz="1100" b="0">
                <a:solidFill>
                  <a:srgbClr val="1C1917"/>
                </a:solidFill>
                <a:latin typeface="Calibri"/>
              </a:rPr>
              <a:t>→ cap at topK=6</a:t>
            </a:r>
          </a:p>
        </p:txBody>
      </p:sp>
      <p:sp>
        <p:nvSpPr>
          <p:cNvPr id="22" name="Rounded Rectangle 21"/>
          <p:cNvSpPr/>
          <p:nvPr/>
        </p:nvSpPr>
        <p:spPr>
          <a:xfrm>
            <a:off x="685800" y="4983480"/>
            <a:ext cx="11155680" cy="1463040"/>
          </a:xfrm>
          <a:prstGeom prst="roundRect">
            <a:avLst>
              <a:gd name="adj" fmla="val 6000"/>
            </a:avLst>
          </a:prstGeom>
          <a:solidFill>
            <a:srgbClr val="059669"/>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20640"/>
            <a:ext cx="10972800" cy="274320"/>
          </a:xfrm>
          <a:prstGeom prst="rect">
            <a:avLst/>
          </a:prstGeom>
          <a:noFill/>
        </p:spPr>
        <p:txBody>
          <a:bodyPr wrap="square" lIns="0" rIns="0" tIns="0" bIns="0">
            <a:spAutoFit/>
          </a:bodyPr>
          <a:lstStyle/>
          <a:p>
            <a:pPr algn="l"/>
            <a:r>
              <a:rPr sz="1100" b="1">
                <a:solidFill>
                  <a:srgbClr val="FFFFFF"/>
                </a:solidFill>
                <a:latin typeface="Calibri"/>
              </a:rPr>
              <a:t>MEASURED IMPACT  ·  same query, before vs after</a:t>
            </a:r>
          </a:p>
        </p:txBody>
      </p:sp>
      <p:sp>
        <p:nvSpPr>
          <p:cNvPr id="24" name="TextBox 23"/>
          <p:cNvSpPr txBox="1"/>
          <p:nvPr/>
        </p:nvSpPr>
        <p:spPr>
          <a:xfrm>
            <a:off x="868680" y="5440680"/>
            <a:ext cx="10881360" cy="1005840"/>
          </a:xfrm>
          <a:prstGeom prst="rect">
            <a:avLst/>
          </a:prstGeom>
          <a:noFill/>
        </p:spPr>
        <p:txBody>
          <a:bodyPr wrap="square" lIns="0" rIns="0" tIns="0" bIns="0">
            <a:spAutoFit/>
          </a:bodyPr>
          <a:lstStyle/>
          <a:p>
            <a:pPr algn="l">
              <a:lnSpc>
                <a:spcPct val="115000"/>
              </a:lnSpc>
            </a:pPr>
            <a:r>
              <a:rPr sz="1100" b="0">
                <a:solidFill>
                  <a:srgbClr val="FFFFFF"/>
                </a:solidFill>
                <a:latin typeface="Consolas"/>
              </a:rPr>
              <a:t>BEFORE  corpus_sources: [judgment:Satender Kumar Antil, …]  ·  similarities: [0.58, 0.55, 0.54]</a:t>
            </a:r>
          </a:p>
          <a:p>
            <a:pPr algn="l">
              <a:lnSpc>
                <a:spcPct val="115000"/>
              </a:lnSpc>
            </a:pPr>
            <a:r>
              <a:rPr sz="1100" b="0">
                <a:solidFill>
                  <a:srgbClr val="FFFFFF"/>
                </a:solidFill>
                <a:latin typeface="Consolas"/>
              </a:rPr>
              <a:t>AFTER   corpus_sources: [statute:Bharatiya Nyaya Sanhita,   ·  similarities: [1.00, 1.00, 1.00]</a:t>
            </a:r>
          </a:p>
          <a:p>
            <a:pPr algn="l">
              <a:lnSpc>
                <a:spcPct val="115000"/>
              </a:lnSpc>
            </a:pPr>
            <a:r>
              <a:rPr sz="1100" b="0">
                <a:solidFill>
                  <a:srgbClr val="FFFFFF"/>
                </a:solidFill>
                <a:latin typeface="Consolas"/>
              </a:rPr>
              <a:t>                         statute:Bharatiya Nyaya Sanhita,</a:t>
            </a:r>
          </a:p>
          <a:p>
            <a:pPr algn="l">
              <a:lnSpc>
                <a:spcPct val="115000"/>
              </a:lnSpc>
            </a:pPr>
            <a:r>
              <a:rPr sz="1100" b="0">
                <a:solidFill>
                  <a:srgbClr val="FFFFFF"/>
                </a:solidFill>
                <a:latin typeface="Consolas"/>
              </a:rPr>
              <a:t>                         statute:Bharatiya Nagarik Suraksha Sanhita]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11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Structured citations · source verification</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Every citation is a card with a clickable link</a:t>
            </a:r>
          </a:p>
        </p:txBody>
      </p:sp>
      <p:sp>
        <p:nvSpPr>
          <p:cNvPr id="7" name="Rounded Rectangle 6"/>
          <p:cNvSpPr/>
          <p:nvPr/>
        </p:nvSpPr>
        <p:spPr>
          <a:xfrm>
            <a:off x="685800" y="1783080"/>
            <a:ext cx="5486400" cy="384048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5120640" cy="274320"/>
          </a:xfrm>
          <a:prstGeom prst="rect">
            <a:avLst/>
          </a:prstGeom>
          <a:noFill/>
        </p:spPr>
        <p:txBody>
          <a:bodyPr wrap="square" lIns="0" rIns="0" tIns="0" bIns="0">
            <a:spAutoFit/>
          </a:bodyPr>
          <a:lstStyle/>
          <a:p>
            <a:pPr algn="l"/>
            <a:r>
              <a:rPr sz="1100" b="1">
                <a:solidFill>
                  <a:srgbClr val="3F3D99"/>
                </a:solidFill>
                <a:latin typeface="Calibri"/>
              </a:rPr>
              <a:t>GEMINI RESPONSE SCHEMA (per citation)</a:t>
            </a:r>
          </a:p>
        </p:txBody>
      </p:sp>
      <p:sp>
        <p:nvSpPr>
          <p:cNvPr id="9" name="TextBox 8"/>
          <p:cNvSpPr txBox="1"/>
          <p:nvPr/>
        </p:nvSpPr>
        <p:spPr>
          <a:xfrm>
            <a:off x="868680" y="2286000"/>
            <a:ext cx="5303520" cy="3200400"/>
          </a:xfrm>
          <a:prstGeom prst="rect">
            <a:avLst/>
          </a:prstGeom>
          <a:noFill/>
        </p:spPr>
        <p:txBody>
          <a:bodyPr wrap="square" lIns="0" rIns="0" tIns="0" bIns="0">
            <a:spAutoFit/>
          </a:bodyPr>
          <a:lstStyle/>
          <a:p>
            <a:pPr algn="l">
              <a:lnSpc>
                <a:spcPct val="115000"/>
              </a:lnSpc>
            </a:pPr>
            <a:r>
              <a:rPr sz="1100" b="0">
                <a:solidFill>
                  <a:srgbClr val="1C1917"/>
                </a:solidFill>
                <a:latin typeface="Consolas"/>
              </a:rPr>
              <a:t>{</a:t>
            </a:r>
          </a:p>
          <a:p>
            <a:pPr algn="l">
              <a:lnSpc>
                <a:spcPct val="115000"/>
              </a:lnSpc>
            </a:pPr>
            <a:r>
              <a:rPr sz="1100" b="0">
                <a:solidFill>
                  <a:srgbClr val="1C1917"/>
                </a:solidFill>
                <a:latin typeface="Consolas"/>
              </a:rPr>
              <a:t>  source:             '[LAW: Satender Kumar Antil …]',</a:t>
            </a:r>
          </a:p>
          <a:p>
            <a:pPr algn="l">
              <a:lnSpc>
                <a:spcPct val="115000"/>
              </a:lnSpc>
            </a:pPr>
            <a:r>
              <a:rPr sz="1100" b="0">
                <a:solidFill>
                  <a:srgbClr val="1C1917"/>
                </a:solidFill>
                <a:latin typeface="Consolas"/>
              </a:rPr>
              <a:t>  case_name_or_statute: 'Satender Kumar Antil v. CBI (2022)',</a:t>
            </a:r>
          </a:p>
          <a:p>
            <a:pPr algn="l">
              <a:lnSpc>
                <a:spcPct val="115000"/>
              </a:lnSpc>
            </a:pPr>
            <a:r>
              <a:rPr sz="1100" b="0">
                <a:solidFill>
                  <a:srgbClr val="1C1917"/>
                </a:solidFill>
                <a:latin typeface="Consolas"/>
              </a:rPr>
              <a:t>  source_type:        'law' | 'doc',</a:t>
            </a:r>
          </a:p>
          <a:p>
            <a:pPr algn="l">
              <a:lnSpc>
                <a:spcPct val="115000"/>
              </a:lnSpc>
            </a:pPr>
            <a:r>
              <a:rPr sz="1100" b="0">
                <a:solidFill>
                  <a:srgbClr val="1C1917"/>
                </a:solidFill>
                <a:latin typeface="Consolas"/>
              </a:rPr>
              <a:t>  core_holding:       '1-2 sentences…',</a:t>
            </a:r>
          </a:p>
          <a:p>
            <a:pPr algn="l">
              <a:lnSpc>
                <a:spcPct val="115000"/>
              </a:lnSpc>
            </a:pPr>
            <a:r>
              <a:rPr sz="1100" b="0">
                <a:solidFill>
                  <a:srgbClr val="1C1917"/>
                </a:solidFill>
                <a:latin typeface="Consolas"/>
              </a:rPr>
              <a:t>  key_facts:          '1-2 sentences…',</a:t>
            </a:r>
          </a:p>
          <a:p>
            <a:pPr algn="l">
              <a:lnSpc>
                <a:spcPct val="115000"/>
              </a:lnSpc>
            </a:pPr>
            <a:r>
              <a:rPr sz="1100" b="0">
                <a:solidFill>
                  <a:srgbClr val="1C1917"/>
                </a:solidFill>
                <a:latin typeface="Consolas"/>
              </a:rPr>
              <a:t>  relevance_to_query: '1-2 sentences…',</a:t>
            </a:r>
          </a:p>
          <a:p>
            <a:pPr algn="l">
              <a:lnSpc>
                <a:spcPct val="115000"/>
              </a:lnSpc>
            </a:pPr>
            <a:r>
              <a:rPr sz="1100" b="0">
                <a:solidFill>
                  <a:srgbClr val="1C1917"/>
                </a:solidFill>
                <a:latin typeface="Consolas"/>
              </a:rPr>
              <a:t/>
            </a:r>
          </a:p>
          <a:p>
            <a:pPr algn="l">
              <a:lnSpc>
                <a:spcPct val="115000"/>
              </a:lnSpc>
            </a:pPr>
            <a:r>
              <a:rPr sz="1100" b="0">
                <a:solidFill>
                  <a:srgbClr val="1C1917"/>
                </a:solidFill>
                <a:latin typeface="Consolas"/>
              </a:rPr>
              <a:t>  // Server-enriched after Gemini call:</a:t>
            </a:r>
          </a:p>
          <a:p>
            <a:pPr algn="l">
              <a:lnSpc>
                <a:spcPct val="115000"/>
              </a:lnSpc>
            </a:pPr>
            <a:r>
              <a:rPr sz="1100" b="0">
                <a:solidFill>
                  <a:srgbClr val="1C1917"/>
                </a:solidFill>
                <a:latin typeface="Consolas"/>
              </a:rPr>
              <a:t>  source_url:         'https://indiankanoon.org/doc/…'</a:t>
            </a:r>
          </a:p>
          <a:p>
            <a:pPr algn="l">
              <a:lnSpc>
                <a:spcPct val="115000"/>
              </a:lnSpc>
            </a:pPr>
            <a:r>
              <a:rPr sz="1100" b="0">
                <a:solidFill>
                  <a:srgbClr val="1C1917"/>
                </a:solidFill>
                <a:latin typeface="Consolas"/>
              </a:rPr>
              <a:t>}</a:t>
            </a:r>
          </a:p>
        </p:txBody>
      </p:sp>
      <p:sp>
        <p:nvSpPr>
          <p:cNvPr id="10" name="Rounded Rectangle 9"/>
          <p:cNvSpPr/>
          <p:nvPr/>
        </p:nvSpPr>
        <p:spPr>
          <a:xfrm>
            <a:off x="6400800" y="1783080"/>
            <a:ext cx="5394960" cy="384048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5120640" cy="274320"/>
          </a:xfrm>
          <a:prstGeom prst="rect">
            <a:avLst/>
          </a:prstGeom>
          <a:noFill/>
        </p:spPr>
        <p:txBody>
          <a:bodyPr wrap="square" lIns="0" rIns="0" tIns="0" bIns="0">
            <a:spAutoFit/>
          </a:bodyPr>
          <a:lstStyle/>
          <a:p>
            <a:pPr algn="l"/>
            <a:r>
              <a:rPr sz="1100" b="1">
                <a:solidFill>
                  <a:srgbClr val="3F3D99"/>
                </a:solidFill>
                <a:latin typeface="Calibri"/>
              </a:rPr>
              <a:t>RENDERED UI</a:t>
            </a:r>
          </a:p>
        </p:txBody>
      </p:sp>
      <p:sp>
        <p:nvSpPr>
          <p:cNvPr id="12" name="Rounded Rectangle 11"/>
          <p:cNvSpPr/>
          <p:nvPr/>
        </p:nvSpPr>
        <p:spPr>
          <a:xfrm>
            <a:off x="6629400" y="2286000"/>
            <a:ext cx="640080" cy="292608"/>
          </a:xfrm>
          <a:prstGeom prst="roundRect">
            <a:avLst>
              <a:gd name="adj" fmla="val 50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LAW</a:t>
            </a:r>
          </a:p>
        </p:txBody>
      </p:sp>
      <p:sp>
        <p:nvSpPr>
          <p:cNvPr id="13" name="TextBox 12"/>
          <p:cNvSpPr txBox="1"/>
          <p:nvPr/>
        </p:nvSpPr>
        <p:spPr>
          <a:xfrm>
            <a:off x="7360920" y="2313432"/>
            <a:ext cx="4297680" cy="274320"/>
          </a:xfrm>
          <a:prstGeom prst="rect">
            <a:avLst/>
          </a:prstGeom>
          <a:noFill/>
        </p:spPr>
        <p:txBody>
          <a:bodyPr wrap="square" lIns="0" rIns="0" tIns="0" bIns="0">
            <a:spAutoFit/>
          </a:bodyPr>
          <a:lstStyle/>
          <a:p>
            <a:pPr algn="l"/>
            <a:r>
              <a:rPr sz="1200" b="1">
                <a:solidFill>
                  <a:srgbClr val="4F46E5"/>
                </a:solidFill>
                <a:latin typeface="Calibri"/>
              </a:rPr>
              <a:t>Satender Kumar Antil v. CBI (2022)  ↗</a:t>
            </a:r>
          </a:p>
        </p:txBody>
      </p:sp>
      <p:sp>
        <p:nvSpPr>
          <p:cNvPr id="14" name="TextBox 13"/>
          <p:cNvSpPr txBox="1"/>
          <p:nvPr/>
        </p:nvSpPr>
        <p:spPr>
          <a:xfrm>
            <a:off x="6629400" y="2743200"/>
            <a:ext cx="5029200" cy="228600"/>
          </a:xfrm>
          <a:prstGeom prst="rect">
            <a:avLst/>
          </a:prstGeom>
          <a:noFill/>
        </p:spPr>
        <p:txBody>
          <a:bodyPr wrap="square" lIns="0" rIns="0" tIns="0" bIns="0">
            <a:spAutoFit/>
          </a:bodyPr>
          <a:lstStyle/>
          <a:p>
            <a:pPr algn="l"/>
            <a:r>
              <a:rPr sz="900" b="1">
                <a:solidFill>
                  <a:srgbClr val="78716C"/>
                </a:solidFill>
                <a:latin typeface="Calibri"/>
              </a:rPr>
              <a:t>CORE HOLDING</a:t>
            </a:r>
          </a:p>
        </p:txBody>
      </p:sp>
      <p:sp>
        <p:nvSpPr>
          <p:cNvPr id="15" name="TextBox 14"/>
          <p:cNvSpPr txBox="1"/>
          <p:nvPr/>
        </p:nvSpPr>
        <p:spPr>
          <a:xfrm>
            <a:off x="6629400" y="2971800"/>
            <a:ext cx="5029200" cy="640080"/>
          </a:xfrm>
          <a:prstGeom prst="rect">
            <a:avLst/>
          </a:prstGeom>
          <a:noFill/>
        </p:spPr>
        <p:txBody>
          <a:bodyPr wrap="square" lIns="0" rIns="0" tIns="0" bIns="0">
            <a:spAutoFit/>
          </a:bodyPr>
          <a:lstStyle/>
          <a:p>
            <a:pPr algn="l"/>
            <a:r>
              <a:rPr sz="1100" b="0">
                <a:solidFill>
                  <a:srgbClr val="1C1917"/>
                </a:solidFill>
                <a:latin typeface="Calibri"/>
              </a:rPr>
              <a:t>Default bail is indefeasible. Delay beyond statutory period compels release.</a:t>
            </a:r>
          </a:p>
        </p:txBody>
      </p:sp>
      <p:sp>
        <p:nvSpPr>
          <p:cNvPr id="16" name="TextBox 15"/>
          <p:cNvSpPr txBox="1"/>
          <p:nvPr/>
        </p:nvSpPr>
        <p:spPr>
          <a:xfrm>
            <a:off x="6629400" y="3657600"/>
            <a:ext cx="5029200" cy="228600"/>
          </a:xfrm>
          <a:prstGeom prst="rect">
            <a:avLst/>
          </a:prstGeom>
          <a:noFill/>
        </p:spPr>
        <p:txBody>
          <a:bodyPr wrap="square" lIns="0" rIns="0" tIns="0" bIns="0">
            <a:spAutoFit/>
          </a:bodyPr>
          <a:lstStyle/>
          <a:p>
            <a:pPr algn="l"/>
            <a:r>
              <a:rPr sz="900" b="1">
                <a:solidFill>
                  <a:srgbClr val="78716C"/>
                </a:solidFill>
                <a:latin typeface="Calibri"/>
              </a:rPr>
              <a:t>KEY FACTS</a:t>
            </a:r>
          </a:p>
        </p:txBody>
      </p:sp>
      <p:sp>
        <p:nvSpPr>
          <p:cNvPr id="17" name="TextBox 16"/>
          <p:cNvSpPr txBox="1"/>
          <p:nvPr/>
        </p:nvSpPr>
        <p:spPr>
          <a:xfrm>
            <a:off x="6629400" y="3886200"/>
            <a:ext cx="5029200" cy="640080"/>
          </a:xfrm>
          <a:prstGeom prst="rect">
            <a:avLst/>
          </a:prstGeom>
          <a:noFill/>
        </p:spPr>
        <p:txBody>
          <a:bodyPr wrap="square" lIns="0" rIns="0" tIns="0" bIns="0">
            <a:spAutoFit/>
          </a:bodyPr>
          <a:lstStyle/>
          <a:p>
            <a:pPr algn="l"/>
            <a:r>
              <a:rPr sz="1100" b="0">
                <a:solidFill>
                  <a:srgbClr val="1C1917"/>
                </a:solidFill>
                <a:latin typeface="Calibri"/>
              </a:rPr>
              <a:t>Accused detained beyond 60 days; SC issued guidelines against routine extensions.</a:t>
            </a:r>
          </a:p>
        </p:txBody>
      </p:sp>
      <p:sp>
        <p:nvSpPr>
          <p:cNvPr id="18" name="TextBox 17"/>
          <p:cNvSpPr txBox="1"/>
          <p:nvPr/>
        </p:nvSpPr>
        <p:spPr>
          <a:xfrm>
            <a:off x="6629400" y="4572000"/>
            <a:ext cx="5029200" cy="228600"/>
          </a:xfrm>
          <a:prstGeom prst="rect">
            <a:avLst/>
          </a:prstGeom>
          <a:noFill/>
        </p:spPr>
        <p:txBody>
          <a:bodyPr wrap="square" lIns="0" rIns="0" tIns="0" bIns="0">
            <a:spAutoFit/>
          </a:bodyPr>
          <a:lstStyle/>
          <a:p>
            <a:pPr algn="l"/>
            <a:r>
              <a:rPr sz="900" b="1">
                <a:solidFill>
                  <a:srgbClr val="78716C"/>
                </a:solidFill>
                <a:latin typeface="Calibri"/>
              </a:rPr>
              <a:t>WHY THIS MATTERS HERE</a:t>
            </a:r>
          </a:p>
        </p:txBody>
      </p:sp>
      <p:sp>
        <p:nvSpPr>
          <p:cNvPr id="19" name="TextBox 18"/>
          <p:cNvSpPr txBox="1"/>
          <p:nvPr/>
        </p:nvSpPr>
        <p:spPr>
          <a:xfrm>
            <a:off x="6629400" y="4800600"/>
            <a:ext cx="5029200" cy="640080"/>
          </a:xfrm>
          <a:prstGeom prst="rect">
            <a:avLst/>
          </a:prstGeom>
          <a:noFill/>
        </p:spPr>
        <p:txBody>
          <a:bodyPr wrap="square" lIns="0" rIns="0" tIns="0" bIns="0">
            <a:spAutoFit/>
          </a:bodyPr>
          <a:lstStyle/>
          <a:p>
            <a:pPr algn="l"/>
            <a:r>
              <a:rPr sz="1100" b="0">
                <a:solidFill>
                  <a:srgbClr val="1C1917"/>
                </a:solidFill>
                <a:latin typeface="Calibri"/>
              </a:rPr>
              <a:t>POCSO case crosses 60-day mark in 2 days — default-bail ground is live.</a:t>
            </a:r>
          </a:p>
        </p:txBody>
      </p:sp>
      <p:sp>
        <p:nvSpPr>
          <p:cNvPr id="20" name="Rounded Rectangle 19"/>
          <p:cNvSpPr/>
          <p:nvPr/>
        </p:nvSpPr>
        <p:spPr>
          <a:xfrm>
            <a:off x="685800" y="5760720"/>
            <a:ext cx="11155680" cy="777240"/>
          </a:xfrm>
          <a:prstGeom prst="roundRect">
            <a:avLst>
              <a:gd name="adj" fmla="val 6000"/>
            </a:avLst>
          </a:prstGeom>
          <a:solidFill>
            <a:srgbClr val="1E1B4B"/>
          </a:solidFill>
          <a:ln w="9525">
            <a:solidFill>
              <a:srgbClr val="1E1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897880"/>
            <a:ext cx="10881360" cy="640080"/>
          </a:xfrm>
          <a:prstGeom prst="rect">
            <a:avLst/>
          </a:prstGeom>
          <a:noFill/>
        </p:spPr>
        <p:txBody>
          <a:bodyPr wrap="square" lIns="0" rIns="0" tIns="0" bIns="0">
            <a:spAutoFit/>
          </a:bodyPr>
          <a:lstStyle/>
          <a:p>
            <a:pPr algn="l"/>
            <a:r>
              <a:rPr sz="1100" b="0">
                <a:solidFill>
                  <a:srgbClr val="FFFFFF"/>
                </a:solidFill>
                <a:latin typeface="Calibri"/>
              </a:rPr>
              <a:t>URL enrichment: src/lib/source-urls.ts maps 14 corpus sources to indiacode.nic.in / indiankanoon.org. Fuzzy token-based matching handles Gemini's name variations.  DOC citations: fuzzy-match against case_documents[] from Supabase Storage signed URLs.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12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Tech stack</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3000" b="1">
                <a:solidFill>
                  <a:srgbClr val="1C1917"/>
                </a:solidFill>
                <a:latin typeface="Calibri"/>
              </a:rPr>
              <a:t>Every dep · why chosen</a:t>
            </a:r>
          </a:p>
        </p:txBody>
      </p:sp>
      <p:sp>
        <p:nvSpPr>
          <p:cNvPr id="7" name="Rounded Rectangle 6"/>
          <p:cNvSpPr/>
          <p:nvPr/>
        </p:nvSpPr>
        <p:spPr>
          <a:xfrm>
            <a:off x="594360" y="1737360"/>
            <a:ext cx="2697480" cy="43891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37360"/>
            <a:ext cx="2697480" cy="9144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2423160" cy="365760"/>
          </a:xfrm>
          <a:prstGeom prst="rect">
            <a:avLst/>
          </a:prstGeom>
          <a:noFill/>
        </p:spPr>
        <p:txBody>
          <a:bodyPr wrap="square" lIns="0" rIns="0" tIns="0" bIns="0">
            <a:spAutoFit/>
          </a:bodyPr>
          <a:lstStyle/>
          <a:p>
            <a:pPr algn="l"/>
            <a:r>
              <a:rPr sz="1300" b="1">
                <a:solidFill>
                  <a:srgbClr val="3F3D99"/>
                </a:solidFill>
                <a:latin typeface="Calibri"/>
              </a:rPr>
              <a:t>Frontend</a:t>
            </a:r>
          </a:p>
        </p:txBody>
      </p:sp>
      <p:sp>
        <p:nvSpPr>
          <p:cNvPr id="10" name="TextBox 9"/>
          <p:cNvSpPr txBox="1"/>
          <p:nvPr/>
        </p:nvSpPr>
        <p:spPr>
          <a:xfrm>
            <a:off x="777240" y="2468880"/>
            <a:ext cx="2331720" cy="274320"/>
          </a:xfrm>
          <a:prstGeom prst="rect">
            <a:avLst/>
          </a:prstGeom>
          <a:noFill/>
        </p:spPr>
        <p:txBody>
          <a:bodyPr wrap="square" lIns="0" rIns="0" tIns="0" bIns="0">
            <a:spAutoFit/>
          </a:bodyPr>
          <a:lstStyle/>
          <a:p>
            <a:pPr algn="l"/>
            <a:r>
              <a:rPr sz="1100" b="1">
                <a:solidFill>
                  <a:srgbClr val="1C1917"/>
                </a:solidFill>
                <a:latin typeface="Consolas"/>
              </a:rPr>
              <a:t>Next.js 14.2</a:t>
            </a:r>
          </a:p>
        </p:txBody>
      </p:sp>
      <p:sp>
        <p:nvSpPr>
          <p:cNvPr id="11" name="TextBox 10"/>
          <p:cNvSpPr txBox="1"/>
          <p:nvPr/>
        </p:nvSpPr>
        <p:spPr>
          <a:xfrm>
            <a:off x="777240" y="2743200"/>
            <a:ext cx="2331720" cy="365760"/>
          </a:xfrm>
          <a:prstGeom prst="rect">
            <a:avLst/>
          </a:prstGeom>
          <a:noFill/>
        </p:spPr>
        <p:txBody>
          <a:bodyPr wrap="square" lIns="0" rIns="0" tIns="0" bIns="0">
            <a:spAutoFit/>
          </a:bodyPr>
          <a:lstStyle/>
          <a:p>
            <a:pPr algn="l"/>
            <a:r>
              <a:rPr sz="1000" b="0">
                <a:solidFill>
                  <a:srgbClr val="78716C"/>
                </a:solidFill>
                <a:latin typeface="Calibri"/>
              </a:rPr>
              <a:t>App Router, RSC, streaming</a:t>
            </a:r>
          </a:p>
        </p:txBody>
      </p:sp>
      <p:sp>
        <p:nvSpPr>
          <p:cNvPr id="12" name="TextBox 11"/>
          <p:cNvSpPr txBox="1"/>
          <p:nvPr/>
        </p:nvSpPr>
        <p:spPr>
          <a:xfrm>
            <a:off x="777240" y="3154680"/>
            <a:ext cx="2331720" cy="274320"/>
          </a:xfrm>
          <a:prstGeom prst="rect">
            <a:avLst/>
          </a:prstGeom>
          <a:noFill/>
        </p:spPr>
        <p:txBody>
          <a:bodyPr wrap="square" lIns="0" rIns="0" tIns="0" bIns="0">
            <a:spAutoFit/>
          </a:bodyPr>
          <a:lstStyle/>
          <a:p>
            <a:pPr algn="l"/>
            <a:r>
              <a:rPr sz="1100" b="1">
                <a:solidFill>
                  <a:srgbClr val="1C1917"/>
                </a:solidFill>
                <a:latin typeface="Consolas"/>
              </a:rPr>
              <a:t>React 18</a:t>
            </a:r>
          </a:p>
        </p:txBody>
      </p:sp>
      <p:sp>
        <p:nvSpPr>
          <p:cNvPr id="13" name="TextBox 12"/>
          <p:cNvSpPr txBox="1"/>
          <p:nvPr/>
        </p:nvSpPr>
        <p:spPr>
          <a:xfrm>
            <a:off x="777240" y="3429000"/>
            <a:ext cx="2331720" cy="365760"/>
          </a:xfrm>
          <a:prstGeom prst="rect">
            <a:avLst/>
          </a:prstGeom>
          <a:noFill/>
        </p:spPr>
        <p:txBody>
          <a:bodyPr wrap="square" lIns="0" rIns="0" tIns="0" bIns="0">
            <a:spAutoFit/>
          </a:bodyPr>
          <a:lstStyle/>
          <a:p>
            <a:pPr algn="l"/>
            <a:r>
              <a:rPr sz="1000" b="0">
                <a:solidFill>
                  <a:srgbClr val="78716C"/>
                </a:solidFill>
                <a:latin typeface="Calibri"/>
              </a:rPr>
              <a:t>UI runtime</a:t>
            </a:r>
          </a:p>
        </p:txBody>
      </p:sp>
      <p:sp>
        <p:nvSpPr>
          <p:cNvPr id="14" name="TextBox 13"/>
          <p:cNvSpPr txBox="1"/>
          <p:nvPr/>
        </p:nvSpPr>
        <p:spPr>
          <a:xfrm>
            <a:off x="777240" y="3840480"/>
            <a:ext cx="2331720" cy="274320"/>
          </a:xfrm>
          <a:prstGeom prst="rect">
            <a:avLst/>
          </a:prstGeom>
          <a:noFill/>
        </p:spPr>
        <p:txBody>
          <a:bodyPr wrap="square" lIns="0" rIns="0" tIns="0" bIns="0">
            <a:spAutoFit/>
          </a:bodyPr>
          <a:lstStyle/>
          <a:p>
            <a:pPr algn="l"/>
            <a:r>
              <a:rPr sz="1100" b="1">
                <a:solidFill>
                  <a:srgbClr val="1C1917"/>
                </a:solidFill>
                <a:latin typeface="Consolas"/>
              </a:rPr>
              <a:t>Tailwind 3.4</a:t>
            </a:r>
          </a:p>
        </p:txBody>
      </p:sp>
      <p:sp>
        <p:nvSpPr>
          <p:cNvPr id="15" name="TextBox 14"/>
          <p:cNvSpPr txBox="1"/>
          <p:nvPr/>
        </p:nvSpPr>
        <p:spPr>
          <a:xfrm>
            <a:off x="777240" y="4114800"/>
            <a:ext cx="2331720" cy="365760"/>
          </a:xfrm>
          <a:prstGeom prst="rect">
            <a:avLst/>
          </a:prstGeom>
          <a:noFill/>
        </p:spPr>
        <p:txBody>
          <a:bodyPr wrap="square" lIns="0" rIns="0" tIns="0" bIns="0">
            <a:spAutoFit/>
          </a:bodyPr>
          <a:lstStyle/>
          <a:p>
            <a:pPr algn="l"/>
            <a:r>
              <a:rPr sz="1000" b="0">
                <a:solidFill>
                  <a:srgbClr val="78716C"/>
                </a:solidFill>
                <a:latin typeface="Calibri"/>
              </a:rPr>
              <a:t>Utility CSS</a:t>
            </a:r>
          </a:p>
        </p:txBody>
      </p:sp>
      <p:sp>
        <p:nvSpPr>
          <p:cNvPr id="16" name="TextBox 15"/>
          <p:cNvSpPr txBox="1"/>
          <p:nvPr/>
        </p:nvSpPr>
        <p:spPr>
          <a:xfrm>
            <a:off x="777240" y="4526280"/>
            <a:ext cx="2331720" cy="274320"/>
          </a:xfrm>
          <a:prstGeom prst="rect">
            <a:avLst/>
          </a:prstGeom>
          <a:noFill/>
        </p:spPr>
        <p:txBody>
          <a:bodyPr wrap="square" lIns="0" rIns="0" tIns="0" bIns="0">
            <a:spAutoFit/>
          </a:bodyPr>
          <a:lstStyle/>
          <a:p>
            <a:pPr algn="l"/>
            <a:r>
              <a:rPr sz="1100" b="1">
                <a:solidFill>
                  <a:srgbClr val="1C1917"/>
                </a:solidFill>
                <a:latin typeface="Consolas"/>
              </a:rPr>
              <a:t>TanStack Query 5.99</a:t>
            </a:r>
          </a:p>
        </p:txBody>
      </p:sp>
      <p:sp>
        <p:nvSpPr>
          <p:cNvPr id="17" name="TextBox 16"/>
          <p:cNvSpPr txBox="1"/>
          <p:nvPr/>
        </p:nvSpPr>
        <p:spPr>
          <a:xfrm>
            <a:off x="777240" y="4800600"/>
            <a:ext cx="2331720" cy="365760"/>
          </a:xfrm>
          <a:prstGeom prst="rect">
            <a:avLst/>
          </a:prstGeom>
          <a:noFill/>
        </p:spPr>
        <p:txBody>
          <a:bodyPr wrap="square" lIns="0" rIns="0" tIns="0" bIns="0">
            <a:spAutoFit/>
          </a:bodyPr>
          <a:lstStyle/>
          <a:p>
            <a:pPr algn="l"/>
            <a:r>
              <a:rPr sz="1000" b="0">
                <a:solidFill>
                  <a:srgbClr val="78716C"/>
                </a:solidFill>
                <a:latin typeface="Calibri"/>
              </a:rPr>
              <a:t>Server-state cache</a:t>
            </a:r>
          </a:p>
        </p:txBody>
      </p:sp>
      <p:sp>
        <p:nvSpPr>
          <p:cNvPr id="18" name="TextBox 17"/>
          <p:cNvSpPr txBox="1"/>
          <p:nvPr/>
        </p:nvSpPr>
        <p:spPr>
          <a:xfrm>
            <a:off x="777240" y="5212080"/>
            <a:ext cx="2331720" cy="274320"/>
          </a:xfrm>
          <a:prstGeom prst="rect">
            <a:avLst/>
          </a:prstGeom>
          <a:noFill/>
        </p:spPr>
        <p:txBody>
          <a:bodyPr wrap="square" lIns="0" rIns="0" tIns="0" bIns="0">
            <a:spAutoFit/>
          </a:bodyPr>
          <a:lstStyle/>
          <a:p>
            <a:pPr algn="l"/>
            <a:r>
              <a:rPr sz="1100" b="1">
                <a:solidFill>
                  <a:srgbClr val="1C1917"/>
                </a:solidFill>
                <a:latin typeface="Consolas"/>
              </a:rPr>
              <a:t>Lucide</a:t>
            </a:r>
          </a:p>
        </p:txBody>
      </p:sp>
      <p:sp>
        <p:nvSpPr>
          <p:cNvPr id="19" name="TextBox 18"/>
          <p:cNvSpPr txBox="1"/>
          <p:nvPr/>
        </p:nvSpPr>
        <p:spPr>
          <a:xfrm>
            <a:off x="777240" y="5486400"/>
            <a:ext cx="2331720" cy="365760"/>
          </a:xfrm>
          <a:prstGeom prst="rect">
            <a:avLst/>
          </a:prstGeom>
          <a:noFill/>
        </p:spPr>
        <p:txBody>
          <a:bodyPr wrap="square" lIns="0" rIns="0" tIns="0" bIns="0">
            <a:spAutoFit/>
          </a:bodyPr>
          <a:lstStyle/>
          <a:p>
            <a:pPr algn="l"/>
            <a:r>
              <a:rPr sz="1000" b="0">
                <a:solidFill>
                  <a:srgbClr val="78716C"/>
                </a:solidFill>
                <a:latin typeface="Calibri"/>
              </a:rPr>
              <a:t>Icons</a:t>
            </a:r>
          </a:p>
        </p:txBody>
      </p:sp>
      <p:sp>
        <p:nvSpPr>
          <p:cNvPr id="20" name="Rounded Rectangle 19"/>
          <p:cNvSpPr/>
          <p:nvPr/>
        </p:nvSpPr>
        <p:spPr>
          <a:xfrm>
            <a:off x="3401568" y="1737360"/>
            <a:ext cx="2697480" cy="43891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01568" y="1737360"/>
            <a:ext cx="26974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920240"/>
            <a:ext cx="2423160" cy="365760"/>
          </a:xfrm>
          <a:prstGeom prst="rect">
            <a:avLst/>
          </a:prstGeom>
          <a:noFill/>
        </p:spPr>
        <p:txBody>
          <a:bodyPr wrap="square" lIns="0" rIns="0" tIns="0" bIns="0">
            <a:spAutoFit/>
          </a:bodyPr>
          <a:lstStyle/>
          <a:p>
            <a:pPr algn="l"/>
            <a:r>
              <a:rPr sz="1300" b="1">
                <a:solidFill>
                  <a:srgbClr val="059669"/>
                </a:solidFill>
                <a:latin typeface="Calibri"/>
              </a:rPr>
              <a:t>Backend &amp; data</a:t>
            </a:r>
          </a:p>
        </p:txBody>
      </p:sp>
      <p:sp>
        <p:nvSpPr>
          <p:cNvPr id="23" name="TextBox 22"/>
          <p:cNvSpPr txBox="1"/>
          <p:nvPr/>
        </p:nvSpPr>
        <p:spPr>
          <a:xfrm>
            <a:off x="3584448" y="2468880"/>
            <a:ext cx="2331720" cy="274320"/>
          </a:xfrm>
          <a:prstGeom prst="rect">
            <a:avLst/>
          </a:prstGeom>
          <a:noFill/>
        </p:spPr>
        <p:txBody>
          <a:bodyPr wrap="square" lIns="0" rIns="0" tIns="0" bIns="0">
            <a:spAutoFit/>
          </a:bodyPr>
          <a:lstStyle/>
          <a:p>
            <a:pPr algn="l"/>
            <a:r>
              <a:rPr sz="1100" b="1">
                <a:solidFill>
                  <a:srgbClr val="1C1917"/>
                </a:solidFill>
                <a:latin typeface="Consolas"/>
              </a:rPr>
              <a:t>Supabase JS 2.103</a:t>
            </a:r>
          </a:p>
        </p:txBody>
      </p:sp>
      <p:sp>
        <p:nvSpPr>
          <p:cNvPr id="24" name="TextBox 23"/>
          <p:cNvSpPr txBox="1"/>
          <p:nvPr/>
        </p:nvSpPr>
        <p:spPr>
          <a:xfrm>
            <a:off x="3584448" y="2743200"/>
            <a:ext cx="2331720" cy="365760"/>
          </a:xfrm>
          <a:prstGeom prst="rect">
            <a:avLst/>
          </a:prstGeom>
          <a:noFill/>
        </p:spPr>
        <p:txBody>
          <a:bodyPr wrap="square" lIns="0" rIns="0" tIns="0" bIns="0">
            <a:spAutoFit/>
          </a:bodyPr>
          <a:lstStyle/>
          <a:p>
            <a:pPr algn="l"/>
            <a:r>
              <a:rPr sz="1000" b="0">
                <a:solidFill>
                  <a:srgbClr val="78716C"/>
                </a:solidFill>
                <a:latin typeface="Calibri"/>
              </a:rPr>
              <a:t>Postgres + Storage client</a:t>
            </a:r>
          </a:p>
        </p:txBody>
      </p:sp>
      <p:sp>
        <p:nvSpPr>
          <p:cNvPr id="25" name="TextBox 24"/>
          <p:cNvSpPr txBox="1"/>
          <p:nvPr/>
        </p:nvSpPr>
        <p:spPr>
          <a:xfrm>
            <a:off x="3584448" y="3154680"/>
            <a:ext cx="2331720" cy="274320"/>
          </a:xfrm>
          <a:prstGeom prst="rect">
            <a:avLst/>
          </a:prstGeom>
          <a:noFill/>
        </p:spPr>
        <p:txBody>
          <a:bodyPr wrap="square" lIns="0" rIns="0" tIns="0" bIns="0">
            <a:spAutoFit/>
          </a:bodyPr>
          <a:lstStyle/>
          <a:p>
            <a:pPr algn="l"/>
            <a:r>
              <a:rPr sz="1100" b="1">
                <a:solidFill>
                  <a:srgbClr val="1C1917"/>
                </a:solidFill>
                <a:latin typeface="Consolas"/>
              </a:rPr>
              <a:t>@supabase/ssr</a:t>
            </a:r>
          </a:p>
        </p:txBody>
      </p:sp>
      <p:sp>
        <p:nvSpPr>
          <p:cNvPr id="26" name="TextBox 25"/>
          <p:cNvSpPr txBox="1"/>
          <p:nvPr/>
        </p:nvSpPr>
        <p:spPr>
          <a:xfrm>
            <a:off x="3584448" y="3429000"/>
            <a:ext cx="2331720" cy="365760"/>
          </a:xfrm>
          <a:prstGeom prst="rect">
            <a:avLst/>
          </a:prstGeom>
          <a:noFill/>
        </p:spPr>
        <p:txBody>
          <a:bodyPr wrap="square" lIns="0" rIns="0" tIns="0" bIns="0">
            <a:spAutoFit/>
          </a:bodyPr>
          <a:lstStyle/>
          <a:p>
            <a:pPr algn="l"/>
            <a:r>
              <a:rPr sz="1000" b="0">
                <a:solidFill>
                  <a:srgbClr val="78716C"/>
                </a:solidFill>
                <a:latin typeface="Calibri"/>
              </a:rPr>
              <a:t>Middleware session</a:t>
            </a:r>
          </a:p>
        </p:txBody>
      </p:sp>
      <p:sp>
        <p:nvSpPr>
          <p:cNvPr id="27" name="TextBox 26"/>
          <p:cNvSpPr txBox="1"/>
          <p:nvPr/>
        </p:nvSpPr>
        <p:spPr>
          <a:xfrm>
            <a:off x="3584448" y="3840480"/>
            <a:ext cx="2331720" cy="274320"/>
          </a:xfrm>
          <a:prstGeom prst="rect">
            <a:avLst/>
          </a:prstGeom>
          <a:noFill/>
        </p:spPr>
        <p:txBody>
          <a:bodyPr wrap="square" lIns="0" rIns="0" tIns="0" bIns="0">
            <a:spAutoFit/>
          </a:bodyPr>
          <a:lstStyle/>
          <a:p>
            <a:pPr algn="l"/>
            <a:r>
              <a:rPr sz="1100" b="1">
                <a:solidFill>
                  <a:srgbClr val="1C1917"/>
                </a:solidFill>
                <a:latin typeface="Consolas"/>
              </a:rPr>
              <a:t>zod 4.3</a:t>
            </a:r>
          </a:p>
        </p:txBody>
      </p:sp>
      <p:sp>
        <p:nvSpPr>
          <p:cNvPr id="28" name="TextBox 27"/>
          <p:cNvSpPr txBox="1"/>
          <p:nvPr/>
        </p:nvSpPr>
        <p:spPr>
          <a:xfrm>
            <a:off x="3584448" y="4114800"/>
            <a:ext cx="2331720" cy="365760"/>
          </a:xfrm>
          <a:prstGeom prst="rect">
            <a:avLst/>
          </a:prstGeom>
          <a:noFill/>
        </p:spPr>
        <p:txBody>
          <a:bodyPr wrap="square" lIns="0" rIns="0" tIns="0" bIns="0">
            <a:spAutoFit/>
          </a:bodyPr>
          <a:lstStyle/>
          <a:p>
            <a:pPr algn="l"/>
            <a:r>
              <a:rPr sz="1000" b="0">
                <a:solidFill>
                  <a:srgbClr val="78716C"/>
                </a:solidFill>
                <a:latin typeface="Calibri"/>
              </a:rPr>
              <a:t>Runtime validation</a:t>
            </a:r>
          </a:p>
        </p:txBody>
      </p:sp>
      <p:sp>
        <p:nvSpPr>
          <p:cNvPr id="29" name="TextBox 28"/>
          <p:cNvSpPr txBox="1"/>
          <p:nvPr/>
        </p:nvSpPr>
        <p:spPr>
          <a:xfrm>
            <a:off x="3584448" y="4526280"/>
            <a:ext cx="2331720" cy="274320"/>
          </a:xfrm>
          <a:prstGeom prst="rect">
            <a:avLst/>
          </a:prstGeom>
          <a:noFill/>
        </p:spPr>
        <p:txBody>
          <a:bodyPr wrap="square" lIns="0" rIns="0" tIns="0" bIns="0">
            <a:spAutoFit/>
          </a:bodyPr>
          <a:lstStyle/>
          <a:p>
            <a:pPr algn="l"/>
            <a:r>
              <a:rPr sz="1100" b="1">
                <a:solidFill>
                  <a:srgbClr val="1C1917"/>
                </a:solidFill>
                <a:latin typeface="Consolas"/>
              </a:rPr>
              <a:t>date-fns 4.1</a:t>
            </a:r>
          </a:p>
        </p:txBody>
      </p:sp>
      <p:sp>
        <p:nvSpPr>
          <p:cNvPr id="30" name="TextBox 29"/>
          <p:cNvSpPr txBox="1"/>
          <p:nvPr/>
        </p:nvSpPr>
        <p:spPr>
          <a:xfrm>
            <a:off x="3584448" y="4800600"/>
            <a:ext cx="2331720" cy="365760"/>
          </a:xfrm>
          <a:prstGeom prst="rect">
            <a:avLst/>
          </a:prstGeom>
          <a:noFill/>
        </p:spPr>
        <p:txBody>
          <a:bodyPr wrap="square" lIns="0" rIns="0" tIns="0" bIns="0">
            <a:spAutoFit/>
          </a:bodyPr>
          <a:lstStyle/>
          <a:p>
            <a:pPr algn="l"/>
            <a:r>
              <a:rPr sz="1000" b="0">
                <a:solidFill>
                  <a:srgbClr val="78716C"/>
                </a:solidFill>
                <a:latin typeface="Calibri"/>
              </a:rPr>
              <a:t>Deadline math</a:t>
            </a:r>
          </a:p>
        </p:txBody>
      </p:sp>
      <p:sp>
        <p:nvSpPr>
          <p:cNvPr id="31" name="TextBox 30"/>
          <p:cNvSpPr txBox="1"/>
          <p:nvPr/>
        </p:nvSpPr>
        <p:spPr>
          <a:xfrm>
            <a:off x="3584448" y="5212080"/>
            <a:ext cx="2331720" cy="274320"/>
          </a:xfrm>
          <a:prstGeom prst="rect">
            <a:avLst/>
          </a:prstGeom>
          <a:noFill/>
        </p:spPr>
        <p:txBody>
          <a:bodyPr wrap="square" lIns="0" rIns="0" tIns="0" bIns="0">
            <a:spAutoFit/>
          </a:bodyPr>
          <a:lstStyle/>
          <a:p>
            <a:pPr algn="l"/>
            <a:r>
              <a:rPr sz="1100" b="1">
                <a:solidFill>
                  <a:srgbClr val="1C1917"/>
                </a:solidFill>
                <a:latin typeface="Consolas"/>
              </a:rPr>
              <a:t>pdf-parse v2</a:t>
            </a:r>
          </a:p>
        </p:txBody>
      </p:sp>
      <p:sp>
        <p:nvSpPr>
          <p:cNvPr id="32" name="TextBox 31"/>
          <p:cNvSpPr txBox="1"/>
          <p:nvPr/>
        </p:nvSpPr>
        <p:spPr>
          <a:xfrm>
            <a:off x="3584448" y="5486400"/>
            <a:ext cx="2331720" cy="365760"/>
          </a:xfrm>
          <a:prstGeom prst="rect">
            <a:avLst/>
          </a:prstGeom>
          <a:noFill/>
        </p:spPr>
        <p:txBody>
          <a:bodyPr wrap="square" lIns="0" rIns="0" tIns="0" bIns="0">
            <a:spAutoFit/>
          </a:bodyPr>
          <a:lstStyle/>
          <a:p>
            <a:pPr algn="l"/>
            <a:r>
              <a:rPr sz="1000" b="0">
                <a:solidFill>
                  <a:srgbClr val="78716C"/>
                </a:solidFill>
                <a:latin typeface="Calibri"/>
              </a:rPr>
              <a:t>PDF text extraction</a:t>
            </a:r>
          </a:p>
        </p:txBody>
      </p:sp>
      <p:sp>
        <p:nvSpPr>
          <p:cNvPr id="33" name="Rounded Rectangle 32"/>
          <p:cNvSpPr/>
          <p:nvPr/>
        </p:nvSpPr>
        <p:spPr>
          <a:xfrm>
            <a:off x="6208776" y="1737360"/>
            <a:ext cx="2697480" cy="43891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8776" y="1737360"/>
            <a:ext cx="2697480"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1656" y="1920240"/>
            <a:ext cx="2423160" cy="365760"/>
          </a:xfrm>
          <a:prstGeom prst="rect">
            <a:avLst/>
          </a:prstGeom>
          <a:noFill/>
        </p:spPr>
        <p:txBody>
          <a:bodyPr wrap="square" lIns="0" rIns="0" tIns="0" bIns="0">
            <a:spAutoFit/>
          </a:bodyPr>
          <a:lstStyle/>
          <a:p>
            <a:pPr algn="l"/>
            <a:r>
              <a:rPr sz="1300" b="1">
                <a:solidFill>
                  <a:srgbClr val="B45309"/>
                </a:solidFill>
                <a:latin typeface="Calibri"/>
              </a:rPr>
              <a:t>AI</a:t>
            </a:r>
          </a:p>
        </p:txBody>
      </p:sp>
      <p:sp>
        <p:nvSpPr>
          <p:cNvPr id="36" name="TextBox 35"/>
          <p:cNvSpPr txBox="1"/>
          <p:nvPr/>
        </p:nvSpPr>
        <p:spPr>
          <a:xfrm>
            <a:off x="6391656" y="2468880"/>
            <a:ext cx="2331720" cy="274320"/>
          </a:xfrm>
          <a:prstGeom prst="rect">
            <a:avLst/>
          </a:prstGeom>
          <a:noFill/>
        </p:spPr>
        <p:txBody>
          <a:bodyPr wrap="square" lIns="0" rIns="0" tIns="0" bIns="0">
            <a:spAutoFit/>
          </a:bodyPr>
          <a:lstStyle/>
          <a:p>
            <a:pPr algn="l"/>
            <a:r>
              <a:rPr sz="1100" b="1">
                <a:solidFill>
                  <a:srgbClr val="1C1917"/>
                </a:solidFill>
                <a:latin typeface="Consolas"/>
              </a:rPr>
              <a:t>@google/genai 1.50</a:t>
            </a:r>
          </a:p>
        </p:txBody>
      </p:sp>
      <p:sp>
        <p:nvSpPr>
          <p:cNvPr id="37" name="TextBox 36"/>
          <p:cNvSpPr txBox="1"/>
          <p:nvPr/>
        </p:nvSpPr>
        <p:spPr>
          <a:xfrm>
            <a:off x="6391656" y="2743200"/>
            <a:ext cx="2331720" cy="365760"/>
          </a:xfrm>
          <a:prstGeom prst="rect">
            <a:avLst/>
          </a:prstGeom>
          <a:noFill/>
        </p:spPr>
        <p:txBody>
          <a:bodyPr wrap="square" lIns="0" rIns="0" tIns="0" bIns="0">
            <a:spAutoFit/>
          </a:bodyPr>
          <a:lstStyle/>
          <a:p>
            <a:pPr algn="l"/>
            <a:r>
              <a:rPr sz="1000" b="0">
                <a:solidFill>
                  <a:srgbClr val="78716C"/>
                </a:solidFill>
                <a:latin typeface="Calibri"/>
              </a:rPr>
              <a:t>Gemini SDK</a:t>
            </a:r>
          </a:p>
        </p:txBody>
      </p:sp>
      <p:sp>
        <p:nvSpPr>
          <p:cNvPr id="38" name="TextBox 37"/>
          <p:cNvSpPr txBox="1"/>
          <p:nvPr/>
        </p:nvSpPr>
        <p:spPr>
          <a:xfrm>
            <a:off x="6391656" y="3154680"/>
            <a:ext cx="2331720" cy="274320"/>
          </a:xfrm>
          <a:prstGeom prst="rect">
            <a:avLst/>
          </a:prstGeom>
          <a:noFill/>
        </p:spPr>
        <p:txBody>
          <a:bodyPr wrap="square" lIns="0" rIns="0" tIns="0" bIns="0">
            <a:spAutoFit/>
          </a:bodyPr>
          <a:lstStyle/>
          <a:p>
            <a:pPr algn="l"/>
            <a:r>
              <a:rPr sz="1100" b="1">
                <a:solidFill>
                  <a:srgbClr val="1C1917"/>
                </a:solidFill>
                <a:latin typeface="Consolas"/>
              </a:rPr>
              <a:t>gemini-2.5-flash</a:t>
            </a:r>
          </a:p>
        </p:txBody>
      </p:sp>
      <p:sp>
        <p:nvSpPr>
          <p:cNvPr id="39" name="TextBox 38"/>
          <p:cNvSpPr txBox="1"/>
          <p:nvPr/>
        </p:nvSpPr>
        <p:spPr>
          <a:xfrm>
            <a:off x="6391656" y="3429000"/>
            <a:ext cx="2331720" cy="365760"/>
          </a:xfrm>
          <a:prstGeom prst="rect">
            <a:avLst/>
          </a:prstGeom>
          <a:noFill/>
        </p:spPr>
        <p:txBody>
          <a:bodyPr wrap="square" lIns="0" rIns="0" tIns="0" bIns="0">
            <a:spAutoFit/>
          </a:bodyPr>
          <a:lstStyle/>
          <a:p>
            <a:pPr algn="l"/>
            <a:r>
              <a:rPr sz="1000" b="0">
                <a:solidFill>
                  <a:srgbClr val="78716C"/>
                </a:solidFill>
                <a:latin typeface="Calibri"/>
              </a:rPr>
              <a:t>Drafting</a:t>
            </a:r>
          </a:p>
        </p:txBody>
      </p:sp>
      <p:sp>
        <p:nvSpPr>
          <p:cNvPr id="40" name="TextBox 39"/>
          <p:cNvSpPr txBox="1"/>
          <p:nvPr/>
        </p:nvSpPr>
        <p:spPr>
          <a:xfrm>
            <a:off x="6391656" y="3840480"/>
            <a:ext cx="2331720" cy="274320"/>
          </a:xfrm>
          <a:prstGeom prst="rect">
            <a:avLst/>
          </a:prstGeom>
          <a:noFill/>
        </p:spPr>
        <p:txBody>
          <a:bodyPr wrap="square" lIns="0" rIns="0" tIns="0" bIns="0">
            <a:spAutoFit/>
          </a:bodyPr>
          <a:lstStyle/>
          <a:p>
            <a:pPr algn="l"/>
            <a:r>
              <a:rPr sz="1100" b="1">
                <a:solidFill>
                  <a:srgbClr val="1C1917"/>
                </a:solidFill>
                <a:latin typeface="Consolas"/>
              </a:rPr>
              <a:t>gemini-2.5-flash-lite</a:t>
            </a:r>
          </a:p>
        </p:txBody>
      </p:sp>
      <p:sp>
        <p:nvSpPr>
          <p:cNvPr id="41" name="TextBox 40"/>
          <p:cNvSpPr txBox="1"/>
          <p:nvPr/>
        </p:nvSpPr>
        <p:spPr>
          <a:xfrm>
            <a:off x="6391656" y="4114800"/>
            <a:ext cx="2331720" cy="365760"/>
          </a:xfrm>
          <a:prstGeom prst="rect">
            <a:avLst/>
          </a:prstGeom>
          <a:noFill/>
        </p:spPr>
        <p:txBody>
          <a:bodyPr wrap="square" lIns="0" rIns="0" tIns="0" bIns="0">
            <a:spAutoFit/>
          </a:bodyPr>
          <a:lstStyle/>
          <a:p>
            <a:pPr algn="l"/>
            <a:r>
              <a:rPr sz="1000" b="0">
                <a:solidFill>
                  <a:srgbClr val="78716C"/>
                </a:solidFill>
                <a:latin typeface="Calibri"/>
              </a:rPr>
              <a:t>Research + summarise</a:t>
            </a:r>
          </a:p>
        </p:txBody>
      </p:sp>
      <p:sp>
        <p:nvSpPr>
          <p:cNvPr id="42" name="TextBox 41"/>
          <p:cNvSpPr txBox="1"/>
          <p:nvPr/>
        </p:nvSpPr>
        <p:spPr>
          <a:xfrm>
            <a:off x="6391656" y="4526280"/>
            <a:ext cx="2331720" cy="274320"/>
          </a:xfrm>
          <a:prstGeom prst="rect">
            <a:avLst/>
          </a:prstGeom>
          <a:noFill/>
        </p:spPr>
        <p:txBody>
          <a:bodyPr wrap="square" lIns="0" rIns="0" tIns="0" bIns="0">
            <a:spAutoFit/>
          </a:bodyPr>
          <a:lstStyle/>
          <a:p>
            <a:pPr algn="l"/>
            <a:r>
              <a:rPr sz="1100" b="1">
                <a:solidFill>
                  <a:srgbClr val="1C1917"/>
                </a:solidFill>
                <a:latin typeface="Consolas"/>
              </a:rPr>
              <a:t>gemini-embedding-001</a:t>
            </a:r>
          </a:p>
        </p:txBody>
      </p:sp>
      <p:sp>
        <p:nvSpPr>
          <p:cNvPr id="43" name="TextBox 42"/>
          <p:cNvSpPr txBox="1"/>
          <p:nvPr/>
        </p:nvSpPr>
        <p:spPr>
          <a:xfrm>
            <a:off x="6391656" y="4800600"/>
            <a:ext cx="2331720" cy="365760"/>
          </a:xfrm>
          <a:prstGeom prst="rect">
            <a:avLst/>
          </a:prstGeom>
          <a:noFill/>
        </p:spPr>
        <p:txBody>
          <a:bodyPr wrap="square" lIns="0" rIns="0" tIns="0" bIns="0">
            <a:spAutoFit/>
          </a:bodyPr>
          <a:lstStyle/>
          <a:p>
            <a:pPr algn="l"/>
            <a:r>
              <a:rPr sz="1000" b="0">
                <a:solidFill>
                  <a:srgbClr val="78716C"/>
                </a:solidFill>
                <a:latin typeface="Calibri"/>
              </a:rPr>
              <a:t>768-dim vectors</a:t>
            </a:r>
          </a:p>
        </p:txBody>
      </p:sp>
      <p:sp>
        <p:nvSpPr>
          <p:cNvPr id="44" name="TextBox 43"/>
          <p:cNvSpPr txBox="1"/>
          <p:nvPr/>
        </p:nvSpPr>
        <p:spPr>
          <a:xfrm>
            <a:off x="6391656" y="5212080"/>
            <a:ext cx="2331720" cy="274320"/>
          </a:xfrm>
          <a:prstGeom prst="rect">
            <a:avLst/>
          </a:prstGeom>
          <a:noFill/>
        </p:spPr>
        <p:txBody>
          <a:bodyPr wrap="square" lIns="0" rIns="0" tIns="0" bIns="0">
            <a:spAutoFit/>
          </a:bodyPr>
          <a:lstStyle/>
          <a:p>
            <a:pPr algn="l"/>
            <a:r>
              <a:rPr sz="1100" b="1">
                <a:solidFill>
                  <a:srgbClr val="1C1917"/>
                </a:solidFill>
                <a:latin typeface="Consolas"/>
              </a:rPr>
              <a:t>ReadableStream</a:t>
            </a:r>
          </a:p>
        </p:txBody>
      </p:sp>
      <p:sp>
        <p:nvSpPr>
          <p:cNvPr id="45" name="TextBox 44"/>
          <p:cNvSpPr txBox="1"/>
          <p:nvPr/>
        </p:nvSpPr>
        <p:spPr>
          <a:xfrm>
            <a:off x="6391656" y="5486400"/>
            <a:ext cx="2331720" cy="365760"/>
          </a:xfrm>
          <a:prstGeom prst="rect">
            <a:avLst/>
          </a:prstGeom>
          <a:noFill/>
        </p:spPr>
        <p:txBody>
          <a:bodyPr wrap="square" lIns="0" rIns="0" tIns="0" bIns="0">
            <a:spAutoFit/>
          </a:bodyPr>
          <a:lstStyle/>
          <a:p>
            <a:pPr algn="l"/>
            <a:r>
              <a:rPr sz="1000" b="0">
                <a:solidFill>
                  <a:srgbClr val="78716C"/>
                </a:solidFill>
                <a:latin typeface="Calibri"/>
              </a:rPr>
              <a:t>Token streaming</a:t>
            </a:r>
          </a:p>
        </p:txBody>
      </p:sp>
      <p:sp>
        <p:nvSpPr>
          <p:cNvPr id="46" name="Rounded Rectangle 45"/>
          <p:cNvSpPr/>
          <p:nvPr/>
        </p:nvSpPr>
        <p:spPr>
          <a:xfrm>
            <a:off x="9015984" y="1737360"/>
            <a:ext cx="2697480" cy="438912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15984" y="1737360"/>
            <a:ext cx="2697480" cy="91440"/>
          </a:xfrm>
          <a:prstGeom prst="rect">
            <a:avLst/>
          </a:prstGeom>
          <a:solidFill>
            <a:srgbClr val="78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98864" y="1920240"/>
            <a:ext cx="2423160" cy="365760"/>
          </a:xfrm>
          <a:prstGeom prst="rect">
            <a:avLst/>
          </a:prstGeom>
          <a:noFill/>
        </p:spPr>
        <p:txBody>
          <a:bodyPr wrap="square" lIns="0" rIns="0" tIns="0" bIns="0">
            <a:spAutoFit/>
          </a:bodyPr>
          <a:lstStyle/>
          <a:p>
            <a:pPr algn="l"/>
            <a:r>
              <a:rPr sz="1300" b="1">
                <a:solidFill>
                  <a:srgbClr val="78716C"/>
                </a:solidFill>
                <a:latin typeface="Calibri"/>
              </a:rPr>
              <a:t>Scripts &amp; tooling</a:t>
            </a:r>
          </a:p>
        </p:txBody>
      </p:sp>
      <p:sp>
        <p:nvSpPr>
          <p:cNvPr id="49" name="TextBox 48"/>
          <p:cNvSpPr txBox="1"/>
          <p:nvPr/>
        </p:nvSpPr>
        <p:spPr>
          <a:xfrm>
            <a:off x="9198864" y="2468880"/>
            <a:ext cx="2331720" cy="274320"/>
          </a:xfrm>
          <a:prstGeom prst="rect">
            <a:avLst/>
          </a:prstGeom>
          <a:noFill/>
        </p:spPr>
        <p:txBody>
          <a:bodyPr wrap="square" lIns="0" rIns="0" tIns="0" bIns="0">
            <a:spAutoFit/>
          </a:bodyPr>
          <a:lstStyle/>
          <a:p>
            <a:pPr algn="l"/>
            <a:r>
              <a:rPr sz="1100" b="1">
                <a:solidFill>
                  <a:srgbClr val="1C1917"/>
                </a:solidFill>
                <a:latin typeface="Consolas"/>
              </a:rPr>
              <a:t>tsx 4.21</a:t>
            </a:r>
          </a:p>
        </p:txBody>
      </p:sp>
      <p:sp>
        <p:nvSpPr>
          <p:cNvPr id="50" name="TextBox 49"/>
          <p:cNvSpPr txBox="1"/>
          <p:nvPr/>
        </p:nvSpPr>
        <p:spPr>
          <a:xfrm>
            <a:off x="9198864" y="2743200"/>
            <a:ext cx="2331720" cy="365760"/>
          </a:xfrm>
          <a:prstGeom prst="rect">
            <a:avLst/>
          </a:prstGeom>
          <a:noFill/>
        </p:spPr>
        <p:txBody>
          <a:bodyPr wrap="square" lIns="0" rIns="0" tIns="0" bIns="0">
            <a:spAutoFit/>
          </a:bodyPr>
          <a:lstStyle/>
          <a:p>
            <a:pPr algn="l"/>
            <a:r>
              <a:rPr sz="1000" b="0">
                <a:solidFill>
                  <a:srgbClr val="78716C"/>
                </a:solidFill>
                <a:latin typeface="Calibri"/>
              </a:rPr>
              <a:t>TS scripts (ingestion, probes)</a:t>
            </a:r>
          </a:p>
        </p:txBody>
      </p:sp>
      <p:sp>
        <p:nvSpPr>
          <p:cNvPr id="51" name="TextBox 50"/>
          <p:cNvSpPr txBox="1"/>
          <p:nvPr/>
        </p:nvSpPr>
        <p:spPr>
          <a:xfrm>
            <a:off x="9198864" y="3154680"/>
            <a:ext cx="2331720" cy="274320"/>
          </a:xfrm>
          <a:prstGeom prst="rect">
            <a:avLst/>
          </a:prstGeom>
          <a:noFill/>
        </p:spPr>
        <p:txBody>
          <a:bodyPr wrap="square" lIns="0" rIns="0" tIns="0" bIns="0">
            <a:spAutoFit/>
          </a:bodyPr>
          <a:lstStyle/>
          <a:p>
            <a:pPr algn="l"/>
            <a:r>
              <a:rPr sz="1100" b="1">
                <a:solidFill>
                  <a:srgbClr val="1C1917"/>
                </a:solidFill>
                <a:latin typeface="Consolas"/>
              </a:rPr>
              <a:t>dotenv</a:t>
            </a:r>
          </a:p>
        </p:txBody>
      </p:sp>
      <p:sp>
        <p:nvSpPr>
          <p:cNvPr id="52" name="TextBox 51"/>
          <p:cNvSpPr txBox="1"/>
          <p:nvPr/>
        </p:nvSpPr>
        <p:spPr>
          <a:xfrm>
            <a:off x="9198864" y="3429000"/>
            <a:ext cx="2331720" cy="365760"/>
          </a:xfrm>
          <a:prstGeom prst="rect">
            <a:avLst/>
          </a:prstGeom>
          <a:noFill/>
        </p:spPr>
        <p:txBody>
          <a:bodyPr wrap="square" lIns="0" rIns="0" tIns="0" bIns="0">
            <a:spAutoFit/>
          </a:bodyPr>
          <a:lstStyle/>
          <a:p>
            <a:pPr algn="l"/>
            <a:r>
              <a:rPr sz="1000" b="0">
                <a:solidFill>
                  <a:srgbClr val="78716C"/>
                </a:solidFill>
                <a:latin typeface="Calibri"/>
              </a:rPr>
              <a:t>.env.local loading</a:t>
            </a:r>
          </a:p>
        </p:txBody>
      </p:sp>
      <p:sp>
        <p:nvSpPr>
          <p:cNvPr id="53" name="TextBox 52"/>
          <p:cNvSpPr txBox="1"/>
          <p:nvPr/>
        </p:nvSpPr>
        <p:spPr>
          <a:xfrm>
            <a:off x="9198864" y="3840480"/>
            <a:ext cx="2331720" cy="274320"/>
          </a:xfrm>
          <a:prstGeom prst="rect">
            <a:avLst/>
          </a:prstGeom>
          <a:noFill/>
        </p:spPr>
        <p:txBody>
          <a:bodyPr wrap="square" lIns="0" rIns="0" tIns="0" bIns="0">
            <a:spAutoFit/>
          </a:bodyPr>
          <a:lstStyle/>
          <a:p>
            <a:pPr algn="l"/>
            <a:r>
              <a:rPr sz="1100" b="1">
                <a:solidFill>
                  <a:srgbClr val="1C1917"/>
                </a:solidFill>
                <a:latin typeface="Consolas"/>
              </a:rPr>
              <a:t>python-pptx 1.0</a:t>
            </a:r>
          </a:p>
        </p:txBody>
      </p:sp>
      <p:sp>
        <p:nvSpPr>
          <p:cNvPr id="54" name="TextBox 53"/>
          <p:cNvSpPr txBox="1"/>
          <p:nvPr/>
        </p:nvSpPr>
        <p:spPr>
          <a:xfrm>
            <a:off x="9198864" y="4114800"/>
            <a:ext cx="2331720" cy="365760"/>
          </a:xfrm>
          <a:prstGeom prst="rect">
            <a:avLst/>
          </a:prstGeom>
          <a:noFill/>
        </p:spPr>
        <p:txBody>
          <a:bodyPr wrap="square" lIns="0" rIns="0" tIns="0" bIns="0">
            <a:spAutoFit/>
          </a:bodyPr>
          <a:lstStyle/>
          <a:p>
            <a:pPr algn="l"/>
            <a:r>
              <a:rPr sz="1000" b="0">
                <a:solidFill>
                  <a:srgbClr val="78716C"/>
                </a:solidFill>
                <a:latin typeface="Calibri"/>
              </a:rPr>
              <a:t>This deck</a:t>
            </a:r>
          </a:p>
        </p:txBody>
      </p:sp>
      <p:sp>
        <p:nvSpPr>
          <p:cNvPr id="55" name="TextBox 54"/>
          <p:cNvSpPr txBox="1"/>
          <p:nvPr/>
        </p:nvSpPr>
        <p:spPr>
          <a:xfrm>
            <a:off x="9198864" y="4526280"/>
            <a:ext cx="2331720" cy="274320"/>
          </a:xfrm>
          <a:prstGeom prst="rect">
            <a:avLst/>
          </a:prstGeom>
          <a:noFill/>
        </p:spPr>
        <p:txBody>
          <a:bodyPr wrap="square" lIns="0" rIns="0" tIns="0" bIns="0">
            <a:spAutoFit/>
          </a:bodyPr>
          <a:lstStyle/>
          <a:p>
            <a:pPr algn="l"/>
            <a:r>
              <a:rPr sz="1100" b="1">
                <a:solidFill>
                  <a:srgbClr val="1C1917"/>
                </a:solidFill>
                <a:latin typeface="Consolas"/>
              </a:rPr>
              <a:t>eslint (next config)</a:t>
            </a:r>
          </a:p>
        </p:txBody>
      </p:sp>
      <p:sp>
        <p:nvSpPr>
          <p:cNvPr id="56" name="TextBox 55"/>
          <p:cNvSpPr txBox="1"/>
          <p:nvPr/>
        </p:nvSpPr>
        <p:spPr>
          <a:xfrm>
            <a:off x="9198864" y="4800600"/>
            <a:ext cx="2331720" cy="365760"/>
          </a:xfrm>
          <a:prstGeom prst="rect">
            <a:avLst/>
          </a:prstGeom>
          <a:noFill/>
        </p:spPr>
        <p:txBody>
          <a:bodyPr wrap="square" lIns="0" rIns="0" tIns="0" bIns="0">
            <a:spAutoFit/>
          </a:bodyPr>
          <a:lstStyle/>
          <a:p>
            <a:pPr algn="l"/>
            <a:r>
              <a:rPr sz="1000" b="0">
                <a:solidFill>
                  <a:srgbClr val="78716C"/>
                </a:solidFill>
                <a:latin typeface="Calibri"/>
              </a:rPr>
              <a:t>Lint on build</a:t>
            </a:r>
          </a:p>
        </p:txBody>
      </p:sp>
      <p:sp>
        <p:nvSpPr>
          <p:cNvPr id="57" name="TextBox 56"/>
          <p:cNvSpPr txBox="1"/>
          <p:nvPr/>
        </p:nvSpPr>
        <p:spPr>
          <a:xfrm>
            <a:off x="9198864" y="5212080"/>
            <a:ext cx="2331720" cy="274320"/>
          </a:xfrm>
          <a:prstGeom prst="rect">
            <a:avLst/>
          </a:prstGeom>
          <a:noFill/>
        </p:spPr>
        <p:txBody>
          <a:bodyPr wrap="square" lIns="0" rIns="0" tIns="0" bIns="0">
            <a:spAutoFit/>
          </a:bodyPr>
          <a:lstStyle/>
          <a:p>
            <a:pPr algn="l"/>
            <a:r>
              <a:rPr sz="1100" b="1">
                <a:solidFill>
                  <a:srgbClr val="1C1917"/>
                </a:solidFill>
                <a:latin typeface="Consolas"/>
              </a:rPr>
              <a:t>nohup / pkill</a:t>
            </a:r>
          </a:p>
        </p:txBody>
      </p:sp>
      <p:sp>
        <p:nvSpPr>
          <p:cNvPr id="58" name="TextBox 57"/>
          <p:cNvSpPr txBox="1"/>
          <p:nvPr/>
        </p:nvSpPr>
        <p:spPr>
          <a:xfrm>
            <a:off x="9198864" y="5486400"/>
            <a:ext cx="2331720" cy="365760"/>
          </a:xfrm>
          <a:prstGeom prst="rect">
            <a:avLst/>
          </a:prstGeom>
          <a:noFill/>
        </p:spPr>
        <p:txBody>
          <a:bodyPr wrap="square" lIns="0" rIns="0" tIns="0" bIns="0">
            <a:spAutoFit/>
          </a:bodyPr>
          <a:lstStyle/>
          <a:p>
            <a:pPr algn="l"/>
            <a:r>
              <a:rPr sz="1000" b="0">
                <a:solidFill>
                  <a:srgbClr val="78716C"/>
                </a:solidFill>
                <a:latin typeface="Calibri"/>
              </a:rPr>
              <a:t>Dev-server lifecycle</a:t>
            </a:r>
          </a:p>
        </p:txBody>
      </p:sp>
      <p:sp>
        <p:nvSpPr>
          <p:cNvPr id="59" name="TextBox 58"/>
          <p:cNvSpPr txBox="1"/>
          <p:nvPr/>
        </p:nvSpPr>
        <p:spPr>
          <a:xfrm>
            <a:off x="594360" y="6263640"/>
            <a:ext cx="10972800" cy="457200"/>
          </a:xfrm>
          <a:prstGeom prst="rect">
            <a:avLst/>
          </a:prstGeom>
          <a:noFill/>
        </p:spPr>
        <p:txBody>
          <a:bodyPr wrap="square" lIns="0" rIns="0" tIns="0" bIns="0">
            <a:spAutoFit/>
          </a:bodyPr>
          <a:lstStyle/>
          <a:p>
            <a:pPr algn="l"/>
            <a:r>
              <a:rPr sz="1100" b="0">
                <a:solidFill>
                  <a:srgbClr val="78716C"/>
                </a:solidFill>
                <a:latin typeface="Calibri"/>
              </a:rPr>
              <a:t>All model IDs configurable via env — swap to paid/Pro tier without code changes. Prompt files are vendor-neutral; the Gemini wrapper in src/lib/gemini.ts is the only file that needs editing to switch LLM providers.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13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Security &amp; auth</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800" b="1">
                <a:solidFill>
                  <a:srgbClr val="1C1917"/>
                </a:solidFill>
                <a:latin typeface="Calibri"/>
              </a:rPr>
              <a:t>Today's posture · production hardening path</a:t>
            </a:r>
          </a:p>
        </p:txBody>
      </p:sp>
      <p:sp>
        <p:nvSpPr>
          <p:cNvPr id="7" name="Rounded Rectangle 6"/>
          <p:cNvSpPr/>
          <p:nvPr/>
        </p:nvSpPr>
        <p:spPr>
          <a:xfrm>
            <a:off x="685800" y="1783080"/>
            <a:ext cx="5394960" cy="45720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783080"/>
            <a:ext cx="137160" cy="4572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0240"/>
            <a:ext cx="5120640" cy="365760"/>
          </a:xfrm>
          <a:prstGeom prst="rect">
            <a:avLst/>
          </a:prstGeom>
          <a:noFill/>
        </p:spPr>
        <p:txBody>
          <a:bodyPr wrap="square" lIns="0" rIns="0" tIns="0" bIns="0">
            <a:spAutoFit/>
          </a:bodyPr>
          <a:lstStyle/>
          <a:p>
            <a:pPr algn="l"/>
            <a:r>
              <a:rPr sz="1300" b="1">
                <a:solidFill>
                  <a:srgbClr val="059669"/>
                </a:solidFill>
                <a:latin typeface="Calibri"/>
              </a:rPr>
              <a:t>SHIPPED TODAY</a:t>
            </a:r>
          </a:p>
        </p:txBody>
      </p:sp>
      <p:sp>
        <p:nvSpPr>
          <p:cNvPr id="10" name="TextBox 9"/>
          <p:cNvSpPr txBox="1"/>
          <p:nvPr/>
        </p:nvSpPr>
        <p:spPr>
          <a:xfrm>
            <a:off x="960120" y="2377440"/>
            <a:ext cx="4937760" cy="274320"/>
          </a:xfrm>
          <a:prstGeom prst="rect">
            <a:avLst/>
          </a:prstGeom>
          <a:noFill/>
        </p:spPr>
        <p:txBody>
          <a:bodyPr wrap="square" lIns="0" rIns="0" tIns="0" bIns="0">
            <a:spAutoFit/>
          </a:bodyPr>
          <a:lstStyle/>
          <a:p>
            <a:pPr algn="l"/>
            <a:r>
              <a:rPr sz="1200" b="1">
                <a:solidFill>
                  <a:srgbClr val="1C1917"/>
                </a:solidFill>
                <a:latin typeface="Calibri"/>
              </a:rPr>
              <a:t>Supabase Auth</a:t>
            </a:r>
          </a:p>
        </p:txBody>
      </p:sp>
      <p:sp>
        <p:nvSpPr>
          <p:cNvPr id="11" name="TextBox 10"/>
          <p:cNvSpPr txBox="1"/>
          <p:nvPr/>
        </p:nvSpPr>
        <p:spPr>
          <a:xfrm>
            <a:off x="960120" y="2651760"/>
            <a:ext cx="4937760" cy="365760"/>
          </a:xfrm>
          <a:prstGeom prst="rect">
            <a:avLst/>
          </a:prstGeom>
          <a:noFill/>
        </p:spPr>
        <p:txBody>
          <a:bodyPr wrap="square" lIns="0" rIns="0" tIns="0" bIns="0">
            <a:spAutoFit/>
          </a:bodyPr>
          <a:lstStyle/>
          <a:p>
            <a:pPr algn="l"/>
            <a:r>
              <a:rPr sz="1100" b="0">
                <a:solidFill>
                  <a:srgbClr val="78716C"/>
                </a:solidFill>
                <a:latin typeface="Calibri"/>
              </a:rPr>
              <a:t>email+password, middleware validates session</a:t>
            </a:r>
          </a:p>
        </p:txBody>
      </p:sp>
      <p:sp>
        <p:nvSpPr>
          <p:cNvPr id="12" name="TextBox 11"/>
          <p:cNvSpPr txBox="1"/>
          <p:nvPr/>
        </p:nvSpPr>
        <p:spPr>
          <a:xfrm>
            <a:off x="960120" y="3044952"/>
            <a:ext cx="4937760" cy="274320"/>
          </a:xfrm>
          <a:prstGeom prst="rect">
            <a:avLst/>
          </a:prstGeom>
          <a:noFill/>
        </p:spPr>
        <p:txBody>
          <a:bodyPr wrap="square" lIns="0" rIns="0" tIns="0" bIns="0">
            <a:spAutoFit/>
          </a:bodyPr>
          <a:lstStyle/>
          <a:p>
            <a:pPr algn="l"/>
            <a:r>
              <a:rPr sz="1200" b="1">
                <a:solidFill>
                  <a:srgbClr val="1C1917"/>
                </a:solidFill>
                <a:latin typeface="Calibri"/>
              </a:rPr>
              <a:t>Service-role key</a:t>
            </a:r>
          </a:p>
        </p:txBody>
      </p:sp>
      <p:sp>
        <p:nvSpPr>
          <p:cNvPr id="13" name="TextBox 12"/>
          <p:cNvSpPr txBox="1"/>
          <p:nvPr/>
        </p:nvSpPr>
        <p:spPr>
          <a:xfrm>
            <a:off x="960120" y="3319272"/>
            <a:ext cx="4937760" cy="365760"/>
          </a:xfrm>
          <a:prstGeom prst="rect">
            <a:avLst/>
          </a:prstGeom>
          <a:noFill/>
        </p:spPr>
        <p:txBody>
          <a:bodyPr wrap="square" lIns="0" rIns="0" tIns="0" bIns="0">
            <a:spAutoFit/>
          </a:bodyPr>
          <a:lstStyle/>
          <a:p>
            <a:pPr algn="l"/>
            <a:r>
              <a:rPr sz="1100" b="0">
                <a:solidFill>
                  <a:srgbClr val="78716C"/>
                </a:solidFill>
                <a:latin typeface="Calibri"/>
              </a:rPr>
              <a:t>server-only via src/lib/supabase/server.ts</a:t>
            </a:r>
          </a:p>
        </p:txBody>
      </p:sp>
      <p:sp>
        <p:nvSpPr>
          <p:cNvPr id="14" name="TextBox 13"/>
          <p:cNvSpPr txBox="1"/>
          <p:nvPr/>
        </p:nvSpPr>
        <p:spPr>
          <a:xfrm>
            <a:off x="960120" y="3712464"/>
            <a:ext cx="4937760" cy="274320"/>
          </a:xfrm>
          <a:prstGeom prst="rect">
            <a:avLst/>
          </a:prstGeom>
          <a:noFill/>
        </p:spPr>
        <p:txBody>
          <a:bodyPr wrap="square" lIns="0" rIns="0" tIns="0" bIns="0">
            <a:spAutoFit/>
          </a:bodyPr>
          <a:lstStyle/>
          <a:p>
            <a:pPr algn="l"/>
            <a:r>
              <a:rPr sz="1200" b="1">
                <a:solidFill>
                  <a:srgbClr val="1C1917"/>
                </a:solidFill>
                <a:latin typeface="Calibri"/>
              </a:rPr>
              <a:t>Zod validation</a:t>
            </a:r>
          </a:p>
        </p:txBody>
      </p:sp>
      <p:sp>
        <p:nvSpPr>
          <p:cNvPr id="15" name="TextBox 14"/>
          <p:cNvSpPr txBox="1"/>
          <p:nvPr/>
        </p:nvSpPr>
        <p:spPr>
          <a:xfrm>
            <a:off x="960120" y="3986784"/>
            <a:ext cx="4937760" cy="365760"/>
          </a:xfrm>
          <a:prstGeom prst="rect">
            <a:avLst/>
          </a:prstGeom>
          <a:noFill/>
        </p:spPr>
        <p:txBody>
          <a:bodyPr wrap="square" lIns="0" rIns="0" tIns="0" bIns="0">
            <a:spAutoFit/>
          </a:bodyPr>
          <a:lstStyle/>
          <a:p>
            <a:pPr algn="l"/>
            <a:r>
              <a:rPr sz="1100" b="0">
                <a:solidFill>
                  <a:srgbClr val="78716C"/>
                </a:solidFill>
                <a:latin typeface="Calibri"/>
              </a:rPr>
              <a:t>every POST body parsed at the boundary</a:t>
            </a:r>
          </a:p>
        </p:txBody>
      </p:sp>
      <p:sp>
        <p:nvSpPr>
          <p:cNvPr id="16" name="TextBox 15"/>
          <p:cNvSpPr txBox="1"/>
          <p:nvPr/>
        </p:nvSpPr>
        <p:spPr>
          <a:xfrm>
            <a:off x="960120" y="4379976"/>
            <a:ext cx="4937760" cy="274320"/>
          </a:xfrm>
          <a:prstGeom prst="rect">
            <a:avLst/>
          </a:prstGeom>
          <a:noFill/>
        </p:spPr>
        <p:txBody>
          <a:bodyPr wrap="square" lIns="0" rIns="0" tIns="0" bIns="0">
            <a:spAutoFit/>
          </a:bodyPr>
          <a:lstStyle/>
          <a:p>
            <a:pPr algn="l"/>
            <a:r>
              <a:rPr sz="1200" b="1">
                <a:solidFill>
                  <a:srgbClr val="1C1917"/>
                </a:solidFill>
                <a:latin typeface="Calibri"/>
              </a:rPr>
              <a:t>Storage bucket private</a:t>
            </a:r>
          </a:p>
        </p:txBody>
      </p:sp>
      <p:sp>
        <p:nvSpPr>
          <p:cNvPr id="17" name="TextBox 16"/>
          <p:cNvSpPr txBox="1"/>
          <p:nvPr/>
        </p:nvSpPr>
        <p:spPr>
          <a:xfrm>
            <a:off x="960120" y="4654296"/>
            <a:ext cx="4937760" cy="365760"/>
          </a:xfrm>
          <a:prstGeom prst="rect">
            <a:avLst/>
          </a:prstGeom>
          <a:noFill/>
        </p:spPr>
        <p:txBody>
          <a:bodyPr wrap="square" lIns="0" rIns="0" tIns="0" bIns="0">
            <a:spAutoFit/>
          </a:bodyPr>
          <a:lstStyle/>
          <a:p>
            <a:pPr algn="l"/>
            <a:r>
              <a:rPr sz="1100" b="0">
                <a:solidFill>
                  <a:srgbClr val="78716C"/>
                </a:solidFill>
                <a:latin typeface="Calibri"/>
              </a:rPr>
              <a:t>case-documents not public, signed URLs 1h TTL</a:t>
            </a:r>
          </a:p>
        </p:txBody>
      </p:sp>
      <p:sp>
        <p:nvSpPr>
          <p:cNvPr id="18" name="TextBox 17"/>
          <p:cNvSpPr txBox="1"/>
          <p:nvPr/>
        </p:nvSpPr>
        <p:spPr>
          <a:xfrm>
            <a:off x="960120" y="5047488"/>
            <a:ext cx="4937760" cy="274320"/>
          </a:xfrm>
          <a:prstGeom prst="rect">
            <a:avLst/>
          </a:prstGeom>
          <a:noFill/>
        </p:spPr>
        <p:txBody>
          <a:bodyPr wrap="square" lIns="0" rIns="0" tIns="0" bIns="0">
            <a:spAutoFit/>
          </a:bodyPr>
          <a:lstStyle/>
          <a:p>
            <a:pPr algn="l"/>
            <a:r>
              <a:rPr sz="1200" b="1">
                <a:solidFill>
                  <a:srgbClr val="1C1917"/>
                </a:solidFill>
                <a:latin typeface="Calibri"/>
              </a:rPr>
              <a:t>LAWYER_ID env pin</a:t>
            </a:r>
          </a:p>
        </p:txBody>
      </p:sp>
      <p:sp>
        <p:nvSpPr>
          <p:cNvPr id="19" name="TextBox 18"/>
          <p:cNvSpPr txBox="1"/>
          <p:nvPr/>
        </p:nvSpPr>
        <p:spPr>
          <a:xfrm>
            <a:off x="960120" y="5321808"/>
            <a:ext cx="4937760" cy="365760"/>
          </a:xfrm>
          <a:prstGeom prst="rect">
            <a:avLst/>
          </a:prstGeom>
          <a:noFill/>
        </p:spPr>
        <p:txBody>
          <a:bodyPr wrap="square" lIns="0" rIns="0" tIns="0" bIns="0">
            <a:spAutoFit/>
          </a:bodyPr>
          <a:lstStyle/>
          <a:p>
            <a:pPr algn="l"/>
            <a:r>
              <a:rPr sz="1100" b="0">
                <a:solidFill>
                  <a:srgbClr val="78716C"/>
                </a:solidFill>
                <a:latin typeface="Calibri"/>
              </a:rPr>
              <a:t>demo-day fallback when session cookie dies</a:t>
            </a:r>
          </a:p>
        </p:txBody>
      </p:sp>
      <p:sp>
        <p:nvSpPr>
          <p:cNvPr id="20" name="TextBox 19"/>
          <p:cNvSpPr txBox="1"/>
          <p:nvPr/>
        </p:nvSpPr>
        <p:spPr>
          <a:xfrm>
            <a:off x="960120" y="5715000"/>
            <a:ext cx="4937760" cy="274320"/>
          </a:xfrm>
          <a:prstGeom prst="rect">
            <a:avLst/>
          </a:prstGeom>
          <a:noFill/>
        </p:spPr>
        <p:txBody>
          <a:bodyPr wrap="square" lIns="0" rIns="0" tIns="0" bIns="0">
            <a:spAutoFit/>
          </a:bodyPr>
          <a:lstStyle/>
          <a:p>
            <a:pPr algn="l"/>
            <a:r>
              <a:rPr sz="1200" b="1">
                <a:solidFill>
                  <a:srgbClr val="1C1917"/>
                </a:solidFill>
                <a:latin typeface="Calibri"/>
              </a:rPr>
              <a:t>Prompt grounding</a:t>
            </a:r>
          </a:p>
        </p:txBody>
      </p:sp>
      <p:sp>
        <p:nvSpPr>
          <p:cNvPr id="21" name="TextBox 20"/>
          <p:cNvSpPr txBox="1"/>
          <p:nvPr/>
        </p:nvSpPr>
        <p:spPr>
          <a:xfrm>
            <a:off x="960120" y="5989320"/>
            <a:ext cx="4937760" cy="365760"/>
          </a:xfrm>
          <a:prstGeom prst="rect">
            <a:avLst/>
          </a:prstGeom>
          <a:noFill/>
        </p:spPr>
        <p:txBody>
          <a:bodyPr wrap="square" lIns="0" rIns="0" tIns="0" bIns="0">
            <a:spAutoFit/>
          </a:bodyPr>
          <a:lstStyle/>
          <a:p>
            <a:pPr algn="l"/>
            <a:r>
              <a:rPr sz="1100" b="0">
                <a:solidFill>
                  <a:srgbClr val="78716C"/>
                </a:solidFill>
                <a:latin typeface="Calibri"/>
              </a:rPr>
              <a:t>corpus-only citation rule + responseSchema</a:t>
            </a:r>
          </a:p>
        </p:txBody>
      </p:sp>
      <p:sp>
        <p:nvSpPr>
          <p:cNvPr id="22" name="Rounded Rectangle 21"/>
          <p:cNvSpPr/>
          <p:nvPr/>
        </p:nvSpPr>
        <p:spPr>
          <a:xfrm>
            <a:off x="6355080" y="1783080"/>
            <a:ext cx="5394960" cy="457200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1783080"/>
            <a:ext cx="137160" cy="4572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1920240"/>
            <a:ext cx="5120640" cy="365760"/>
          </a:xfrm>
          <a:prstGeom prst="rect">
            <a:avLst/>
          </a:prstGeom>
          <a:noFill/>
        </p:spPr>
        <p:txBody>
          <a:bodyPr wrap="square" lIns="0" rIns="0" tIns="0" bIns="0">
            <a:spAutoFit/>
          </a:bodyPr>
          <a:lstStyle/>
          <a:p>
            <a:pPr algn="l"/>
            <a:r>
              <a:rPr sz="1300" b="1">
                <a:solidFill>
                  <a:srgbClr val="B45309"/>
                </a:solidFill>
                <a:latin typeface="Calibri"/>
              </a:rPr>
              <a:t>POST-HACKATHON GAPS</a:t>
            </a:r>
          </a:p>
        </p:txBody>
      </p:sp>
      <p:sp>
        <p:nvSpPr>
          <p:cNvPr id="25" name="TextBox 24"/>
          <p:cNvSpPr txBox="1"/>
          <p:nvPr/>
        </p:nvSpPr>
        <p:spPr>
          <a:xfrm>
            <a:off x="6629400" y="2377440"/>
            <a:ext cx="4937760" cy="274320"/>
          </a:xfrm>
          <a:prstGeom prst="rect">
            <a:avLst/>
          </a:prstGeom>
          <a:noFill/>
        </p:spPr>
        <p:txBody>
          <a:bodyPr wrap="square" lIns="0" rIns="0" tIns="0" bIns="0">
            <a:spAutoFit/>
          </a:bodyPr>
          <a:lstStyle/>
          <a:p>
            <a:pPr algn="l"/>
            <a:r>
              <a:rPr sz="1200" b="1">
                <a:solidFill>
                  <a:srgbClr val="1C1917"/>
                </a:solidFill>
                <a:latin typeface="Calibri"/>
              </a:rPr>
              <a:t>Supabase RLS</a:t>
            </a:r>
          </a:p>
        </p:txBody>
      </p:sp>
      <p:sp>
        <p:nvSpPr>
          <p:cNvPr id="26" name="TextBox 25"/>
          <p:cNvSpPr txBox="1"/>
          <p:nvPr/>
        </p:nvSpPr>
        <p:spPr>
          <a:xfrm>
            <a:off x="6629400" y="2651760"/>
            <a:ext cx="4937760" cy="365760"/>
          </a:xfrm>
          <a:prstGeom prst="rect">
            <a:avLst/>
          </a:prstGeom>
          <a:noFill/>
        </p:spPr>
        <p:txBody>
          <a:bodyPr wrap="square" lIns="0" rIns="0" tIns="0" bIns="0">
            <a:spAutoFit/>
          </a:bodyPr>
          <a:lstStyle/>
          <a:p>
            <a:pPr algn="l"/>
            <a:r>
              <a:rPr sz="1100" b="0">
                <a:solidFill>
                  <a:srgbClr val="78716C"/>
                </a:solidFill>
                <a:latin typeface="Calibri"/>
              </a:rPr>
              <a:t>every table gated by auth.uid() on lawyer_id</a:t>
            </a:r>
          </a:p>
        </p:txBody>
      </p:sp>
      <p:sp>
        <p:nvSpPr>
          <p:cNvPr id="27" name="TextBox 26"/>
          <p:cNvSpPr txBox="1"/>
          <p:nvPr/>
        </p:nvSpPr>
        <p:spPr>
          <a:xfrm>
            <a:off x="6629400" y="3044952"/>
            <a:ext cx="4937760" cy="274320"/>
          </a:xfrm>
          <a:prstGeom prst="rect">
            <a:avLst/>
          </a:prstGeom>
          <a:noFill/>
        </p:spPr>
        <p:txBody>
          <a:bodyPr wrap="square" lIns="0" rIns="0" tIns="0" bIns="0">
            <a:spAutoFit/>
          </a:bodyPr>
          <a:lstStyle/>
          <a:p>
            <a:pPr algn="l"/>
            <a:r>
              <a:rPr sz="1200" b="1">
                <a:solidFill>
                  <a:srgbClr val="1C1917"/>
                </a:solidFill>
                <a:latin typeface="Calibri"/>
              </a:rPr>
              <a:t>Aadhar encryption</a:t>
            </a:r>
          </a:p>
        </p:txBody>
      </p:sp>
      <p:sp>
        <p:nvSpPr>
          <p:cNvPr id="28" name="TextBox 27"/>
          <p:cNvSpPr txBox="1"/>
          <p:nvPr/>
        </p:nvSpPr>
        <p:spPr>
          <a:xfrm>
            <a:off x="6629400" y="3319272"/>
            <a:ext cx="4937760" cy="365760"/>
          </a:xfrm>
          <a:prstGeom prst="rect">
            <a:avLst/>
          </a:prstGeom>
          <a:noFill/>
        </p:spPr>
        <p:txBody>
          <a:bodyPr wrap="square" lIns="0" rIns="0" tIns="0" bIns="0">
            <a:spAutoFit/>
          </a:bodyPr>
          <a:lstStyle/>
          <a:p>
            <a:pPr algn="l"/>
            <a:r>
              <a:rPr sz="1100" b="0">
                <a:solidFill>
                  <a:srgbClr val="78716C"/>
                </a:solidFill>
                <a:latin typeface="Calibri"/>
              </a:rPr>
              <a:t>pgsodium column encryption</a:t>
            </a:r>
          </a:p>
        </p:txBody>
      </p:sp>
      <p:sp>
        <p:nvSpPr>
          <p:cNvPr id="29" name="TextBox 28"/>
          <p:cNvSpPr txBox="1"/>
          <p:nvPr/>
        </p:nvSpPr>
        <p:spPr>
          <a:xfrm>
            <a:off x="6629400" y="3712464"/>
            <a:ext cx="4937760" cy="274320"/>
          </a:xfrm>
          <a:prstGeom prst="rect">
            <a:avLst/>
          </a:prstGeom>
          <a:noFill/>
        </p:spPr>
        <p:txBody>
          <a:bodyPr wrap="square" lIns="0" rIns="0" tIns="0" bIns="0">
            <a:spAutoFit/>
          </a:bodyPr>
          <a:lstStyle/>
          <a:p>
            <a:pPr algn="l"/>
            <a:r>
              <a:rPr sz="1200" b="1">
                <a:solidFill>
                  <a:srgbClr val="1C1917"/>
                </a:solidFill>
                <a:latin typeface="Calibri"/>
              </a:rPr>
              <a:t>Audit log</a:t>
            </a:r>
          </a:p>
        </p:txBody>
      </p:sp>
      <p:sp>
        <p:nvSpPr>
          <p:cNvPr id="30" name="TextBox 29"/>
          <p:cNvSpPr txBox="1"/>
          <p:nvPr/>
        </p:nvSpPr>
        <p:spPr>
          <a:xfrm>
            <a:off x="6629400" y="3986784"/>
            <a:ext cx="4937760" cy="365760"/>
          </a:xfrm>
          <a:prstGeom prst="rect">
            <a:avLst/>
          </a:prstGeom>
          <a:noFill/>
        </p:spPr>
        <p:txBody>
          <a:bodyPr wrap="square" lIns="0" rIns="0" tIns="0" bIns="0">
            <a:spAutoFit/>
          </a:bodyPr>
          <a:lstStyle/>
          <a:p>
            <a:pPr algn="l"/>
            <a:r>
              <a:rPr sz="1100" b="0">
                <a:solidFill>
                  <a:srgbClr val="78716C"/>
                </a:solidFill>
                <a:latin typeface="Calibri"/>
              </a:rPr>
              <a:t>every /api/ai/* call logged with lawyer_id</a:t>
            </a:r>
          </a:p>
        </p:txBody>
      </p:sp>
      <p:sp>
        <p:nvSpPr>
          <p:cNvPr id="31" name="TextBox 30"/>
          <p:cNvSpPr txBox="1"/>
          <p:nvPr/>
        </p:nvSpPr>
        <p:spPr>
          <a:xfrm>
            <a:off x="6629400" y="4379976"/>
            <a:ext cx="4937760" cy="274320"/>
          </a:xfrm>
          <a:prstGeom prst="rect">
            <a:avLst/>
          </a:prstGeom>
          <a:noFill/>
        </p:spPr>
        <p:txBody>
          <a:bodyPr wrap="square" lIns="0" rIns="0" tIns="0" bIns="0">
            <a:spAutoFit/>
          </a:bodyPr>
          <a:lstStyle/>
          <a:p>
            <a:pPr algn="l"/>
            <a:r>
              <a:rPr sz="1200" b="1">
                <a:solidFill>
                  <a:srgbClr val="1C1917"/>
                </a:solidFill>
                <a:latin typeface="Calibri"/>
              </a:rPr>
              <a:t>Rate limiting</a:t>
            </a:r>
          </a:p>
        </p:txBody>
      </p:sp>
      <p:sp>
        <p:nvSpPr>
          <p:cNvPr id="32" name="TextBox 31"/>
          <p:cNvSpPr txBox="1"/>
          <p:nvPr/>
        </p:nvSpPr>
        <p:spPr>
          <a:xfrm>
            <a:off x="6629400" y="4654296"/>
            <a:ext cx="4937760" cy="365760"/>
          </a:xfrm>
          <a:prstGeom prst="rect">
            <a:avLst/>
          </a:prstGeom>
          <a:noFill/>
        </p:spPr>
        <p:txBody>
          <a:bodyPr wrap="square" lIns="0" rIns="0" tIns="0" bIns="0">
            <a:spAutoFit/>
          </a:bodyPr>
          <a:lstStyle/>
          <a:p>
            <a:pPr algn="l"/>
            <a:r>
              <a:rPr sz="1100" b="0">
                <a:solidFill>
                  <a:srgbClr val="78716C"/>
                </a:solidFill>
                <a:latin typeface="Calibri"/>
              </a:rPr>
              <a:t>per-lawyer upstream Gemini quota enforcement</a:t>
            </a:r>
          </a:p>
        </p:txBody>
      </p:sp>
      <p:sp>
        <p:nvSpPr>
          <p:cNvPr id="33" name="TextBox 32"/>
          <p:cNvSpPr txBox="1"/>
          <p:nvPr/>
        </p:nvSpPr>
        <p:spPr>
          <a:xfrm>
            <a:off x="6629400" y="5047488"/>
            <a:ext cx="4937760" cy="274320"/>
          </a:xfrm>
          <a:prstGeom prst="rect">
            <a:avLst/>
          </a:prstGeom>
          <a:noFill/>
        </p:spPr>
        <p:txBody>
          <a:bodyPr wrap="square" lIns="0" rIns="0" tIns="0" bIns="0">
            <a:spAutoFit/>
          </a:bodyPr>
          <a:lstStyle/>
          <a:p>
            <a:pPr algn="l"/>
            <a:r>
              <a:rPr sz="1200" b="1">
                <a:solidFill>
                  <a:srgbClr val="1C1917"/>
                </a:solidFill>
                <a:latin typeface="Calibri"/>
              </a:rPr>
              <a:t>Prompt injection tests</a:t>
            </a:r>
          </a:p>
        </p:txBody>
      </p:sp>
      <p:sp>
        <p:nvSpPr>
          <p:cNvPr id="34" name="TextBox 33"/>
          <p:cNvSpPr txBox="1"/>
          <p:nvPr/>
        </p:nvSpPr>
        <p:spPr>
          <a:xfrm>
            <a:off x="6629400" y="5321808"/>
            <a:ext cx="4937760" cy="365760"/>
          </a:xfrm>
          <a:prstGeom prst="rect">
            <a:avLst/>
          </a:prstGeom>
          <a:noFill/>
        </p:spPr>
        <p:txBody>
          <a:bodyPr wrap="square" lIns="0" rIns="0" tIns="0" bIns="0">
            <a:spAutoFit/>
          </a:bodyPr>
          <a:lstStyle/>
          <a:p>
            <a:pPr algn="l"/>
            <a:r>
              <a:rPr sz="1100" b="0">
                <a:solidFill>
                  <a:srgbClr val="78716C"/>
                </a:solidFill>
                <a:latin typeface="Calibri"/>
              </a:rPr>
              <a:t>adversarial case-notes suite</a:t>
            </a:r>
          </a:p>
        </p:txBody>
      </p:sp>
      <p:sp>
        <p:nvSpPr>
          <p:cNvPr id="35" name="TextBox 34"/>
          <p:cNvSpPr txBox="1"/>
          <p:nvPr/>
        </p:nvSpPr>
        <p:spPr>
          <a:xfrm>
            <a:off x="6629400" y="5715000"/>
            <a:ext cx="4937760" cy="274320"/>
          </a:xfrm>
          <a:prstGeom prst="rect">
            <a:avLst/>
          </a:prstGeom>
          <a:noFill/>
        </p:spPr>
        <p:txBody>
          <a:bodyPr wrap="square" lIns="0" rIns="0" tIns="0" bIns="0">
            <a:spAutoFit/>
          </a:bodyPr>
          <a:lstStyle/>
          <a:p>
            <a:pPr algn="l"/>
            <a:r>
              <a:rPr sz="1200" b="1">
                <a:solidFill>
                  <a:srgbClr val="1C1917"/>
                </a:solidFill>
                <a:latin typeface="Calibri"/>
              </a:rPr>
              <a:t>SSO / bar council lookup</a:t>
            </a:r>
          </a:p>
        </p:txBody>
      </p:sp>
      <p:sp>
        <p:nvSpPr>
          <p:cNvPr id="36" name="TextBox 35"/>
          <p:cNvSpPr txBox="1"/>
          <p:nvPr/>
        </p:nvSpPr>
        <p:spPr>
          <a:xfrm>
            <a:off x="6629400" y="5989320"/>
            <a:ext cx="4937760" cy="365760"/>
          </a:xfrm>
          <a:prstGeom prst="rect">
            <a:avLst/>
          </a:prstGeom>
          <a:noFill/>
        </p:spPr>
        <p:txBody>
          <a:bodyPr wrap="square" lIns="0" rIns="0" tIns="0" bIns="0">
            <a:spAutoFit/>
          </a:bodyPr>
          <a:lstStyle/>
          <a:p>
            <a:pPr algn="l"/>
            <a:r>
              <a:rPr sz="1100" b="0">
                <a:solidFill>
                  <a:srgbClr val="78716C"/>
                </a:solidFill>
                <a:latin typeface="Calibri"/>
              </a:rPr>
              <a:t>verify real advocate before sign-up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14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Competitive positioning</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600" b="1">
                <a:solidFill>
                  <a:srgbClr val="1C1917"/>
                </a:solidFill>
                <a:latin typeface="Calibri"/>
              </a:rPr>
              <a:t>Adjacent products solve part of this. None solve all.</a:t>
            </a:r>
          </a:p>
        </p:txBody>
      </p:sp>
      <p:graphicFrame>
        <p:nvGraphicFramePr>
          <p:cNvPr id="7" name="Table 6"/>
          <p:cNvGraphicFramePr>
            <a:graphicFrameLocks noGrp="1"/>
          </p:cNvGraphicFramePr>
          <p:nvPr/>
        </p:nvGraphicFramePr>
        <p:xfrm>
          <a:off x="685800" y="2103120"/>
          <a:ext cx="11338560" cy="3291840"/>
        </p:xfrm>
        <a:graphic>
          <a:graphicData uri="http://schemas.openxmlformats.org/drawingml/2006/table">
            <a:tbl>
              <a:tblPr firstRow="1" bandRow="1">
                <a:tableStyleId>{5C22544A-7EE6-4342-B048-85BDC9FD1C3A}</a:tableStyleId>
              </a:tblPr>
              <a:tblGrid>
                <a:gridCol w="2286000"/>
                <a:gridCol w="1783080"/>
                <a:gridCol w="1783080"/>
                <a:gridCol w="1783080"/>
                <a:gridCol w="1920240"/>
                <a:gridCol w="1783080"/>
              </a:tblGrid>
              <a:tr h="548640">
                <a:tc>
                  <a:txBody>
                    <a:bodyPr/>
                    <a:lstStyle/>
                    <a:p>
                      <a:pPr algn="l"/>
                      <a:r>
                        <a:rPr sz="1300" b="1">
                          <a:solidFill>
                            <a:srgbClr val="FFFFFF"/>
                          </a:solidFill>
                          <a:latin typeface="Calibri"/>
                        </a:rPr>
                        <a:t/>
                      </a:r>
                    </a:p>
                  </a:txBody>
                  <a:tcPr>
                    <a:solidFill>
                      <a:srgbClr val="3F3D99"/>
                    </a:solidFill>
                  </a:tcPr>
                </a:tc>
                <a:tc>
                  <a:txBody>
                    <a:bodyPr/>
                    <a:lstStyle/>
                    <a:p>
                      <a:pPr algn="ctr"/>
                      <a:r>
                        <a:rPr sz="1300" b="1">
                          <a:solidFill>
                            <a:srgbClr val="FFFFFF"/>
                          </a:solidFill>
                          <a:latin typeface="Calibri"/>
                        </a:rPr>
                        <a:t>Case mgmt</a:t>
                      </a:r>
                    </a:p>
                  </a:txBody>
                  <a:tcPr>
                    <a:solidFill>
                      <a:srgbClr val="3F3D99"/>
                    </a:solidFill>
                  </a:tcPr>
                </a:tc>
                <a:tc>
                  <a:txBody>
                    <a:bodyPr/>
                    <a:lstStyle/>
                    <a:p>
                      <a:pPr algn="ctr"/>
                      <a:r>
                        <a:rPr sz="1300" b="1">
                          <a:solidFill>
                            <a:srgbClr val="FFFFFF"/>
                          </a:solidFill>
                          <a:latin typeface="Calibri"/>
                        </a:rPr>
                        <a:t>AI drafting</a:t>
                      </a:r>
                    </a:p>
                  </a:txBody>
                  <a:tcPr>
                    <a:solidFill>
                      <a:srgbClr val="3F3D99"/>
                    </a:solidFill>
                  </a:tcPr>
                </a:tc>
                <a:tc>
                  <a:txBody>
                    <a:bodyPr/>
                    <a:lstStyle/>
                    <a:p>
                      <a:pPr algn="ctr"/>
                      <a:r>
                        <a:rPr sz="1300" b="1">
                          <a:solidFill>
                            <a:srgbClr val="FFFFFF"/>
                          </a:solidFill>
                          <a:latin typeface="Calibri"/>
                        </a:rPr>
                        <a:t>Indian law</a:t>
                      </a:r>
                    </a:p>
                  </a:txBody>
                  <a:tcPr>
                    <a:solidFill>
                      <a:srgbClr val="3F3D99"/>
                    </a:solidFill>
                  </a:tcPr>
                </a:tc>
                <a:tc>
                  <a:txBody>
                    <a:bodyPr/>
                    <a:lstStyle/>
                    <a:p>
                      <a:pPr algn="ctr"/>
                      <a:r>
                        <a:rPr sz="1300" b="1">
                          <a:solidFill>
                            <a:srgbClr val="FFFFFF"/>
                          </a:solidFill>
                          <a:latin typeface="Calibri"/>
                        </a:rPr>
                        <a:t>Deadline brain</a:t>
                      </a:r>
                    </a:p>
                  </a:txBody>
                  <a:tcPr>
                    <a:solidFill>
                      <a:srgbClr val="3F3D99"/>
                    </a:solidFill>
                  </a:tcPr>
                </a:tc>
                <a:tc>
                  <a:txBody>
                    <a:bodyPr/>
                    <a:lstStyle/>
                    <a:p>
                      <a:pPr algn="ctr"/>
                      <a:r>
                        <a:rPr sz="1300" b="1">
                          <a:solidFill>
                            <a:srgbClr val="FFFFFF"/>
                          </a:solidFill>
                          <a:latin typeface="Calibri"/>
                        </a:rPr>
                        <a:t>Hybrid RAG</a:t>
                      </a:r>
                    </a:p>
                  </a:txBody>
                  <a:tcPr>
                    <a:solidFill>
                      <a:srgbClr val="3F3D99"/>
                    </a:solidFill>
                  </a:tcPr>
                </a:tc>
              </a:tr>
              <a:tr h="548640">
                <a:tc>
                  <a:txBody>
                    <a:bodyPr/>
                    <a:lstStyle/>
                    <a:p>
                      <a:pPr algn="l"/>
                      <a:r>
                        <a:rPr sz="1200" b="1">
                          <a:solidFill>
                            <a:srgbClr val="B45309"/>
                          </a:solidFill>
                          <a:latin typeface="Calibri"/>
                        </a:rPr>
                        <a:t>Clio (US)</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B45309"/>
                          </a:solidFill>
                          <a:latin typeface="Calibri"/>
                        </a:rPr>
                        <a:t>Basic</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r>
              <a:tr h="548640">
                <a:tc>
                  <a:txBody>
                    <a:bodyPr/>
                    <a:lstStyle/>
                    <a:p>
                      <a:pPr algn="l"/>
                      <a:r>
                        <a:rPr sz="1200" b="1">
                          <a:solidFill>
                            <a:srgbClr val="B45309"/>
                          </a:solidFill>
                          <a:latin typeface="Calibri"/>
                        </a:rPr>
                        <a:t>MyKase (India)</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r>
              <a:tr h="548640">
                <a:tc>
                  <a:txBody>
                    <a:bodyPr/>
                    <a:lstStyle/>
                    <a:p>
                      <a:pPr algn="l"/>
                      <a:r>
                        <a:rPr sz="1200" b="1">
                          <a:solidFill>
                            <a:srgbClr val="B45309"/>
                          </a:solidFill>
                          <a:latin typeface="Calibri"/>
                        </a:rPr>
                        <a:t>Harvey AI (US)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B45309"/>
                          </a:solidFill>
                          <a:latin typeface="Calibri"/>
                        </a:rPr>
                        <a:t>Keyword only</a:t>
                      </a:r>
                    </a:p>
                  </a:txBody>
                  <a:tcPr>
                    <a:solidFill>
                      <a:srgbClr val="FFFFFF"/>
                    </a:solidFill>
                  </a:tcPr>
                </a:tc>
              </a:tr>
              <a:tr h="548640">
                <a:tc>
                  <a:txBody>
                    <a:bodyPr/>
                    <a:lstStyle/>
                    <a:p>
                      <a:pPr algn="l"/>
                      <a:r>
                        <a:rPr sz="1200" b="1">
                          <a:solidFill>
                            <a:srgbClr val="B45309"/>
                          </a:solidFill>
                          <a:latin typeface="Calibri"/>
                        </a:rPr>
                        <a:t>IndianKanoon</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059669"/>
                          </a:solidFill>
                          <a:latin typeface="Calibri"/>
                        </a:rPr>
                        <a:t>Yes</a:t>
                      </a:r>
                    </a:p>
                  </a:txBody>
                  <a:tcPr>
                    <a:solidFill>
                      <a:srgbClr val="FFFFFF"/>
                    </a:solidFill>
                  </a:tcPr>
                </a:tc>
                <a:tc>
                  <a:txBody>
                    <a:bodyPr/>
                    <a:lstStyle/>
                    <a:p>
                      <a:pPr algn="ctr"/>
                      <a:r>
                        <a:rPr sz="1200" b="0">
                          <a:solidFill>
                            <a:srgbClr val="78716C"/>
                          </a:solidFill>
                          <a:latin typeface="Calibri"/>
                        </a:rPr>
                        <a:t>—</a:t>
                      </a:r>
                    </a:p>
                  </a:txBody>
                  <a:tcPr>
                    <a:solidFill>
                      <a:srgbClr val="FFFFFF"/>
                    </a:solidFill>
                  </a:tcPr>
                </a:tc>
                <a:tc>
                  <a:txBody>
                    <a:bodyPr/>
                    <a:lstStyle/>
                    <a:p>
                      <a:pPr algn="ctr"/>
                      <a:r>
                        <a:rPr sz="1200" b="0">
                          <a:solidFill>
                            <a:srgbClr val="B45309"/>
                          </a:solidFill>
                          <a:latin typeface="Calibri"/>
                        </a:rPr>
                        <a:t>— (search only)</a:t>
                      </a:r>
                    </a:p>
                  </a:txBody>
                  <a:tcPr>
                    <a:solidFill>
                      <a:srgbClr val="FFFFFF"/>
                    </a:solidFill>
                  </a:tcPr>
                </a:tc>
              </a:tr>
              <a:tr h="548640">
                <a:tc>
                  <a:txBody>
                    <a:bodyPr/>
                    <a:lstStyle/>
                    <a:p>
                      <a:pPr algn="l"/>
                      <a:r>
                        <a:rPr sz="1200" b="1">
                          <a:solidFill>
                            <a:srgbClr val="FFFFFF"/>
                          </a:solidFill>
                          <a:latin typeface="Calibri"/>
                        </a:rPr>
                        <a:t>Lawris</a:t>
                      </a:r>
                    </a:p>
                  </a:txBody>
                  <a:tcPr>
                    <a:solidFill>
                      <a:srgbClr val="1E1B4B"/>
                    </a:solidFill>
                  </a:tcPr>
                </a:tc>
                <a:tc>
                  <a:txBody>
                    <a:bodyPr/>
                    <a:lstStyle/>
                    <a:p>
                      <a:pPr algn="ctr"/>
                      <a:r>
                        <a:rPr sz="1200" b="1">
                          <a:solidFill>
                            <a:srgbClr val="FFFFFF"/>
                          </a:solidFill>
                          <a:latin typeface="Calibri"/>
                        </a:rPr>
                        <a:t>Yes</a:t>
                      </a:r>
                    </a:p>
                  </a:txBody>
                  <a:tcPr>
                    <a:solidFill>
                      <a:srgbClr val="1E1B4B"/>
                    </a:solidFill>
                  </a:tcPr>
                </a:tc>
                <a:tc>
                  <a:txBody>
                    <a:bodyPr/>
                    <a:lstStyle/>
                    <a:p>
                      <a:pPr algn="ctr"/>
                      <a:r>
                        <a:rPr sz="1200" b="1">
                          <a:solidFill>
                            <a:srgbClr val="FFFFFF"/>
                          </a:solidFill>
                          <a:latin typeface="Calibri"/>
                        </a:rPr>
                        <a:t>Yes</a:t>
                      </a:r>
                    </a:p>
                  </a:txBody>
                  <a:tcPr>
                    <a:solidFill>
                      <a:srgbClr val="1E1B4B"/>
                    </a:solidFill>
                  </a:tcPr>
                </a:tc>
                <a:tc>
                  <a:txBody>
                    <a:bodyPr/>
                    <a:lstStyle/>
                    <a:p>
                      <a:pPr algn="ctr"/>
                      <a:r>
                        <a:rPr sz="1200" b="1">
                          <a:solidFill>
                            <a:srgbClr val="FFFFFF"/>
                          </a:solidFill>
                          <a:latin typeface="Calibri"/>
                        </a:rPr>
                        <a:t>Yes</a:t>
                      </a:r>
                    </a:p>
                  </a:txBody>
                  <a:tcPr>
                    <a:solidFill>
                      <a:srgbClr val="1E1B4B"/>
                    </a:solidFill>
                  </a:tcPr>
                </a:tc>
                <a:tc>
                  <a:txBody>
                    <a:bodyPr/>
                    <a:lstStyle/>
                    <a:p>
                      <a:pPr algn="ctr"/>
                      <a:r>
                        <a:rPr sz="1200" b="1">
                          <a:solidFill>
                            <a:srgbClr val="FFFFFF"/>
                          </a:solidFill>
                          <a:latin typeface="Calibri"/>
                        </a:rPr>
                        <a:t>Yes</a:t>
                      </a:r>
                    </a:p>
                  </a:txBody>
                  <a:tcPr>
                    <a:solidFill>
                      <a:srgbClr val="1E1B4B"/>
                    </a:solidFill>
                  </a:tcPr>
                </a:tc>
                <a:tc>
                  <a:txBody>
                    <a:bodyPr/>
                    <a:lstStyle/>
                    <a:p>
                      <a:pPr algn="ctr"/>
                      <a:r>
                        <a:rPr sz="1200" b="1">
                          <a:solidFill>
                            <a:srgbClr val="FFFFFF"/>
                          </a:solidFill>
                          <a:latin typeface="Calibri"/>
                        </a:rPr>
                        <a:t>Yes</a:t>
                      </a:r>
                    </a:p>
                  </a:txBody>
                  <a:tcPr>
                    <a:solidFill>
                      <a:srgbClr val="1E1B4B"/>
                    </a:solidFill>
                  </a:tcPr>
                </a:tc>
              </a:tr>
            </a:tbl>
          </a:graphicData>
        </a:graphic>
      </p:graphicFrame>
      <p:sp>
        <p:nvSpPr>
          <p:cNvPr id="8" name="TextBox 7"/>
          <p:cNvSpPr txBox="1"/>
          <p:nvPr/>
        </p:nvSpPr>
        <p:spPr>
          <a:xfrm>
            <a:off x="685800" y="5897880"/>
            <a:ext cx="10972800" cy="548640"/>
          </a:xfrm>
          <a:prstGeom prst="rect">
            <a:avLst/>
          </a:prstGeom>
          <a:noFill/>
        </p:spPr>
        <p:txBody>
          <a:bodyPr wrap="square" lIns="0" rIns="0" tIns="0" bIns="0">
            <a:spAutoFit/>
          </a:bodyPr>
          <a:lstStyle/>
          <a:p>
            <a:pPr algn="ctr"/>
            <a:r>
              <a:rPr sz="1800" b="1">
                <a:solidFill>
                  <a:srgbClr val="1E1B4B"/>
                </a:solidFill>
                <a:latin typeface="Calibri"/>
              </a:rPr>
              <a:t>All five columns checked is a defensible position — not a feature.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92240"/>
            <a:ext cx="2743200" cy="274320"/>
          </a:xfrm>
          <a:prstGeom prst="rect">
            <a:avLst/>
          </a:prstGeom>
          <a:noFill/>
        </p:spPr>
        <p:txBody>
          <a:bodyPr wrap="square" lIns="0" rIns="0" tIns="0" bIns="0">
            <a:spAutoFit/>
          </a:bodyPr>
          <a:lstStyle/>
          <a:p>
            <a:pPr algn="l"/>
            <a:r>
              <a:rPr sz="1000" b="1">
                <a:solidFill>
                  <a:srgbClr val="78716C"/>
                </a:solidFill>
                <a:latin typeface="Calibri"/>
              </a:rPr>
              <a:t>LAWRIS — Full Deck</a:t>
            </a:r>
          </a:p>
        </p:txBody>
      </p:sp>
      <p:sp>
        <p:nvSpPr>
          <p:cNvPr id="4" name="TextBox 3"/>
          <p:cNvSpPr txBox="1"/>
          <p:nvPr/>
        </p:nvSpPr>
        <p:spPr>
          <a:xfrm>
            <a:off x="10789920" y="6492240"/>
            <a:ext cx="914400" cy="274320"/>
          </a:xfrm>
          <a:prstGeom prst="rect">
            <a:avLst/>
          </a:prstGeom>
          <a:noFill/>
        </p:spPr>
        <p:txBody>
          <a:bodyPr wrap="square" lIns="0" rIns="0" tIns="0" bIns="0">
            <a:spAutoFit/>
          </a:bodyPr>
          <a:lstStyle/>
          <a:p>
            <a:pPr algn="r"/>
            <a:r>
              <a:rPr sz="1000" b="0">
                <a:solidFill>
                  <a:srgbClr val="78716C"/>
                </a:solidFill>
                <a:latin typeface="Calibri"/>
              </a:rPr>
              <a:t>15 / 15</a:t>
            </a:r>
          </a:p>
        </p:txBody>
      </p:sp>
      <p:sp>
        <p:nvSpPr>
          <p:cNvPr id="5" name="TextBox 4"/>
          <p:cNvSpPr txBox="1"/>
          <p:nvPr/>
        </p:nvSpPr>
        <p:spPr>
          <a:xfrm>
            <a:off x="685800" y="502920"/>
            <a:ext cx="9144000" cy="457200"/>
          </a:xfrm>
          <a:prstGeom prst="rect">
            <a:avLst/>
          </a:prstGeom>
          <a:noFill/>
        </p:spPr>
        <p:txBody>
          <a:bodyPr wrap="square" lIns="0" rIns="0" tIns="0" bIns="0">
            <a:spAutoFit/>
          </a:bodyPr>
          <a:lstStyle/>
          <a:p>
            <a:pPr algn="l"/>
            <a:r>
              <a:rPr sz="1300" b="1">
                <a:solidFill>
                  <a:srgbClr val="3F3D99"/>
                </a:solidFill>
                <a:latin typeface="Calibri"/>
              </a:rPr>
              <a:t>Roadmap &amp; ask</a:t>
            </a:r>
          </a:p>
        </p:txBody>
      </p:sp>
      <p:sp>
        <p:nvSpPr>
          <p:cNvPr id="6" name="TextBox 5"/>
          <p:cNvSpPr txBox="1"/>
          <p:nvPr/>
        </p:nvSpPr>
        <p:spPr>
          <a:xfrm>
            <a:off x="685800" y="1005840"/>
            <a:ext cx="10972800" cy="822960"/>
          </a:xfrm>
          <a:prstGeom prst="rect">
            <a:avLst/>
          </a:prstGeom>
          <a:noFill/>
        </p:spPr>
        <p:txBody>
          <a:bodyPr wrap="square" lIns="0" rIns="0" tIns="0" bIns="0">
            <a:spAutoFit/>
          </a:bodyPr>
          <a:lstStyle/>
          <a:p>
            <a:pPr algn="l"/>
            <a:r>
              <a:rPr sz="2600" b="1">
                <a:solidFill>
                  <a:srgbClr val="1C1917"/>
                </a:solidFill>
                <a:latin typeface="Calibri"/>
              </a:rPr>
              <a:t>Working product. Clear wedge. Choosing where to go next.</a:t>
            </a:r>
          </a:p>
        </p:txBody>
      </p:sp>
      <p:sp>
        <p:nvSpPr>
          <p:cNvPr id="7" name="Rounded Rectangle 6"/>
          <p:cNvSpPr/>
          <p:nvPr/>
        </p:nvSpPr>
        <p:spPr>
          <a:xfrm>
            <a:off x="685800" y="2011680"/>
            <a:ext cx="3611880" cy="32918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2011680"/>
            <a:ext cx="36118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94560"/>
            <a:ext cx="3383280" cy="365760"/>
          </a:xfrm>
          <a:prstGeom prst="rect">
            <a:avLst/>
          </a:prstGeom>
          <a:noFill/>
        </p:spPr>
        <p:txBody>
          <a:bodyPr wrap="square" lIns="0" rIns="0" tIns="0" bIns="0">
            <a:spAutoFit/>
          </a:bodyPr>
          <a:lstStyle/>
          <a:p>
            <a:pPr algn="l"/>
            <a:r>
              <a:rPr sz="1300" b="1">
                <a:solidFill>
                  <a:srgbClr val="059669"/>
                </a:solidFill>
                <a:latin typeface="Calibri"/>
              </a:rPr>
              <a:t>NEXT 30 DAYS</a:t>
            </a:r>
          </a:p>
        </p:txBody>
      </p:sp>
      <p:sp>
        <p:nvSpPr>
          <p:cNvPr id="10" name="TextBox 9"/>
          <p:cNvSpPr txBox="1"/>
          <p:nvPr/>
        </p:nvSpPr>
        <p:spPr>
          <a:xfrm>
            <a:off x="960120" y="2697480"/>
            <a:ext cx="3246120" cy="457200"/>
          </a:xfrm>
          <a:prstGeom prst="rect">
            <a:avLst/>
          </a:prstGeom>
          <a:noFill/>
        </p:spPr>
        <p:txBody>
          <a:bodyPr wrap="square" lIns="0" rIns="0" tIns="0" bIns="0">
            <a:spAutoFit/>
          </a:bodyPr>
          <a:lstStyle/>
          <a:p>
            <a:pPr algn="l"/>
            <a:r>
              <a:rPr sz="1200" b="0">
                <a:solidFill>
                  <a:srgbClr val="1C1917"/>
                </a:solidFill>
                <a:latin typeface="Calibri"/>
              </a:rPr>
              <a:t>•  Multi-user Supabase RLS cutover</a:t>
            </a:r>
          </a:p>
        </p:txBody>
      </p:sp>
      <p:sp>
        <p:nvSpPr>
          <p:cNvPr id="11" name="TextBox 10"/>
          <p:cNvSpPr txBox="1"/>
          <p:nvPr/>
        </p:nvSpPr>
        <p:spPr>
          <a:xfrm>
            <a:off x="960120" y="3200400"/>
            <a:ext cx="3246120" cy="457200"/>
          </a:xfrm>
          <a:prstGeom prst="rect">
            <a:avLst/>
          </a:prstGeom>
          <a:noFill/>
        </p:spPr>
        <p:txBody>
          <a:bodyPr wrap="square" lIns="0" rIns="0" tIns="0" bIns="0">
            <a:spAutoFit/>
          </a:bodyPr>
          <a:lstStyle/>
          <a:p>
            <a:pPr algn="l"/>
            <a:r>
              <a:rPr sz="1200" b="0">
                <a:solidFill>
                  <a:srgbClr val="1C1917"/>
                </a:solidFill>
                <a:latin typeface="Calibri"/>
              </a:rPr>
              <a:t>•  OCR for scanned PDFs (Tesseract)</a:t>
            </a:r>
          </a:p>
        </p:txBody>
      </p:sp>
      <p:sp>
        <p:nvSpPr>
          <p:cNvPr id="12" name="TextBox 11"/>
          <p:cNvSpPr txBox="1"/>
          <p:nvPr/>
        </p:nvSpPr>
        <p:spPr>
          <a:xfrm>
            <a:off x="960120" y="3703320"/>
            <a:ext cx="3246120" cy="457200"/>
          </a:xfrm>
          <a:prstGeom prst="rect">
            <a:avLst/>
          </a:prstGeom>
          <a:noFill/>
        </p:spPr>
        <p:txBody>
          <a:bodyPr wrap="square" lIns="0" rIns="0" tIns="0" bIns="0">
            <a:spAutoFit/>
          </a:bodyPr>
          <a:lstStyle/>
          <a:p>
            <a:pPr algn="l"/>
            <a:r>
              <a:rPr sz="1200" b="0">
                <a:solidFill>
                  <a:srgbClr val="1C1917"/>
                </a:solidFill>
                <a:latin typeface="Calibri"/>
              </a:rPr>
              <a:t>•  DOCX/PDF export of drafts</a:t>
            </a:r>
          </a:p>
        </p:txBody>
      </p:sp>
      <p:sp>
        <p:nvSpPr>
          <p:cNvPr id="13" name="TextBox 12"/>
          <p:cNvSpPr txBox="1"/>
          <p:nvPr/>
        </p:nvSpPr>
        <p:spPr>
          <a:xfrm>
            <a:off x="960120" y="4206240"/>
            <a:ext cx="3246120" cy="457200"/>
          </a:xfrm>
          <a:prstGeom prst="rect">
            <a:avLst/>
          </a:prstGeom>
          <a:noFill/>
        </p:spPr>
        <p:txBody>
          <a:bodyPr wrap="square" lIns="0" rIns="0" tIns="0" bIns="0">
            <a:spAutoFit/>
          </a:bodyPr>
          <a:lstStyle/>
          <a:p>
            <a:pPr algn="l"/>
            <a:r>
              <a:rPr sz="1200" b="0">
                <a:solidFill>
                  <a:srgbClr val="1C1917"/>
                </a:solidFill>
                <a:latin typeface="Calibri"/>
              </a:rPr>
              <a:t>•  Vercel production + custom domain</a:t>
            </a:r>
          </a:p>
        </p:txBody>
      </p:sp>
      <p:sp>
        <p:nvSpPr>
          <p:cNvPr id="14" name="TextBox 13"/>
          <p:cNvSpPr txBox="1"/>
          <p:nvPr/>
        </p:nvSpPr>
        <p:spPr>
          <a:xfrm>
            <a:off x="960120" y="4709160"/>
            <a:ext cx="3246120" cy="457200"/>
          </a:xfrm>
          <a:prstGeom prst="rect">
            <a:avLst/>
          </a:prstGeom>
          <a:noFill/>
        </p:spPr>
        <p:txBody>
          <a:bodyPr wrap="square" lIns="0" rIns="0" tIns="0" bIns="0">
            <a:spAutoFit/>
          </a:bodyPr>
          <a:lstStyle/>
          <a:p>
            <a:pPr algn="l"/>
            <a:r>
              <a:rPr sz="1200" b="0">
                <a:solidFill>
                  <a:srgbClr val="1C1917"/>
                </a:solidFill>
                <a:latin typeface="Calibri"/>
              </a:rPr>
              <a:t>•  IndianKanoon API verification layer</a:t>
            </a:r>
          </a:p>
        </p:txBody>
      </p:sp>
      <p:sp>
        <p:nvSpPr>
          <p:cNvPr id="15" name="Rounded Rectangle 14"/>
          <p:cNvSpPr/>
          <p:nvPr/>
        </p:nvSpPr>
        <p:spPr>
          <a:xfrm>
            <a:off x="4480560" y="2011680"/>
            <a:ext cx="3611880" cy="32918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011680"/>
            <a:ext cx="3611880" cy="91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2194560"/>
            <a:ext cx="3383280" cy="365760"/>
          </a:xfrm>
          <a:prstGeom prst="rect">
            <a:avLst/>
          </a:prstGeom>
          <a:noFill/>
        </p:spPr>
        <p:txBody>
          <a:bodyPr wrap="square" lIns="0" rIns="0" tIns="0" bIns="0">
            <a:spAutoFit/>
          </a:bodyPr>
          <a:lstStyle/>
          <a:p>
            <a:pPr algn="l"/>
            <a:r>
              <a:rPr sz="1300" b="1">
                <a:solidFill>
                  <a:srgbClr val="1D4ED8"/>
                </a:solidFill>
                <a:latin typeface="Calibri"/>
              </a:rPr>
              <a:t>NEXT 90 DAYS</a:t>
            </a:r>
          </a:p>
        </p:txBody>
      </p:sp>
      <p:sp>
        <p:nvSpPr>
          <p:cNvPr id="18" name="TextBox 17"/>
          <p:cNvSpPr txBox="1"/>
          <p:nvPr/>
        </p:nvSpPr>
        <p:spPr>
          <a:xfrm>
            <a:off x="4754880" y="2697480"/>
            <a:ext cx="3246120" cy="457200"/>
          </a:xfrm>
          <a:prstGeom prst="rect">
            <a:avLst/>
          </a:prstGeom>
          <a:noFill/>
        </p:spPr>
        <p:txBody>
          <a:bodyPr wrap="square" lIns="0" rIns="0" tIns="0" bIns="0">
            <a:spAutoFit/>
          </a:bodyPr>
          <a:lstStyle/>
          <a:p>
            <a:pPr algn="l"/>
            <a:r>
              <a:rPr sz="1200" b="0">
                <a:solidFill>
                  <a:srgbClr val="1C1917"/>
                </a:solidFill>
                <a:latin typeface="Calibri"/>
              </a:rPr>
              <a:t>•  React Native mobile shell</a:t>
            </a:r>
          </a:p>
        </p:txBody>
      </p:sp>
      <p:sp>
        <p:nvSpPr>
          <p:cNvPr id="19" name="TextBox 18"/>
          <p:cNvSpPr txBox="1"/>
          <p:nvPr/>
        </p:nvSpPr>
        <p:spPr>
          <a:xfrm>
            <a:off x="4754880" y="3200400"/>
            <a:ext cx="3246120" cy="457200"/>
          </a:xfrm>
          <a:prstGeom prst="rect">
            <a:avLst/>
          </a:prstGeom>
          <a:noFill/>
        </p:spPr>
        <p:txBody>
          <a:bodyPr wrap="square" lIns="0" rIns="0" tIns="0" bIns="0">
            <a:spAutoFit/>
          </a:bodyPr>
          <a:lstStyle/>
          <a:p>
            <a:pPr algn="l"/>
            <a:r>
              <a:rPr sz="1200" b="0">
                <a:solidFill>
                  <a:srgbClr val="1C1917"/>
                </a:solidFill>
                <a:latin typeface="Calibri"/>
              </a:rPr>
              <a:t>•  Hindi + Marathi UI</a:t>
            </a:r>
          </a:p>
        </p:txBody>
      </p:sp>
      <p:sp>
        <p:nvSpPr>
          <p:cNvPr id="20" name="TextBox 19"/>
          <p:cNvSpPr txBox="1"/>
          <p:nvPr/>
        </p:nvSpPr>
        <p:spPr>
          <a:xfrm>
            <a:off x="4754880" y="3703320"/>
            <a:ext cx="3246120" cy="457200"/>
          </a:xfrm>
          <a:prstGeom prst="rect">
            <a:avLst/>
          </a:prstGeom>
          <a:noFill/>
        </p:spPr>
        <p:txBody>
          <a:bodyPr wrap="square" lIns="0" rIns="0" tIns="0" bIns="0">
            <a:spAutoFit/>
          </a:bodyPr>
          <a:lstStyle/>
          <a:p>
            <a:pPr algn="l"/>
            <a:r>
              <a:rPr sz="1200" b="0">
                <a:solidFill>
                  <a:srgbClr val="1C1917"/>
                </a:solidFill>
                <a:latin typeface="Calibri"/>
              </a:rPr>
              <a:t>•  Voice-to-hearing-log (Whisper)</a:t>
            </a:r>
          </a:p>
        </p:txBody>
      </p:sp>
      <p:sp>
        <p:nvSpPr>
          <p:cNvPr id="21" name="TextBox 20"/>
          <p:cNvSpPr txBox="1"/>
          <p:nvPr/>
        </p:nvSpPr>
        <p:spPr>
          <a:xfrm>
            <a:off x="4754880" y="4206240"/>
            <a:ext cx="3246120" cy="457200"/>
          </a:xfrm>
          <a:prstGeom prst="rect">
            <a:avLst/>
          </a:prstGeom>
          <a:noFill/>
        </p:spPr>
        <p:txBody>
          <a:bodyPr wrap="square" lIns="0" rIns="0" tIns="0" bIns="0">
            <a:spAutoFit/>
          </a:bodyPr>
          <a:lstStyle/>
          <a:p>
            <a:pPr algn="l"/>
            <a:r>
              <a:rPr sz="1200" b="0">
                <a:solidFill>
                  <a:srgbClr val="1C1917"/>
                </a:solidFill>
                <a:latin typeface="Calibri"/>
              </a:rPr>
              <a:t>•  Bench-aware outcome prediction</a:t>
            </a:r>
          </a:p>
        </p:txBody>
      </p:sp>
      <p:sp>
        <p:nvSpPr>
          <p:cNvPr id="22" name="TextBox 21"/>
          <p:cNvSpPr txBox="1"/>
          <p:nvPr/>
        </p:nvSpPr>
        <p:spPr>
          <a:xfrm>
            <a:off x="4754880" y="4709160"/>
            <a:ext cx="3246120" cy="457200"/>
          </a:xfrm>
          <a:prstGeom prst="rect">
            <a:avLst/>
          </a:prstGeom>
          <a:noFill/>
        </p:spPr>
        <p:txBody>
          <a:bodyPr wrap="square" lIns="0" rIns="0" tIns="0" bIns="0">
            <a:spAutoFit/>
          </a:bodyPr>
          <a:lstStyle/>
          <a:p>
            <a:pPr algn="l"/>
            <a:r>
              <a:rPr sz="1200" b="0">
                <a:solidFill>
                  <a:srgbClr val="1C1917"/>
                </a:solidFill>
                <a:latin typeface="Calibri"/>
              </a:rPr>
              <a:t>•  Team collaboration features</a:t>
            </a:r>
          </a:p>
        </p:txBody>
      </p:sp>
      <p:sp>
        <p:nvSpPr>
          <p:cNvPr id="23" name="Rounded Rectangle 22"/>
          <p:cNvSpPr/>
          <p:nvPr/>
        </p:nvSpPr>
        <p:spPr>
          <a:xfrm>
            <a:off x="8275320" y="2011680"/>
            <a:ext cx="3611880" cy="3291840"/>
          </a:xfrm>
          <a:prstGeom prst="roundRect">
            <a:avLst>
              <a:gd name="adj" fmla="val 6000"/>
            </a:avLst>
          </a:prstGeom>
          <a:solidFill>
            <a:srgbClr val="FFFFFF"/>
          </a:solidFill>
          <a:ln w="9525">
            <a:solidFill>
              <a:srgbClr val="E7E5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75320" y="2011680"/>
            <a:ext cx="3611880" cy="91440"/>
          </a:xfrm>
          <a:prstGeom prst="rect">
            <a:avLst/>
          </a:prstGeom>
          <a:solidFill>
            <a:srgbClr val="3F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2194560"/>
            <a:ext cx="3383280" cy="365760"/>
          </a:xfrm>
          <a:prstGeom prst="rect">
            <a:avLst/>
          </a:prstGeom>
          <a:noFill/>
        </p:spPr>
        <p:txBody>
          <a:bodyPr wrap="square" lIns="0" rIns="0" tIns="0" bIns="0">
            <a:spAutoFit/>
          </a:bodyPr>
          <a:lstStyle/>
          <a:p>
            <a:pPr algn="l"/>
            <a:r>
              <a:rPr sz="1300" b="1">
                <a:solidFill>
                  <a:srgbClr val="3F3D99"/>
                </a:solidFill>
                <a:latin typeface="Calibri"/>
              </a:rPr>
              <a:t>THE MARKET</a:t>
            </a:r>
          </a:p>
        </p:txBody>
      </p:sp>
      <p:sp>
        <p:nvSpPr>
          <p:cNvPr id="26" name="TextBox 25"/>
          <p:cNvSpPr txBox="1"/>
          <p:nvPr/>
        </p:nvSpPr>
        <p:spPr>
          <a:xfrm>
            <a:off x="8549640" y="2697480"/>
            <a:ext cx="3246120" cy="457200"/>
          </a:xfrm>
          <a:prstGeom prst="rect">
            <a:avLst/>
          </a:prstGeom>
          <a:noFill/>
        </p:spPr>
        <p:txBody>
          <a:bodyPr wrap="square" lIns="0" rIns="0" tIns="0" bIns="0">
            <a:spAutoFit/>
          </a:bodyPr>
          <a:lstStyle/>
          <a:p>
            <a:pPr algn="l"/>
            <a:r>
              <a:rPr sz="1200" b="0">
                <a:solidFill>
                  <a:srgbClr val="1C1917"/>
                </a:solidFill>
                <a:latin typeface="Calibri"/>
              </a:rPr>
              <a:t>•  1.4M registered advocates in India</a:t>
            </a:r>
          </a:p>
        </p:txBody>
      </p:sp>
      <p:sp>
        <p:nvSpPr>
          <p:cNvPr id="27" name="TextBox 26"/>
          <p:cNvSpPr txBox="1"/>
          <p:nvPr/>
        </p:nvSpPr>
        <p:spPr>
          <a:xfrm>
            <a:off x="8549640" y="3200400"/>
            <a:ext cx="3246120" cy="457200"/>
          </a:xfrm>
          <a:prstGeom prst="rect">
            <a:avLst/>
          </a:prstGeom>
          <a:noFill/>
        </p:spPr>
        <p:txBody>
          <a:bodyPr wrap="square" lIns="0" rIns="0" tIns="0" bIns="0">
            <a:spAutoFit/>
          </a:bodyPr>
          <a:lstStyle/>
          <a:p>
            <a:pPr algn="l"/>
            <a:r>
              <a:rPr sz="1200" b="0">
                <a:solidFill>
                  <a:srgbClr val="1C1917"/>
                </a:solidFill>
                <a:latin typeface="Calibri"/>
              </a:rPr>
              <a:t>•  ₹500 / lawyer / month target</a:t>
            </a:r>
          </a:p>
        </p:txBody>
      </p:sp>
      <p:sp>
        <p:nvSpPr>
          <p:cNvPr id="28" name="TextBox 27"/>
          <p:cNvSpPr txBox="1"/>
          <p:nvPr/>
        </p:nvSpPr>
        <p:spPr>
          <a:xfrm>
            <a:off x="8549640" y="3703320"/>
            <a:ext cx="3246120" cy="457200"/>
          </a:xfrm>
          <a:prstGeom prst="rect">
            <a:avLst/>
          </a:prstGeom>
          <a:noFill/>
        </p:spPr>
        <p:txBody>
          <a:bodyPr wrap="square" lIns="0" rIns="0" tIns="0" bIns="0">
            <a:spAutoFit/>
          </a:bodyPr>
          <a:lstStyle/>
          <a:p>
            <a:pPr algn="l"/>
            <a:r>
              <a:rPr sz="1200" b="0">
                <a:solidFill>
                  <a:srgbClr val="1C1917"/>
                </a:solidFill>
                <a:latin typeface="Calibri"/>
              </a:rPr>
              <a:t>•  ₹84 cr ARR at 1% adoption</a:t>
            </a:r>
          </a:p>
        </p:txBody>
      </p:sp>
      <p:sp>
        <p:nvSpPr>
          <p:cNvPr id="29" name="TextBox 28"/>
          <p:cNvSpPr txBox="1"/>
          <p:nvPr/>
        </p:nvSpPr>
        <p:spPr>
          <a:xfrm>
            <a:off x="8549640" y="4206240"/>
            <a:ext cx="3246120" cy="457200"/>
          </a:xfrm>
          <a:prstGeom prst="rect">
            <a:avLst/>
          </a:prstGeom>
          <a:noFill/>
        </p:spPr>
        <p:txBody>
          <a:bodyPr wrap="square" lIns="0" rIns="0" tIns="0" bIns="0">
            <a:spAutoFit/>
          </a:bodyPr>
          <a:lstStyle/>
          <a:p>
            <a:pPr algn="l"/>
            <a:r>
              <a:rPr sz="1200" b="0">
                <a:solidFill>
                  <a:srgbClr val="1C1917"/>
                </a:solidFill>
                <a:latin typeface="Calibri"/>
              </a:rPr>
              <a:t>•  Beachhead: solo + 2–10 partner firms</a:t>
            </a:r>
          </a:p>
        </p:txBody>
      </p:sp>
      <p:sp>
        <p:nvSpPr>
          <p:cNvPr id="30" name="TextBox 29"/>
          <p:cNvSpPr txBox="1"/>
          <p:nvPr/>
        </p:nvSpPr>
        <p:spPr>
          <a:xfrm>
            <a:off x="8549640" y="4709160"/>
            <a:ext cx="3246120" cy="457200"/>
          </a:xfrm>
          <a:prstGeom prst="rect">
            <a:avLst/>
          </a:prstGeom>
          <a:noFill/>
        </p:spPr>
        <p:txBody>
          <a:bodyPr wrap="square" lIns="0" rIns="0" tIns="0" bIns="0">
            <a:spAutoFit/>
          </a:bodyPr>
          <a:lstStyle/>
          <a:p>
            <a:pPr algn="l"/>
            <a:r>
              <a:rPr sz="1200" b="0">
                <a:solidFill>
                  <a:srgbClr val="1C1917"/>
                </a:solidFill>
                <a:latin typeface="Calibri"/>
              </a:rPr>
              <a:t>•  Distribution: Bar Council partnerships</a:t>
            </a:r>
          </a:p>
        </p:txBody>
      </p:sp>
      <p:sp>
        <p:nvSpPr>
          <p:cNvPr id="31" name="Rectangle 30"/>
          <p:cNvSpPr/>
          <p:nvPr/>
        </p:nvSpPr>
        <p:spPr>
          <a:xfrm>
            <a:off x="685800" y="5577840"/>
            <a:ext cx="11155680" cy="8686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tIns="182880" bIns="182880"/>
          <a:lstStyle/>
          <a:p>
            <a:pPr algn="l"/>
            <a:r>
              <a:rPr sz="1500" b="1">
                <a:solidFill>
                  <a:srgbClr val="FFFFFF"/>
                </a:solidFill>
                <a:latin typeface="Calibri"/>
              </a:rPr>
              <a:t>THE ASK   We're looking for honest feedback on what would make this indispensable to a working lawyer — and a path to the next 1,000 users.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