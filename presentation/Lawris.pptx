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COLD OPEN — say verbatim:</a:t>
            </a:r>
          </a:p>
          <a:p/>
          <a:p>
            <a:r>
              <a:t>"An accused person in India has 90 days. If their lawyer misses the chargesheet deadline by even a day, they walk free. Lawyers in this country handle 50 to 200 active cases each — on physical files, WhatsApp, and three different research portals. Calendaring failures are responsible for one in four malpractice claims.</a:t>
            </a:r>
          </a:p>
          <a:p/>
          <a:p>
            <a:r>
              <a:t>We built an AI agent that makes those misses impossible."</a:t>
            </a:r>
          </a:p>
          <a:p/>
          <a:p>
            <a:r>
              <a:t>Pause. Click to next slide. (Target: 0:30)</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three stats in 5s each. Don't editorialize each one.</a:t>
            </a:r>
          </a:p>
          <a:p/>
          <a:p>
            <a:r>
              <a:t>After the third stat, the line: "No existing tool unifies case management, AI drafting, deadline intelligence, and research grounded in Indian law. We're building it."</a:t>
            </a:r>
          </a:p>
          <a:p/>
          <a:p>
            <a:r>
              <a:t>Click. (Target: 0:30 → 1:00)</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one-line solution. Then: "Let me show you."</a:t>
            </a:r>
          </a:p>
          <a:p/>
          <a:p>
            <a:r>
              <a:t>Switch immediately to the live browser. Don't dwell on this slide — judges came for the demo, not the bullet points.</a:t>
            </a:r>
          </a:p>
          <a:p/>
          <a:p>
            <a:r>
              <a:t>Time so far: 1:15. Demo runs 1:15 → 3:30 (135 seconds).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DEMO SCRIPT (target 2:15 total):</a:t>
            </a:r>
          </a:p>
          <a:p/>
          <a:p>
            <a:r>
              <a:t>0:00 (1:15) — Dashboard. "Three matters. ONE CRITICAL: chargesheet on a POCSO case is due in two days. The system computed that from the FIR date and BNSS s.187(3). If she misses it, the accused walks."</a:t>
            </a:r>
          </a:p>
          <a:p/>
          <a:p>
            <a:r>
              <a:t>0:25 (1:40) — Click POCSO case. "Real FIR, real sections, real client. Watch this."</a:t>
            </a:r>
          </a:p>
          <a:p/>
          <a:p>
            <a:r>
              <a:t>0:35 (1:50) — Documents tab → Draft Bail Application. "For THIS specific case."</a:t>
            </a:r>
          </a:p>
          <a:p/>
          <a:p>
            <a:r>
              <a:t>0:45–1:05 (2:00–2:20) — STAY QUIET. Let them watch the document write itself.</a:t>
            </a:r>
          </a:p>
          <a:p/>
          <a:p>
            <a:r>
              <a:t>1:05 (2:20) — "Court-ready. Cites Satender Kumar Antil, Article 21, FIR number, client name — all from the database. Even spotted the chargesheet was overdue. Twenty-five seconds. No lawyer typed any of this."</a:t>
            </a:r>
          </a:p>
          <a:p/>
          <a:p>
            <a:r>
              <a:t>1:25 (2:40) — Hearings tab → Add Hearing. Type briefly.</a:t>
            </a:r>
          </a:p>
          <a:p/>
          <a:p>
            <a:r>
              <a:t>1:50 (3:05) — Header AI summary updates. "Anyone on the team can now read 30s and know where this case stands. Today that lives in one lawyer's head."</a:t>
            </a:r>
          </a:p>
          <a:p/>
          <a:p>
            <a:r>
              <a:t>2:00 (3:15) — Research tab → "what is default bail under section 187(3) BNSS?"</a:t>
            </a:r>
          </a:p>
          <a:p/>
          <a:p>
            <a:r>
              <a:t>2:15 (3:30) — Transition to slide 5.</a:t>
            </a:r>
          </a:p>
          <a:p/>
          <a:p>
            <a:r>
              <a:t>IF SOMETHING BREAKS: "Here's the recording from this morning." Play backup video. Recover at slide 5.</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adjacent product solves PART of this. Clio is great in America but doesn't know Indian law. Harvey is brilliant at drafting but doesn't know Indian law either. MyKase manages cases in India but has no AI. We are the first product where all four columns are checked. That's a defensible position, not a feature."</a:t>
            </a:r>
          </a:p>
          <a:p/>
          <a:p>
            <a:r>
              <a:t>Click. (Target: 3:30 → 4:15)</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three columns at pace. Then read the ask block.</a:t>
            </a:r>
          </a:p>
          <a:p/>
          <a:p>
            <a:r>
              <a:t>End on: "We have a working product, a clear wedge, and a market that wants this badly. We're looking for honest feedback on what would make this indispensable to a working lawyer. Thank you."</a:t>
            </a:r>
          </a:p>
          <a:p/>
          <a:p>
            <a:r>
              <a:t>DO NOT say "Questions?" — judges will ask without prompting.</a:t>
            </a:r>
          </a:p>
          <a:p/>
          <a:p>
            <a:r>
              <a:t>Total target: 4:45 of the 5:00 slot. Q&amp;A fills the buffer.</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E1B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103120"/>
            <a:ext cx="7315200" cy="1828800"/>
          </a:xfrm>
          <a:prstGeom prst="rect">
            <a:avLst/>
          </a:prstGeom>
          <a:noFill/>
        </p:spPr>
        <p:txBody>
          <a:bodyPr wrap="square" lIns="0" rIns="0" tIns="0" bIns="0">
            <a:spAutoFit/>
          </a:bodyPr>
          <a:lstStyle/>
          <a:p>
            <a:pPr algn="l"/>
            <a:r>
              <a:rPr sz="12000" b="1">
                <a:solidFill>
                  <a:srgbClr val="FFFFFF"/>
                </a:solidFill>
                <a:latin typeface="Calibri"/>
              </a:rPr>
              <a:t>lawris.</a:t>
            </a:r>
          </a:p>
        </p:txBody>
      </p:sp>
      <p:sp>
        <p:nvSpPr>
          <p:cNvPr id="4" name="TextBox 3"/>
          <p:cNvSpPr txBox="1"/>
          <p:nvPr/>
        </p:nvSpPr>
        <p:spPr>
          <a:xfrm>
            <a:off x="685800" y="3840480"/>
            <a:ext cx="10058400" cy="640080"/>
          </a:xfrm>
          <a:prstGeom prst="rect">
            <a:avLst/>
          </a:prstGeom>
          <a:noFill/>
        </p:spPr>
        <p:txBody>
          <a:bodyPr wrap="square" lIns="0" rIns="0" tIns="0" bIns="0">
            <a:spAutoFit/>
          </a:bodyPr>
          <a:lstStyle/>
          <a:p>
            <a:pPr algn="l"/>
            <a:r>
              <a:rPr sz="2800" b="0">
                <a:solidFill>
                  <a:srgbClr val="C7C4F0"/>
                </a:solidFill>
                <a:latin typeface="Calibri"/>
              </a:rPr>
              <a:t>An AI agent for Indian advocates.</a:t>
            </a:r>
          </a:p>
        </p:txBody>
      </p:sp>
      <p:sp>
        <p:nvSpPr>
          <p:cNvPr id="5" name="TextBox 4"/>
          <p:cNvSpPr txBox="1"/>
          <p:nvPr/>
        </p:nvSpPr>
        <p:spPr>
          <a:xfrm>
            <a:off x="685800" y="5943600"/>
            <a:ext cx="7315200" cy="365760"/>
          </a:xfrm>
          <a:prstGeom prst="rect">
            <a:avLst/>
          </a:prstGeom>
          <a:noFill/>
        </p:spPr>
        <p:txBody>
          <a:bodyPr wrap="square" lIns="0" rIns="0" tIns="0" bIns="0">
            <a:spAutoFit/>
          </a:bodyPr>
          <a:lstStyle/>
          <a:p>
            <a:pPr algn="l"/>
            <a:r>
              <a:rPr sz="1400" b="0">
                <a:solidFill>
                  <a:srgbClr val="9C9AC4"/>
                </a:solidFill>
                <a:latin typeface="Calibri"/>
              </a:rPr>
              <a:t>Hackathon — Round 1 Ideation</a:t>
            </a:r>
          </a:p>
        </p:txBody>
      </p:sp>
      <p:sp>
        <p:nvSpPr>
          <p:cNvPr id="6" name="TextBox 5"/>
          <p:cNvSpPr txBox="1"/>
          <p:nvPr/>
        </p:nvSpPr>
        <p:spPr>
          <a:xfrm>
            <a:off x="7315200" y="5943600"/>
            <a:ext cx="4572000" cy="365760"/>
          </a:xfrm>
          <a:prstGeom prst="rect">
            <a:avLst/>
          </a:prstGeom>
          <a:noFill/>
        </p:spPr>
        <p:txBody>
          <a:bodyPr wrap="square" lIns="0" rIns="0" tIns="0" bIns="0">
            <a:spAutoFit/>
          </a:bodyPr>
          <a:lstStyle/>
          <a:p>
            <a:pPr algn="r"/>
            <a:r>
              <a:rPr sz="1400" b="0">
                <a:solidFill>
                  <a:srgbClr val="9C9AC4"/>
                </a:solidFill>
                <a:latin typeface="Calibri"/>
              </a:rPr>
              <a:t>live demo · vit_hackathon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A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6446520"/>
            <a:ext cx="1828800" cy="274320"/>
          </a:xfrm>
          <a:prstGeom prst="rect">
            <a:avLst/>
          </a:prstGeom>
          <a:noFill/>
        </p:spPr>
        <p:txBody>
          <a:bodyPr wrap="square" lIns="0" rIns="0" tIns="0" bIns="0">
            <a:spAutoFit/>
          </a:bodyPr>
          <a:lstStyle/>
          <a:p>
            <a:pPr algn="l"/>
            <a:r>
              <a:rPr sz="1000" b="1">
                <a:solidFill>
                  <a:srgbClr val="78716C"/>
                </a:solidFill>
                <a:latin typeface="Calibri"/>
              </a:rPr>
              <a:t>LAWRIS</a:t>
            </a:r>
          </a:p>
        </p:txBody>
      </p:sp>
      <p:sp>
        <p:nvSpPr>
          <p:cNvPr id="4" name="TextBox 3"/>
          <p:cNvSpPr txBox="1"/>
          <p:nvPr/>
        </p:nvSpPr>
        <p:spPr>
          <a:xfrm>
            <a:off x="10789920" y="6446520"/>
            <a:ext cx="914400" cy="274320"/>
          </a:xfrm>
          <a:prstGeom prst="rect">
            <a:avLst/>
          </a:prstGeom>
          <a:noFill/>
        </p:spPr>
        <p:txBody>
          <a:bodyPr wrap="square" lIns="0" rIns="0" tIns="0" bIns="0">
            <a:spAutoFit/>
          </a:bodyPr>
          <a:lstStyle/>
          <a:p>
            <a:pPr algn="r"/>
            <a:r>
              <a:rPr sz="1000" b="0">
                <a:solidFill>
                  <a:srgbClr val="78716C"/>
                </a:solidFill>
                <a:latin typeface="Calibri"/>
              </a:rPr>
              <a:t>2 / 6</a:t>
            </a:r>
          </a:p>
        </p:txBody>
      </p:sp>
      <p:sp>
        <p:nvSpPr>
          <p:cNvPr id="5" name="TextBox 4"/>
          <p:cNvSpPr txBox="1"/>
          <p:nvPr/>
        </p:nvSpPr>
        <p:spPr>
          <a:xfrm>
            <a:off x="685800" y="548640"/>
            <a:ext cx="7315200" cy="548640"/>
          </a:xfrm>
          <a:prstGeom prst="rect">
            <a:avLst/>
          </a:prstGeom>
          <a:noFill/>
        </p:spPr>
        <p:txBody>
          <a:bodyPr wrap="square" lIns="0" rIns="0" tIns="0" bIns="0">
            <a:spAutoFit/>
          </a:bodyPr>
          <a:lstStyle/>
          <a:p>
            <a:pPr algn="l"/>
            <a:r>
              <a:rPr sz="1800" b="1">
                <a:solidFill>
                  <a:srgbClr val="3F3D99"/>
                </a:solidFill>
                <a:latin typeface="Calibri"/>
              </a:rPr>
              <a:t>The problem</a:t>
            </a:r>
          </a:p>
        </p:txBody>
      </p:sp>
      <p:sp>
        <p:nvSpPr>
          <p:cNvPr id="6" name="TextBox 5"/>
          <p:cNvSpPr txBox="1"/>
          <p:nvPr/>
        </p:nvSpPr>
        <p:spPr>
          <a:xfrm>
            <a:off x="685800" y="1005840"/>
            <a:ext cx="10972800" cy="822960"/>
          </a:xfrm>
          <a:prstGeom prst="rect">
            <a:avLst/>
          </a:prstGeom>
          <a:noFill/>
        </p:spPr>
        <p:txBody>
          <a:bodyPr wrap="square" lIns="0" rIns="0" tIns="0" bIns="0">
            <a:spAutoFit/>
          </a:bodyPr>
          <a:lstStyle/>
          <a:p>
            <a:pPr algn="l"/>
            <a:r>
              <a:rPr sz="3600" b="1">
                <a:solidFill>
                  <a:srgbClr val="1C1917"/>
                </a:solidFill>
                <a:latin typeface="Calibri"/>
              </a:rPr>
              <a:t>Indian lawyers are drowning in their own workflow.</a:t>
            </a:r>
          </a:p>
        </p:txBody>
      </p:sp>
      <p:sp>
        <p:nvSpPr>
          <p:cNvPr id="7" name="TextBox 6"/>
          <p:cNvSpPr txBox="1"/>
          <p:nvPr/>
        </p:nvSpPr>
        <p:spPr>
          <a:xfrm>
            <a:off x="685800" y="2468880"/>
            <a:ext cx="3657600" cy="1097280"/>
          </a:xfrm>
          <a:prstGeom prst="rect">
            <a:avLst/>
          </a:prstGeom>
          <a:noFill/>
        </p:spPr>
        <p:txBody>
          <a:bodyPr wrap="square" lIns="0" rIns="0" tIns="0" bIns="0">
            <a:spAutoFit/>
          </a:bodyPr>
          <a:lstStyle/>
          <a:p>
            <a:pPr algn="l"/>
            <a:r>
              <a:rPr sz="5600" b="1">
                <a:solidFill>
                  <a:srgbClr val="B91C1C"/>
                </a:solidFill>
                <a:latin typeface="Calibri"/>
              </a:rPr>
              <a:t>6+ hrs / week</a:t>
            </a:r>
          </a:p>
        </p:txBody>
      </p:sp>
      <p:sp>
        <p:nvSpPr>
          <p:cNvPr id="8" name="TextBox 7"/>
          <p:cNvSpPr txBox="1"/>
          <p:nvPr/>
        </p:nvSpPr>
        <p:spPr>
          <a:xfrm>
            <a:off x="685800" y="3611880"/>
            <a:ext cx="3657600" cy="914400"/>
          </a:xfrm>
          <a:prstGeom prst="rect">
            <a:avLst/>
          </a:prstGeom>
          <a:noFill/>
        </p:spPr>
        <p:txBody>
          <a:bodyPr wrap="square" lIns="0" rIns="0" tIns="0" bIns="0">
            <a:spAutoFit/>
          </a:bodyPr>
          <a:lstStyle/>
          <a:p>
            <a:pPr algn="l"/>
            <a:r>
              <a:rPr sz="1600" b="0">
                <a:solidFill>
                  <a:srgbClr val="78716C"/>
                </a:solidFill>
                <a:latin typeface="Calibri"/>
              </a:rPr>
              <a:t>lost just locating documents</a:t>
            </a:r>
          </a:p>
        </p:txBody>
      </p:sp>
      <p:sp>
        <p:nvSpPr>
          <p:cNvPr id="9" name="TextBox 8"/>
          <p:cNvSpPr txBox="1"/>
          <p:nvPr/>
        </p:nvSpPr>
        <p:spPr>
          <a:xfrm>
            <a:off x="4526280" y="2468880"/>
            <a:ext cx="3657600" cy="1097280"/>
          </a:xfrm>
          <a:prstGeom prst="rect">
            <a:avLst/>
          </a:prstGeom>
          <a:noFill/>
        </p:spPr>
        <p:txBody>
          <a:bodyPr wrap="square" lIns="0" rIns="0" tIns="0" bIns="0">
            <a:spAutoFit/>
          </a:bodyPr>
          <a:lstStyle/>
          <a:p>
            <a:pPr algn="l"/>
            <a:r>
              <a:rPr sz="5600" b="1">
                <a:solidFill>
                  <a:srgbClr val="B45309"/>
                </a:solidFill>
                <a:latin typeface="Calibri"/>
              </a:rPr>
              <a:t>40–60%</a:t>
            </a:r>
          </a:p>
        </p:txBody>
      </p:sp>
      <p:sp>
        <p:nvSpPr>
          <p:cNvPr id="10" name="TextBox 9"/>
          <p:cNvSpPr txBox="1"/>
          <p:nvPr/>
        </p:nvSpPr>
        <p:spPr>
          <a:xfrm>
            <a:off x="4526280" y="3611880"/>
            <a:ext cx="3657600" cy="914400"/>
          </a:xfrm>
          <a:prstGeom prst="rect">
            <a:avLst/>
          </a:prstGeom>
          <a:noFill/>
        </p:spPr>
        <p:txBody>
          <a:bodyPr wrap="square" lIns="0" rIns="0" tIns="0" bIns="0">
            <a:spAutoFit/>
          </a:bodyPr>
          <a:lstStyle/>
          <a:p>
            <a:pPr algn="l"/>
            <a:r>
              <a:rPr sz="1600" b="0">
                <a:solidFill>
                  <a:srgbClr val="78716C"/>
                </a:solidFill>
                <a:latin typeface="Calibri"/>
              </a:rPr>
              <a:t>of billable time on repetitive drafts</a:t>
            </a:r>
          </a:p>
        </p:txBody>
      </p:sp>
      <p:sp>
        <p:nvSpPr>
          <p:cNvPr id="11" name="TextBox 10"/>
          <p:cNvSpPr txBox="1"/>
          <p:nvPr/>
        </p:nvSpPr>
        <p:spPr>
          <a:xfrm>
            <a:off x="8366760" y="2468880"/>
            <a:ext cx="3657600" cy="1097280"/>
          </a:xfrm>
          <a:prstGeom prst="rect">
            <a:avLst/>
          </a:prstGeom>
          <a:noFill/>
        </p:spPr>
        <p:txBody>
          <a:bodyPr wrap="square" lIns="0" rIns="0" tIns="0" bIns="0">
            <a:spAutoFit/>
          </a:bodyPr>
          <a:lstStyle/>
          <a:p>
            <a:pPr algn="l"/>
            <a:r>
              <a:rPr sz="5600" b="1">
                <a:solidFill>
                  <a:srgbClr val="3F3D99"/>
                </a:solidFill>
                <a:latin typeface="Calibri"/>
              </a:rPr>
              <a:t>77%</a:t>
            </a:r>
          </a:p>
        </p:txBody>
      </p:sp>
      <p:sp>
        <p:nvSpPr>
          <p:cNvPr id="12" name="TextBox 11"/>
          <p:cNvSpPr txBox="1"/>
          <p:nvPr/>
        </p:nvSpPr>
        <p:spPr>
          <a:xfrm>
            <a:off x="8366760" y="3611880"/>
            <a:ext cx="3657600" cy="914400"/>
          </a:xfrm>
          <a:prstGeom prst="rect">
            <a:avLst/>
          </a:prstGeom>
          <a:noFill/>
        </p:spPr>
        <p:txBody>
          <a:bodyPr wrap="square" lIns="0" rIns="0" tIns="0" bIns="0">
            <a:spAutoFit/>
          </a:bodyPr>
          <a:lstStyle/>
          <a:p>
            <a:pPr algn="l"/>
            <a:r>
              <a:rPr sz="1600" b="0">
                <a:solidFill>
                  <a:srgbClr val="78716C"/>
                </a:solidFill>
                <a:latin typeface="Calibri"/>
              </a:rPr>
              <a:t>of lawyers run cases out of email</a:t>
            </a:r>
          </a:p>
        </p:txBody>
      </p:sp>
      <p:sp>
        <p:nvSpPr>
          <p:cNvPr id="13" name="TextBox 12"/>
          <p:cNvSpPr txBox="1"/>
          <p:nvPr/>
        </p:nvSpPr>
        <p:spPr>
          <a:xfrm>
            <a:off x="685800" y="5120640"/>
            <a:ext cx="10972800" cy="1097280"/>
          </a:xfrm>
          <a:prstGeom prst="rect">
            <a:avLst/>
          </a:prstGeom>
          <a:noFill/>
        </p:spPr>
        <p:txBody>
          <a:bodyPr wrap="square" lIns="0" rIns="0" tIns="0" bIns="0">
            <a:spAutoFit/>
          </a:bodyPr>
          <a:lstStyle/>
          <a:p>
            <a:pPr algn="l"/>
            <a:r>
              <a:rPr sz="1500" b="0">
                <a:solidFill>
                  <a:srgbClr val="78716C"/>
                </a:solidFill>
                <a:latin typeface="Calibri"/>
              </a:rPr>
              <a:t>No existing Indian tool unifies case management, AI drafting, deadline intelligence, and research grounded in Indian law — MyKase has no AI, Harvey has no Indian law, IndianKanoon is search-only.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A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6446520"/>
            <a:ext cx="1828800" cy="274320"/>
          </a:xfrm>
          <a:prstGeom prst="rect">
            <a:avLst/>
          </a:prstGeom>
          <a:noFill/>
        </p:spPr>
        <p:txBody>
          <a:bodyPr wrap="square" lIns="0" rIns="0" tIns="0" bIns="0">
            <a:spAutoFit/>
          </a:bodyPr>
          <a:lstStyle/>
          <a:p>
            <a:pPr algn="l"/>
            <a:r>
              <a:rPr sz="1000" b="1">
                <a:solidFill>
                  <a:srgbClr val="78716C"/>
                </a:solidFill>
                <a:latin typeface="Calibri"/>
              </a:rPr>
              <a:t>LAWRIS</a:t>
            </a:r>
          </a:p>
        </p:txBody>
      </p:sp>
      <p:sp>
        <p:nvSpPr>
          <p:cNvPr id="4" name="TextBox 3"/>
          <p:cNvSpPr txBox="1"/>
          <p:nvPr/>
        </p:nvSpPr>
        <p:spPr>
          <a:xfrm>
            <a:off x="10789920" y="6446520"/>
            <a:ext cx="914400" cy="274320"/>
          </a:xfrm>
          <a:prstGeom prst="rect">
            <a:avLst/>
          </a:prstGeom>
          <a:noFill/>
        </p:spPr>
        <p:txBody>
          <a:bodyPr wrap="square" lIns="0" rIns="0" tIns="0" bIns="0">
            <a:spAutoFit/>
          </a:bodyPr>
          <a:lstStyle/>
          <a:p>
            <a:pPr algn="r"/>
            <a:r>
              <a:rPr sz="1000" b="0">
                <a:solidFill>
                  <a:srgbClr val="78716C"/>
                </a:solidFill>
                <a:latin typeface="Calibri"/>
              </a:rPr>
              <a:t>3 / 6</a:t>
            </a:r>
          </a:p>
        </p:txBody>
      </p:sp>
      <p:sp>
        <p:nvSpPr>
          <p:cNvPr id="5" name="TextBox 4"/>
          <p:cNvSpPr txBox="1"/>
          <p:nvPr/>
        </p:nvSpPr>
        <p:spPr>
          <a:xfrm>
            <a:off x="685800" y="548640"/>
            <a:ext cx="7315200" cy="548640"/>
          </a:xfrm>
          <a:prstGeom prst="rect">
            <a:avLst/>
          </a:prstGeom>
          <a:noFill/>
        </p:spPr>
        <p:txBody>
          <a:bodyPr wrap="square" lIns="0" rIns="0" tIns="0" bIns="0">
            <a:spAutoFit/>
          </a:bodyPr>
          <a:lstStyle/>
          <a:p>
            <a:pPr algn="l"/>
            <a:r>
              <a:rPr sz="1800" b="1">
                <a:solidFill>
                  <a:srgbClr val="3F3D99"/>
                </a:solidFill>
                <a:latin typeface="Calibri"/>
              </a:rPr>
              <a:t>What we built</a:t>
            </a:r>
          </a:p>
        </p:txBody>
      </p:sp>
      <p:sp>
        <p:nvSpPr>
          <p:cNvPr id="6" name="TextBox 5"/>
          <p:cNvSpPr txBox="1"/>
          <p:nvPr/>
        </p:nvSpPr>
        <p:spPr>
          <a:xfrm>
            <a:off x="685800" y="1051560"/>
            <a:ext cx="7315200" cy="1005840"/>
          </a:xfrm>
          <a:prstGeom prst="rect">
            <a:avLst/>
          </a:prstGeom>
          <a:noFill/>
        </p:spPr>
        <p:txBody>
          <a:bodyPr wrap="square" lIns="0" rIns="0" tIns="0" bIns="0">
            <a:spAutoFit/>
          </a:bodyPr>
          <a:lstStyle/>
          <a:p>
            <a:pPr algn="l"/>
            <a:r>
              <a:rPr sz="5600" b="1">
                <a:solidFill>
                  <a:srgbClr val="1C1917"/>
                </a:solidFill>
                <a:latin typeface="Calibri"/>
              </a:rPr>
              <a:t>Lawris</a:t>
            </a:r>
          </a:p>
        </p:txBody>
      </p:sp>
      <p:sp>
        <p:nvSpPr>
          <p:cNvPr id="7" name="TextBox 6"/>
          <p:cNvSpPr txBox="1"/>
          <p:nvPr/>
        </p:nvSpPr>
        <p:spPr>
          <a:xfrm>
            <a:off x="685800" y="2286000"/>
            <a:ext cx="10789920" cy="1371600"/>
          </a:xfrm>
          <a:prstGeom prst="rect">
            <a:avLst/>
          </a:prstGeom>
          <a:noFill/>
        </p:spPr>
        <p:txBody>
          <a:bodyPr wrap="square" lIns="0" rIns="0" tIns="0" bIns="0">
            <a:spAutoFit/>
          </a:bodyPr>
          <a:lstStyle/>
          <a:p>
            <a:pPr algn="l"/>
            <a:r>
              <a:rPr sz="2200" b="0">
                <a:solidFill>
                  <a:srgbClr val="1C1917"/>
                </a:solidFill>
                <a:latin typeface="Calibri"/>
              </a:rPr>
              <a:t>Open a case → it auto-computes statutory deadlines, drafts court-ready documents from case facts in under 30 seconds, and answers legal questions grounded in the case context.</a:t>
            </a:r>
          </a:p>
        </p:txBody>
      </p:sp>
      <p:sp>
        <p:nvSpPr>
          <p:cNvPr id="8" name="Rectangle 7"/>
          <p:cNvSpPr/>
          <p:nvPr/>
        </p:nvSpPr>
        <p:spPr>
          <a:xfrm>
            <a:off x="685800" y="4114800"/>
            <a:ext cx="137160" cy="365760"/>
          </a:xfrm>
          <a:prstGeom prst="rect">
            <a:avLst/>
          </a:prstGeom>
          <a:solidFill>
            <a:srgbClr val="3F3D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4114800"/>
            <a:ext cx="3383280" cy="365760"/>
          </a:xfrm>
          <a:prstGeom prst="rect">
            <a:avLst/>
          </a:prstGeom>
          <a:noFill/>
        </p:spPr>
        <p:txBody>
          <a:bodyPr wrap="square" lIns="0" rIns="0" tIns="0" bIns="0">
            <a:spAutoFit/>
          </a:bodyPr>
          <a:lstStyle/>
          <a:p>
            <a:pPr algn="l"/>
            <a:r>
              <a:rPr sz="1200" b="1">
                <a:solidFill>
                  <a:srgbClr val="3F3D99"/>
                </a:solidFill>
                <a:latin typeface="Calibri"/>
              </a:rPr>
              <a:t>DEADLINE BRAIN</a:t>
            </a:r>
          </a:p>
        </p:txBody>
      </p:sp>
      <p:sp>
        <p:nvSpPr>
          <p:cNvPr id="10" name="TextBox 9"/>
          <p:cNvSpPr txBox="1"/>
          <p:nvPr/>
        </p:nvSpPr>
        <p:spPr>
          <a:xfrm>
            <a:off x="960120" y="4572000"/>
            <a:ext cx="3383280" cy="1828800"/>
          </a:xfrm>
          <a:prstGeom prst="rect">
            <a:avLst/>
          </a:prstGeom>
          <a:noFill/>
        </p:spPr>
        <p:txBody>
          <a:bodyPr wrap="square" lIns="0" rIns="0" tIns="0" bIns="0">
            <a:spAutoFit/>
          </a:bodyPr>
          <a:lstStyle/>
          <a:p>
            <a:pPr algn="l"/>
            <a:r>
              <a:rPr sz="1400" b="0">
                <a:solidFill>
                  <a:srgbClr val="1C1917"/>
                </a:solidFill>
                <a:latin typeface="Calibri"/>
              </a:rPr>
              <a:t>60/90-day chargesheet rule, limitation periods, hearing alerts — auto-computed from FIR data.</a:t>
            </a:r>
          </a:p>
        </p:txBody>
      </p:sp>
      <p:sp>
        <p:nvSpPr>
          <p:cNvPr id="11" name="Rectangle 10"/>
          <p:cNvSpPr/>
          <p:nvPr/>
        </p:nvSpPr>
        <p:spPr>
          <a:xfrm>
            <a:off x="4526280" y="4114800"/>
            <a:ext cx="137160" cy="365760"/>
          </a:xfrm>
          <a:prstGeom prst="rect">
            <a:avLst/>
          </a:prstGeom>
          <a:solidFill>
            <a:srgbClr val="3F3D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800600" y="4114800"/>
            <a:ext cx="3383280" cy="365760"/>
          </a:xfrm>
          <a:prstGeom prst="rect">
            <a:avLst/>
          </a:prstGeom>
          <a:noFill/>
        </p:spPr>
        <p:txBody>
          <a:bodyPr wrap="square" lIns="0" rIns="0" tIns="0" bIns="0">
            <a:spAutoFit/>
          </a:bodyPr>
          <a:lstStyle/>
          <a:p>
            <a:pPr algn="l"/>
            <a:r>
              <a:rPr sz="1200" b="1">
                <a:solidFill>
                  <a:srgbClr val="3F3D99"/>
                </a:solidFill>
                <a:latin typeface="Calibri"/>
              </a:rPr>
              <a:t>AI DRAFTING</a:t>
            </a:r>
          </a:p>
        </p:txBody>
      </p:sp>
      <p:sp>
        <p:nvSpPr>
          <p:cNvPr id="13" name="TextBox 12"/>
          <p:cNvSpPr txBox="1"/>
          <p:nvPr/>
        </p:nvSpPr>
        <p:spPr>
          <a:xfrm>
            <a:off x="4800600" y="4572000"/>
            <a:ext cx="3383280" cy="1828800"/>
          </a:xfrm>
          <a:prstGeom prst="rect">
            <a:avLst/>
          </a:prstGeom>
          <a:noFill/>
        </p:spPr>
        <p:txBody>
          <a:bodyPr wrap="square" lIns="0" rIns="0" tIns="0" bIns="0">
            <a:spAutoFit/>
          </a:bodyPr>
          <a:lstStyle/>
          <a:p>
            <a:pPr algn="l"/>
            <a:r>
              <a:rPr sz="1400" b="0">
                <a:solidFill>
                  <a:srgbClr val="1C1917"/>
                </a:solidFill>
                <a:latin typeface="Calibri"/>
              </a:rPr>
              <a:t>Bail applications, plaints, written statements — streamed in &lt;30s with real Indian-court formatting.</a:t>
            </a:r>
          </a:p>
        </p:txBody>
      </p:sp>
      <p:sp>
        <p:nvSpPr>
          <p:cNvPr id="14" name="Rectangle 13"/>
          <p:cNvSpPr/>
          <p:nvPr/>
        </p:nvSpPr>
        <p:spPr>
          <a:xfrm>
            <a:off x="8366760" y="4114800"/>
            <a:ext cx="137160" cy="365760"/>
          </a:xfrm>
          <a:prstGeom prst="rect">
            <a:avLst/>
          </a:prstGeom>
          <a:solidFill>
            <a:srgbClr val="3F3D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641080" y="4114800"/>
            <a:ext cx="3383280" cy="365760"/>
          </a:xfrm>
          <a:prstGeom prst="rect">
            <a:avLst/>
          </a:prstGeom>
          <a:noFill/>
        </p:spPr>
        <p:txBody>
          <a:bodyPr wrap="square" lIns="0" rIns="0" tIns="0" bIns="0">
            <a:spAutoFit/>
          </a:bodyPr>
          <a:lstStyle/>
          <a:p>
            <a:pPr algn="l"/>
            <a:r>
              <a:rPr sz="1200" b="1">
                <a:solidFill>
                  <a:srgbClr val="3F3D99"/>
                </a:solidFill>
                <a:latin typeface="Calibri"/>
              </a:rPr>
              <a:t>CASE-AWARE SEARCH</a:t>
            </a:r>
          </a:p>
        </p:txBody>
      </p:sp>
      <p:sp>
        <p:nvSpPr>
          <p:cNvPr id="16" name="TextBox 15"/>
          <p:cNvSpPr txBox="1"/>
          <p:nvPr/>
        </p:nvSpPr>
        <p:spPr>
          <a:xfrm>
            <a:off x="8641080" y="4572000"/>
            <a:ext cx="3383280" cy="1828800"/>
          </a:xfrm>
          <a:prstGeom prst="rect">
            <a:avLst/>
          </a:prstGeom>
          <a:noFill/>
        </p:spPr>
        <p:txBody>
          <a:bodyPr wrap="square" lIns="0" rIns="0" tIns="0" bIns="0">
            <a:spAutoFit/>
          </a:bodyPr>
          <a:lstStyle/>
          <a:p>
            <a:pPr algn="l"/>
            <a:r>
              <a:rPr sz="1400" b="0">
                <a:solidFill>
                  <a:srgbClr val="1C1917"/>
                </a:solidFill>
                <a:latin typeface="Calibri"/>
              </a:rPr>
              <a:t>Research grounded in this case's facts. Citations to Supreme Court precedents and BNSS sections.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E1B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6446520"/>
            <a:ext cx="1828800" cy="274320"/>
          </a:xfrm>
          <a:prstGeom prst="rect">
            <a:avLst/>
          </a:prstGeom>
          <a:noFill/>
        </p:spPr>
        <p:txBody>
          <a:bodyPr wrap="square" lIns="0" rIns="0" tIns="0" bIns="0">
            <a:spAutoFit/>
          </a:bodyPr>
          <a:lstStyle/>
          <a:p>
            <a:pPr algn="l"/>
            <a:r>
              <a:rPr sz="1000" b="1">
                <a:solidFill>
                  <a:srgbClr val="78716C"/>
                </a:solidFill>
                <a:latin typeface="Calibri"/>
              </a:rPr>
              <a:t>LAWRIS</a:t>
            </a:r>
          </a:p>
        </p:txBody>
      </p:sp>
      <p:sp>
        <p:nvSpPr>
          <p:cNvPr id="4" name="TextBox 3"/>
          <p:cNvSpPr txBox="1"/>
          <p:nvPr/>
        </p:nvSpPr>
        <p:spPr>
          <a:xfrm>
            <a:off x="10789920" y="6446520"/>
            <a:ext cx="914400" cy="274320"/>
          </a:xfrm>
          <a:prstGeom prst="rect">
            <a:avLst/>
          </a:prstGeom>
          <a:noFill/>
        </p:spPr>
        <p:txBody>
          <a:bodyPr wrap="square" lIns="0" rIns="0" tIns="0" bIns="0">
            <a:spAutoFit/>
          </a:bodyPr>
          <a:lstStyle/>
          <a:p>
            <a:pPr algn="r"/>
            <a:r>
              <a:rPr sz="1000" b="0">
                <a:solidFill>
                  <a:srgbClr val="78716C"/>
                </a:solidFill>
                <a:latin typeface="Calibri"/>
              </a:rPr>
              <a:t>4 / 6</a:t>
            </a:r>
          </a:p>
        </p:txBody>
      </p:sp>
      <p:sp>
        <p:nvSpPr>
          <p:cNvPr id="5" name="TextBox 4"/>
          <p:cNvSpPr txBox="1"/>
          <p:nvPr/>
        </p:nvSpPr>
        <p:spPr>
          <a:xfrm>
            <a:off x="685800" y="2834640"/>
            <a:ext cx="10972800" cy="1097280"/>
          </a:xfrm>
          <a:prstGeom prst="rect">
            <a:avLst/>
          </a:prstGeom>
          <a:noFill/>
        </p:spPr>
        <p:txBody>
          <a:bodyPr wrap="square" lIns="0" rIns="0" tIns="0" bIns="0">
            <a:spAutoFit/>
          </a:bodyPr>
          <a:lstStyle/>
          <a:p>
            <a:pPr algn="ctr"/>
            <a:r>
              <a:rPr sz="8000" b="1">
                <a:solidFill>
                  <a:srgbClr val="FFFFFF"/>
                </a:solidFill>
                <a:latin typeface="Calibri"/>
              </a:rPr>
              <a:t>Live demo</a:t>
            </a:r>
          </a:p>
        </p:txBody>
      </p:sp>
      <p:sp>
        <p:nvSpPr>
          <p:cNvPr id="6" name="TextBox 5"/>
          <p:cNvSpPr txBox="1"/>
          <p:nvPr/>
        </p:nvSpPr>
        <p:spPr>
          <a:xfrm>
            <a:off x="685800" y="4023360"/>
            <a:ext cx="10972800" cy="548640"/>
          </a:xfrm>
          <a:prstGeom prst="rect">
            <a:avLst/>
          </a:prstGeom>
          <a:noFill/>
        </p:spPr>
        <p:txBody>
          <a:bodyPr wrap="square" lIns="0" rIns="0" tIns="0" bIns="0">
            <a:spAutoFit/>
          </a:bodyPr>
          <a:lstStyle/>
          <a:p>
            <a:pPr algn="ctr"/>
            <a:r>
              <a:rPr sz="2400" b="0">
                <a:solidFill>
                  <a:srgbClr val="C7C4F0"/>
                </a:solidFill>
                <a:latin typeface="Calibri"/>
              </a:rPr>
              <a:t>lawris.app  ·  open the POCSO case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A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6446520"/>
            <a:ext cx="1828800" cy="274320"/>
          </a:xfrm>
          <a:prstGeom prst="rect">
            <a:avLst/>
          </a:prstGeom>
          <a:noFill/>
        </p:spPr>
        <p:txBody>
          <a:bodyPr wrap="square" lIns="0" rIns="0" tIns="0" bIns="0">
            <a:spAutoFit/>
          </a:bodyPr>
          <a:lstStyle/>
          <a:p>
            <a:pPr algn="l"/>
            <a:r>
              <a:rPr sz="1000" b="1">
                <a:solidFill>
                  <a:srgbClr val="78716C"/>
                </a:solidFill>
                <a:latin typeface="Calibri"/>
              </a:rPr>
              <a:t>LAWRIS</a:t>
            </a:r>
          </a:p>
        </p:txBody>
      </p:sp>
      <p:sp>
        <p:nvSpPr>
          <p:cNvPr id="4" name="TextBox 3"/>
          <p:cNvSpPr txBox="1"/>
          <p:nvPr/>
        </p:nvSpPr>
        <p:spPr>
          <a:xfrm>
            <a:off x="10789920" y="6446520"/>
            <a:ext cx="914400" cy="274320"/>
          </a:xfrm>
          <a:prstGeom prst="rect">
            <a:avLst/>
          </a:prstGeom>
          <a:noFill/>
        </p:spPr>
        <p:txBody>
          <a:bodyPr wrap="square" lIns="0" rIns="0" tIns="0" bIns="0">
            <a:spAutoFit/>
          </a:bodyPr>
          <a:lstStyle/>
          <a:p>
            <a:pPr algn="r"/>
            <a:r>
              <a:rPr sz="1000" b="0">
                <a:solidFill>
                  <a:srgbClr val="78716C"/>
                </a:solidFill>
                <a:latin typeface="Calibri"/>
              </a:rPr>
              <a:t>5 / 6</a:t>
            </a:r>
          </a:p>
        </p:txBody>
      </p:sp>
      <p:sp>
        <p:nvSpPr>
          <p:cNvPr id="5" name="TextBox 4"/>
          <p:cNvSpPr txBox="1"/>
          <p:nvPr/>
        </p:nvSpPr>
        <p:spPr>
          <a:xfrm>
            <a:off x="685800" y="548640"/>
            <a:ext cx="7315200" cy="548640"/>
          </a:xfrm>
          <a:prstGeom prst="rect">
            <a:avLst/>
          </a:prstGeom>
          <a:noFill/>
        </p:spPr>
        <p:txBody>
          <a:bodyPr wrap="square" lIns="0" rIns="0" tIns="0" bIns="0">
            <a:spAutoFit/>
          </a:bodyPr>
          <a:lstStyle/>
          <a:p>
            <a:pPr algn="l"/>
            <a:r>
              <a:rPr sz="1800" b="1">
                <a:solidFill>
                  <a:srgbClr val="3F3D99"/>
                </a:solidFill>
                <a:latin typeface="Calibri"/>
              </a:rPr>
              <a:t>Why us, not them</a:t>
            </a:r>
          </a:p>
        </p:txBody>
      </p:sp>
      <p:sp>
        <p:nvSpPr>
          <p:cNvPr id="6" name="TextBox 5"/>
          <p:cNvSpPr txBox="1"/>
          <p:nvPr/>
        </p:nvSpPr>
        <p:spPr>
          <a:xfrm>
            <a:off x="685800" y="1051560"/>
            <a:ext cx="10972800" cy="640080"/>
          </a:xfrm>
          <a:prstGeom prst="rect">
            <a:avLst/>
          </a:prstGeom>
          <a:noFill/>
        </p:spPr>
        <p:txBody>
          <a:bodyPr wrap="square" lIns="0" rIns="0" tIns="0" bIns="0">
            <a:spAutoFit/>
          </a:bodyPr>
          <a:lstStyle/>
          <a:p>
            <a:pPr algn="l"/>
            <a:r>
              <a:rPr sz="2400" b="1">
                <a:solidFill>
                  <a:srgbClr val="1C1917"/>
                </a:solidFill>
                <a:latin typeface="Calibri"/>
              </a:rPr>
              <a:t>Adjacent products solve part of this. None solve all of it.</a:t>
            </a:r>
          </a:p>
        </p:txBody>
      </p:sp>
      <p:graphicFrame>
        <p:nvGraphicFramePr>
          <p:cNvPr id="7" name="Table 6"/>
          <p:cNvGraphicFramePr>
            <a:graphicFrameLocks noGrp="1"/>
          </p:cNvGraphicFramePr>
          <p:nvPr/>
        </p:nvGraphicFramePr>
        <p:xfrm>
          <a:off x="685800" y="2194560"/>
          <a:ext cx="11247120" cy="3017520"/>
        </p:xfrm>
        <a:graphic>
          <a:graphicData uri="http://schemas.openxmlformats.org/drawingml/2006/table">
            <a:tbl>
              <a:tblPr firstRow="1" bandRow="1">
                <a:tableStyleId>{5C22544A-7EE6-4342-B048-85BDC9FD1C3A}</a:tableStyleId>
              </a:tblPr>
              <a:tblGrid>
                <a:gridCol w="2834640"/>
                <a:gridCol w="2103120"/>
                <a:gridCol w="2103120"/>
                <a:gridCol w="2103120"/>
                <a:gridCol w="2103120"/>
              </a:tblGrid>
              <a:tr h="502920">
                <a:tc>
                  <a:txBody>
                    <a:bodyPr/>
                    <a:lstStyle/>
                    <a:p>
                      <a:pPr algn="l"/>
                      <a:r>
                        <a:rPr sz="1300" b="1">
                          <a:solidFill>
                            <a:srgbClr val="FFFFFF"/>
                          </a:solidFill>
                          <a:latin typeface="Calibri"/>
                        </a:rPr>
                        <a:t/>
                      </a:r>
                    </a:p>
                  </a:txBody>
                  <a:tcPr>
                    <a:solidFill>
                      <a:srgbClr val="3F3D99"/>
                    </a:solidFill>
                  </a:tcPr>
                </a:tc>
                <a:tc>
                  <a:txBody>
                    <a:bodyPr/>
                    <a:lstStyle/>
                    <a:p>
                      <a:pPr algn="ctr"/>
                      <a:r>
                        <a:rPr sz="1300" b="1">
                          <a:solidFill>
                            <a:srgbClr val="FFFFFF"/>
                          </a:solidFill>
                          <a:latin typeface="Calibri"/>
                        </a:rPr>
                        <a:t>Case mgmt</a:t>
                      </a:r>
                    </a:p>
                  </a:txBody>
                  <a:tcPr>
                    <a:solidFill>
                      <a:srgbClr val="3F3D99"/>
                    </a:solidFill>
                  </a:tcPr>
                </a:tc>
                <a:tc>
                  <a:txBody>
                    <a:bodyPr/>
                    <a:lstStyle/>
                    <a:p>
                      <a:pPr algn="ctr"/>
                      <a:r>
                        <a:rPr sz="1300" b="1">
                          <a:solidFill>
                            <a:srgbClr val="FFFFFF"/>
                          </a:solidFill>
                          <a:latin typeface="Calibri"/>
                        </a:rPr>
                        <a:t>AI drafting</a:t>
                      </a:r>
                    </a:p>
                  </a:txBody>
                  <a:tcPr>
                    <a:solidFill>
                      <a:srgbClr val="3F3D99"/>
                    </a:solidFill>
                  </a:tcPr>
                </a:tc>
                <a:tc>
                  <a:txBody>
                    <a:bodyPr/>
                    <a:lstStyle/>
                    <a:p>
                      <a:pPr algn="ctr"/>
                      <a:r>
                        <a:rPr sz="1300" b="1">
                          <a:solidFill>
                            <a:srgbClr val="FFFFFF"/>
                          </a:solidFill>
                          <a:latin typeface="Calibri"/>
                        </a:rPr>
                        <a:t>Indian law</a:t>
                      </a:r>
                    </a:p>
                  </a:txBody>
                  <a:tcPr>
                    <a:solidFill>
                      <a:srgbClr val="3F3D99"/>
                    </a:solidFill>
                  </a:tcPr>
                </a:tc>
                <a:tc>
                  <a:txBody>
                    <a:bodyPr/>
                    <a:lstStyle/>
                    <a:p>
                      <a:pPr algn="ctr"/>
                      <a:r>
                        <a:rPr sz="1300" b="1">
                          <a:solidFill>
                            <a:srgbClr val="FFFFFF"/>
                          </a:solidFill>
                          <a:latin typeface="Calibri"/>
                        </a:rPr>
                        <a:t>Deadline brain</a:t>
                      </a:r>
                    </a:p>
                  </a:txBody>
                  <a:tcPr>
                    <a:solidFill>
                      <a:srgbClr val="3F3D99"/>
                    </a:solidFill>
                  </a:tcPr>
                </a:tc>
              </a:tr>
              <a:tr h="502920">
                <a:tc>
                  <a:txBody>
                    <a:bodyPr/>
                    <a:lstStyle/>
                    <a:p>
                      <a:pPr algn="l"/>
                      <a:r>
                        <a:rPr sz="1300" b="1">
                          <a:solidFill>
                            <a:srgbClr val="B45309"/>
                          </a:solidFill>
                          <a:latin typeface="Calibri"/>
                        </a:rPr>
                        <a:t>Clio (US)</a:t>
                      </a:r>
                    </a:p>
                  </a:txBody>
                  <a:tcPr>
                    <a:solidFill>
                      <a:srgbClr val="FFFFFF"/>
                    </a:solidFill>
                  </a:tcPr>
                </a:tc>
                <a:tc>
                  <a:txBody>
                    <a:bodyPr/>
                    <a:lstStyle/>
                    <a:p>
                      <a:pPr algn="ctr"/>
                      <a:r>
                        <a:rPr sz="1300" b="0">
                          <a:solidFill>
                            <a:srgbClr val="059669"/>
                          </a:solidFill>
                          <a:latin typeface="Calibri"/>
                        </a:rPr>
                        <a:t>Yes</a:t>
                      </a:r>
                    </a:p>
                  </a:txBody>
                  <a:tcPr>
                    <a:solidFill>
                      <a:srgbClr val="FFFFFF"/>
                    </a:solidFill>
                  </a:tcPr>
                </a:tc>
                <a:tc>
                  <a:txBody>
                    <a:bodyPr/>
                    <a:lstStyle/>
                    <a:p>
                      <a:pPr algn="ctr"/>
                      <a:r>
                        <a:rPr sz="1300" b="0">
                          <a:solidFill>
                            <a:srgbClr val="B45309"/>
                          </a:solidFill>
                          <a:latin typeface="Calibri"/>
                        </a:rPr>
                        <a:t>Basic</a:t>
                      </a:r>
                    </a:p>
                  </a:txBody>
                  <a:tcPr>
                    <a:solidFill>
                      <a:srgbClr val="FFFFFF"/>
                    </a:solidFill>
                  </a:tcPr>
                </a:tc>
                <a:tc>
                  <a:txBody>
                    <a:bodyPr/>
                    <a:lstStyle/>
                    <a:p>
                      <a:pPr algn="ctr"/>
                      <a:r>
                        <a:rPr sz="1300" b="0">
                          <a:solidFill>
                            <a:srgbClr val="78716C"/>
                          </a:solidFill>
                          <a:latin typeface="Calibri"/>
                        </a:rPr>
                        <a:t>—</a:t>
                      </a:r>
                    </a:p>
                  </a:txBody>
                  <a:tcPr>
                    <a:solidFill>
                      <a:srgbClr val="FFFFFF"/>
                    </a:solidFill>
                  </a:tcPr>
                </a:tc>
                <a:tc>
                  <a:txBody>
                    <a:bodyPr/>
                    <a:lstStyle/>
                    <a:p>
                      <a:pPr algn="ctr"/>
                      <a:r>
                        <a:rPr sz="1300" b="0">
                          <a:solidFill>
                            <a:srgbClr val="059669"/>
                          </a:solidFill>
                          <a:latin typeface="Calibri"/>
                        </a:rPr>
                        <a:t>Yes</a:t>
                      </a:r>
                    </a:p>
                  </a:txBody>
                  <a:tcPr>
                    <a:solidFill>
                      <a:srgbClr val="FFFFFF"/>
                    </a:solidFill>
                  </a:tcPr>
                </a:tc>
              </a:tr>
              <a:tr h="502920">
                <a:tc>
                  <a:txBody>
                    <a:bodyPr/>
                    <a:lstStyle/>
                    <a:p>
                      <a:pPr algn="l"/>
                      <a:r>
                        <a:rPr sz="1300" b="1">
                          <a:solidFill>
                            <a:srgbClr val="B45309"/>
                          </a:solidFill>
                          <a:latin typeface="Calibri"/>
                        </a:rPr>
                        <a:t>MyKase (India)</a:t>
                      </a:r>
                    </a:p>
                  </a:txBody>
                  <a:tcPr>
                    <a:solidFill>
                      <a:srgbClr val="FFFFFF"/>
                    </a:solidFill>
                  </a:tcPr>
                </a:tc>
                <a:tc>
                  <a:txBody>
                    <a:bodyPr/>
                    <a:lstStyle/>
                    <a:p>
                      <a:pPr algn="ctr"/>
                      <a:r>
                        <a:rPr sz="1300" b="0">
                          <a:solidFill>
                            <a:srgbClr val="059669"/>
                          </a:solidFill>
                          <a:latin typeface="Calibri"/>
                        </a:rPr>
                        <a:t>Yes</a:t>
                      </a:r>
                    </a:p>
                  </a:txBody>
                  <a:tcPr>
                    <a:solidFill>
                      <a:srgbClr val="FFFFFF"/>
                    </a:solidFill>
                  </a:tcPr>
                </a:tc>
                <a:tc>
                  <a:txBody>
                    <a:bodyPr/>
                    <a:lstStyle/>
                    <a:p>
                      <a:pPr algn="ctr"/>
                      <a:r>
                        <a:rPr sz="1300" b="0">
                          <a:solidFill>
                            <a:srgbClr val="78716C"/>
                          </a:solidFill>
                          <a:latin typeface="Calibri"/>
                        </a:rPr>
                        <a:t>—</a:t>
                      </a:r>
                    </a:p>
                  </a:txBody>
                  <a:tcPr>
                    <a:solidFill>
                      <a:srgbClr val="FFFFFF"/>
                    </a:solidFill>
                  </a:tcPr>
                </a:tc>
                <a:tc>
                  <a:txBody>
                    <a:bodyPr/>
                    <a:lstStyle/>
                    <a:p>
                      <a:pPr algn="ctr"/>
                      <a:r>
                        <a:rPr sz="1300" b="0">
                          <a:solidFill>
                            <a:srgbClr val="059669"/>
                          </a:solidFill>
                          <a:latin typeface="Calibri"/>
                        </a:rPr>
                        <a:t>Yes</a:t>
                      </a:r>
                    </a:p>
                  </a:txBody>
                  <a:tcPr>
                    <a:solidFill>
                      <a:srgbClr val="FFFFFF"/>
                    </a:solidFill>
                  </a:tcPr>
                </a:tc>
                <a:tc>
                  <a:txBody>
                    <a:bodyPr/>
                    <a:lstStyle/>
                    <a:p>
                      <a:pPr algn="ctr"/>
                      <a:r>
                        <a:rPr sz="1300" b="0">
                          <a:solidFill>
                            <a:srgbClr val="059669"/>
                          </a:solidFill>
                          <a:latin typeface="Calibri"/>
                        </a:rPr>
                        <a:t>Yes</a:t>
                      </a:r>
                    </a:p>
                  </a:txBody>
                  <a:tcPr>
                    <a:solidFill>
                      <a:srgbClr val="FFFFFF"/>
                    </a:solidFill>
                  </a:tcPr>
                </a:tc>
              </a:tr>
              <a:tr h="502920">
                <a:tc>
                  <a:txBody>
                    <a:bodyPr/>
                    <a:lstStyle/>
                    <a:p>
                      <a:pPr algn="l"/>
                      <a:r>
                        <a:rPr sz="1300" b="1">
                          <a:solidFill>
                            <a:srgbClr val="B45309"/>
                          </a:solidFill>
                          <a:latin typeface="Calibri"/>
                        </a:rPr>
                        <a:t>Harvey AI (US)</a:t>
                      </a:r>
                    </a:p>
                  </a:txBody>
                  <a:tcPr>
                    <a:solidFill>
                      <a:srgbClr val="FFFFFF"/>
                    </a:solidFill>
                  </a:tcPr>
                </a:tc>
                <a:tc>
                  <a:txBody>
                    <a:bodyPr/>
                    <a:lstStyle/>
                    <a:p>
                      <a:pPr algn="ctr"/>
                      <a:r>
                        <a:rPr sz="1300" b="0">
                          <a:solidFill>
                            <a:srgbClr val="78716C"/>
                          </a:solidFill>
                          <a:latin typeface="Calibri"/>
                        </a:rPr>
                        <a:t>—</a:t>
                      </a:r>
                    </a:p>
                  </a:txBody>
                  <a:tcPr>
                    <a:solidFill>
                      <a:srgbClr val="FFFFFF"/>
                    </a:solidFill>
                  </a:tcPr>
                </a:tc>
                <a:tc>
                  <a:txBody>
                    <a:bodyPr/>
                    <a:lstStyle/>
                    <a:p>
                      <a:pPr algn="ctr"/>
                      <a:r>
                        <a:rPr sz="1300" b="0">
                          <a:solidFill>
                            <a:srgbClr val="059669"/>
                          </a:solidFill>
                          <a:latin typeface="Calibri"/>
                        </a:rPr>
                        <a:t>Yes</a:t>
                      </a:r>
                    </a:p>
                  </a:txBody>
                  <a:tcPr>
                    <a:solidFill>
                      <a:srgbClr val="FFFFFF"/>
                    </a:solidFill>
                  </a:tcPr>
                </a:tc>
                <a:tc>
                  <a:txBody>
                    <a:bodyPr/>
                    <a:lstStyle/>
                    <a:p>
                      <a:pPr algn="ctr"/>
                      <a:r>
                        <a:rPr sz="1300" b="0">
                          <a:solidFill>
                            <a:srgbClr val="78716C"/>
                          </a:solidFill>
                          <a:latin typeface="Calibri"/>
                        </a:rPr>
                        <a:t>—</a:t>
                      </a:r>
                    </a:p>
                  </a:txBody>
                  <a:tcPr>
                    <a:solidFill>
                      <a:srgbClr val="FFFFFF"/>
                    </a:solidFill>
                  </a:tcPr>
                </a:tc>
                <a:tc>
                  <a:txBody>
                    <a:bodyPr/>
                    <a:lstStyle/>
                    <a:p>
                      <a:pPr algn="ctr"/>
                      <a:r>
                        <a:rPr sz="1300" b="0">
                          <a:solidFill>
                            <a:srgbClr val="78716C"/>
                          </a:solidFill>
                          <a:latin typeface="Calibri"/>
                        </a:rPr>
                        <a:t>—</a:t>
                      </a:r>
                    </a:p>
                  </a:txBody>
                  <a:tcPr>
                    <a:solidFill>
                      <a:srgbClr val="FFFFFF"/>
                    </a:solidFill>
                  </a:tcPr>
                </a:tc>
              </a:tr>
              <a:tr h="502920">
                <a:tc>
                  <a:txBody>
                    <a:bodyPr/>
                    <a:lstStyle/>
                    <a:p>
                      <a:pPr algn="l"/>
                      <a:r>
                        <a:rPr sz="1300" b="1">
                          <a:solidFill>
                            <a:srgbClr val="B45309"/>
                          </a:solidFill>
                          <a:latin typeface="Calibri"/>
                        </a:rPr>
                        <a:t>IndianKanoon</a:t>
                      </a:r>
                    </a:p>
                  </a:txBody>
                  <a:tcPr>
                    <a:solidFill>
                      <a:srgbClr val="FFFFFF"/>
                    </a:solidFill>
                  </a:tcPr>
                </a:tc>
                <a:tc>
                  <a:txBody>
                    <a:bodyPr/>
                    <a:lstStyle/>
                    <a:p>
                      <a:pPr algn="ctr"/>
                      <a:r>
                        <a:rPr sz="1300" b="0">
                          <a:solidFill>
                            <a:srgbClr val="78716C"/>
                          </a:solidFill>
                          <a:latin typeface="Calibri"/>
                        </a:rPr>
                        <a:t>—</a:t>
                      </a:r>
                    </a:p>
                  </a:txBody>
                  <a:tcPr>
                    <a:solidFill>
                      <a:srgbClr val="FFFFFF"/>
                    </a:solidFill>
                  </a:tcPr>
                </a:tc>
                <a:tc>
                  <a:txBody>
                    <a:bodyPr/>
                    <a:lstStyle/>
                    <a:p>
                      <a:pPr algn="ctr"/>
                      <a:r>
                        <a:rPr sz="1300" b="0">
                          <a:solidFill>
                            <a:srgbClr val="78716C"/>
                          </a:solidFill>
                          <a:latin typeface="Calibri"/>
                        </a:rPr>
                        <a:t>—</a:t>
                      </a:r>
                    </a:p>
                  </a:txBody>
                  <a:tcPr>
                    <a:solidFill>
                      <a:srgbClr val="FFFFFF"/>
                    </a:solidFill>
                  </a:tcPr>
                </a:tc>
                <a:tc>
                  <a:txBody>
                    <a:bodyPr/>
                    <a:lstStyle/>
                    <a:p>
                      <a:pPr algn="ctr"/>
                      <a:r>
                        <a:rPr sz="1300" b="0">
                          <a:solidFill>
                            <a:srgbClr val="059669"/>
                          </a:solidFill>
                          <a:latin typeface="Calibri"/>
                        </a:rPr>
                        <a:t>Yes</a:t>
                      </a:r>
                    </a:p>
                  </a:txBody>
                  <a:tcPr>
                    <a:solidFill>
                      <a:srgbClr val="FFFFFF"/>
                    </a:solidFill>
                  </a:tcPr>
                </a:tc>
                <a:tc>
                  <a:txBody>
                    <a:bodyPr/>
                    <a:lstStyle/>
                    <a:p>
                      <a:pPr algn="ctr"/>
                      <a:r>
                        <a:rPr sz="1300" b="0">
                          <a:solidFill>
                            <a:srgbClr val="78716C"/>
                          </a:solidFill>
                          <a:latin typeface="Calibri"/>
                        </a:rPr>
                        <a:t>—</a:t>
                      </a:r>
                    </a:p>
                  </a:txBody>
                  <a:tcPr>
                    <a:solidFill>
                      <a:srgbClr val="FFFFFF"/>
                    </a:solidFill>
                  </a:tcPr>
                </a:tc>
              </a:tr>
              <a:tr h="502920">
                <a:tc>
                  <a:txBody>
                    <a:bodyPr/>
                    <a:lstStyle/>
                    <a:p>
                      <a:pPr algn="l"/>
                      <a:r>
                        <a:rPr sz="1300" b="1">
                          <a:solidFill>
                            <a:srgbClr val="FFFFFF"/>
                          </a:solidFill>
                          <a:latin typeface="Calibri"/>
                        </a:rPr>
                        <a:t>Lawris</a:t>
                      </a:r>
                    </a:p>
                  </a:txBody>
                  <a:tcPr>
                    <a:solidFill>
                      <a:srgbClr val="1E1B4B"/>
                    </a:solidFill>
                  </a:tcPr>
                </a:tc>
                <a:tc>
                  <a:txBody>
                    <a:bodyPr/>
                    <a:lstStyle/>
                    <a:p>
                      <a:pPr algn="ctr"/>
                      <a:r>
                        <a:rPr sz="1300" b="1">
                          <a:solidFill>
                            <a:srgbClr val="FFFFFF"/>
                          </a:solidFill>
                          <a:latin typeface="Calibri"/>
                        </a:rPr>
                        <a:t>Yes</a:t>
                      </a:r>
                    </a:p>
                  </a:txBody>
                  <a:tcPr>
                    <a:solidFill>
                      <a:srgbClr val="1E1B4B"/>
                    </a:solidFill>
                  </a:tcPr>
                </a:tc>
                <a:tc>
                  <a:txBody>
                    <a:bodyPr/>
                    <a:lstStyle/>
                    <a:p>
                      <a:pPr algn="ctr"/>
                      <a:r>
                        <a:rPr sz="1300" b="1">
                          <a:solidFill>
                            <a:srgbClr val="FFFFFF"/>
                          </a:solidFill>
                          <a:latin typeface="Calibri"/>
                        </a:rPr>
                        <a:t>Yes</a:t>
                      </a:r>
                    </a:p>
                  </a:txBody>
                  <a:tcPr>
                    <a:solidFill>
                      <a:srgbClr val="1E1B4B"/>
                    </a:solidFill>
                  </a:tcPr>
                </a:tc>
                <a:tc>
                  <a:txBody>
                    <a:bodyPr/>
                    <a:lstStyle/>
                    <a:p>
                      <a:pPr algn="ctr"/>
                      <a:r>
                        <a:rPr sz="1300" b="1">
                          <a:solidFill>
                            <a:srgbClr val="FFFFFF"/>
                          </a:solidFill>
                          <a:latin typeface="Calibri"/>
                        </a:rPr>
                        <a:t>Yes</a:t>
                      </a:r>
                    </a:p>
                  </a:txBody>
                  <a:tcPr>
                    <a:solidFill>
                      <a:srgbClr val="1E1B4B"/>
                    </a:solidFill>
                  </a:tcPr>
                </a:tc>
                <a:tc>
                  <a:txBody>
                    <a:bodyPr/>
                    <a:lstStyle/>
                    <a:p>
                      <a:pPr algn="ctr"/>
                      <a:r>
                        <a:rPr sz="1300" b="1">
                          <a:solidFill>
                            <a:srgbClr val="FFFFFF"/>
                          </a:solidFill>
                          <a:latin typeface="Calibri"/>
                        </a:rPr>
                        <a:t>Yes</a:t>
                      </a:r>
                    </a:p>
                  </a:txBody>
                  <a:tcPr>
                    <a:solidFill>
                      <a:srgbClr val="1E1B4B"/>
                    </a:solidFill>
                  </a:tcPr>
                </a:tc>
              </a:tr>
            </a:tbl>
          </a:graphicData>
        </a:graphic>
      </p:graphicFrame>
      <p:sp>
        <p:nvSpPr>
          <p:cNvPr id="8" name="TextBox 7"/>
          <p:cNvSpPr txBox="1"/>
          <p:nvPr/>
        </p:nvSpPr>
        <p:spPr>
          <a:xfrm>
            <a:off x="685800" y="5852160"/>
            <a:ext cx="10972800" cy="548640"/>
          </a:xfrm>
          <a:prstGeom prst="rect">
            <a:avLst/>
          </a:prstGeom>
          <a:noFill/>
        </p:spPr>
        <p:txBody>
          <a:bodyPr wrap="square" lIns="0" rIns="0" tIns="0" bIns="0">
            <a:spAutoFit/>
          </a:bodyPr>
          <a:lstStyle/>
          <a:p>
            <a:pPr algn="ctr"/>
            <a:r>
              <a:rPr sz="1800" b="1">
                <a:solidFill>
                  <a:srgbClr val="1E1B4B"/>
                </a:solidFill>
                <a:latin typeface="Calibri"/>
              </a:rPr>
              <a:t>All four columns checked is a defensible position — not a feature.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A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6446520"/>
            <a:ext cx="1828800" cy="274320"/>
          </a:xfrm>
          <a:prstGeom prst="rect">
            <a:avLst/>
          </a:prstGeom>
          <a:noFill/>
        </p:spPr>
        <p:txBody>
          <a:bodyPr wrap="square" lIns="0" rIns="0" tIns="0" bIns="0">
            <a:spAutoFit/>
          </a:bodyPr>
          <a:lstStyle/>
          <a:p>
            <a:pPr algn="l"/>
            <a:r>
              <a:rPr sz="1000" b="1">
                <a:solidFill>
                  <a:srgbClr val="78716C"/>
                </a:solidFill>
                <a:latin typeface="Calibri"/>
              </a:rPr>
              <a:t>LAWRIS</a:t>
            </a:r>
          </a:p>
        </p:txBody>
      </p:sp>
      <p:sp>
        <p:nvSpPr>
          <p:cNvPr id="4" name="TextBox 3"/>
          <p:cNvSpPr txBox="1"/>
          <p:nvPr/>
        </p:nvSpPr>
        <p:spPr>
          <a:xfrm>
            <a:off x="10789920" y="6446520"/>
            <a:ext cx="914400" cy="274320"/>
          </a:xfrm>
          <a:prstGeom prst="rect">
            <a:avLst/>
          </a:prstGeom>
          <a:noFill/>
        </p:spPr>
        <p:txBody>
          <a:bodyPr wrap="square" lIns="0" rIns="0" tIns="0" bIns="0">
            <a:spAutoFit/>
          </a:bodyPr>
          <a:lstStyle/>
          <a:p>
            <a:pPr algn="r"/>
            <a:r>
              <a:rPr sz="1000" b="0">
                <a:solidFill>
                  <a:srgbClr val="78716C"/>
                </a:solidFill>
                <a:latin typeface="Calibri"/>
              </a:rPr>
              <a:t>6 / 6</a:t>
            </a:r>
          </a:p>
        </p:txBody>
      </p:sp>
      <p:sp>
        <p:nvSpPr>
          <p:cNvPr id="5" name="TextBox 4"/>
          <p:cNvSpPr txBox="1"/>
          <p:nvPr/>
        </p:nvSpPr>
        <p:spPr>
          <a:xfrm>
            <a:off x="685800" y="548640"/>
            <a:ext cx="7315200" cy="548640"/>
          </a:xfrm>
          <a:prstGeom prst="rect">
            <a:avLst/>
          </a:prstGeom>
          <a:noFill/>
        </p:spPr>
        <p:txBody>
          <a:bodyPr wrap="square" lIns="0" rIns="0" tIns="0" bIns="0">
            <a:spAutoFit/>
          </a:bodyPr>
          <a:lstStyle/>
          <a:p>
            <a:pPr algn="l"/>
            <a:r>
              <a:rPr sz="1800" b="1">
                <a:solidFill>
                  <a:srgbClr val="3F3D99"/>
                </a:solidFill>
                <a:latin typeface="Calibri"/>
              </a:rPr>
              <a:t>Roadmap &amp; ask</a:t>
            </a:r>
          </a:p>
        </p:txBody>
      </p:sp>
      <p:sp>
        <p:nvSpPr>
          <p:cNvPr id="6" name="TextBox 5"/>
          <p:cNvSpPr txBox="1"/>
          <p:nvPr/>
        </p:nvSpPr>
        <p:spPr>
          <a:xfrm>
            <a:off x="685800" y="1051560"/>
            <a:ext cx="10972800" cy="640080"/>
          </a:xfrm>
          <a:prstGeom prst="rect">
            <a:avLst/>
          </a:prstGeom>
          <a:noFill/>
        </p:spPr>
        <p:txBody>
          <a:bodyPr wrap="square" lIns="0" rIns="0" tIns="0" bIns="0">
            <a:spAutoFit/>
          </a:bodyPr>
          <a:lstStyle/>
          <a:p>
            <a:pPr algn="l"/>
            <a:r>
              <a:rPr sz="2400" b="1">
                <a:solidFill>
                  <a:srgbClr val="1C1917"/>
                </a:solidFill>
                <a:latin typeface="Calibri"/>
              </a:rPr>
              <a:t>We have a working product. We're choosing where to go next.</a:t>
            </a:r>
          </a:p>
        </p:txBody>
      </p:sp>
      <p:sp>
        <p:nvSpPr>
          <p:cNvPr id="7" name="TextBox 6"/>
          <p:cNvSpPr txBox="1"/>
          <p:nvPr/>
        </p:nvSpPr>
        <p:spPr>
          <a:xfrm>
            <a:off x="685800" y="2194560"/>
            <a:ext cx="3383280" cy="457200"/>
          </a:xfrm>
          <a:prstGeom prst="rect">
            <a:avLst/>
          </a:prstGeom>
          <a:noFill/>
        </p:spPr>
        <p:txBody>
          <a:bodyPr wrap="square" lIns="0" rIns="0" tIns="0" bIns="0">
            <a:spAutoFit/>
          </a:bodyPr>
          <a:lstStyle/>
          <a:p>
            <a:pPr algn="l"/>
            <a:r>
              <a:rPr sz="1500" b="1">
                <a:solidFill>
                  <a:srgbClr val="3F3D99"/>
                </a:solidFill>
                <a:latin typeface="Calibri"/>
              </a:rPr>
              <a:t>Next 30 days</a:t>
            </a:r>
          </a:p>
        </p:txBody>
      </p:sp>
      <p:sp>
        <p:nvSpPr>
          <p:cNvPr id="8" name="TextBox 7"/>
          <p:cNvSpPr txBox="1"/>
          <p:nvPr/>
        </p:nvSpPr>
        <p:spPr>
          <a:xfrm>
            <a:off x="685800" y="2697480"/>
            <a:ext cx="3383280" cy="2926080"/>
          </a:xfrm>
          <a:prstGeom prst="rect">
            <a:avLst/>
          </a:prstGeom>
          <a:noFill/>
        </p:spPr>
        <p:txBody>
          <a:bodyPr wrap="square" lIns="0" rIns="0" tIns="0" bIns="0">
            <a:spAutoFit/>
          </a:bodyPr>
          <a:lstStyle/>
          <a:p>
            <a:pPr algn="l"/>
            <a:r>
              <a:rPr sz="1400" b="0">
                <a:solidFill>
                  <a:srgbClr val="1C1917"/>
                </a:solidFill>
                <a:latin typeface="Calibri"/>
              </a:rPr>
              <a:t>•  IndianKanoon citation grounding
•  Document upload + OCR
•  Multi-user with row-level security</a:t>
            </a:r>
          </a:p>
        </p:txBody>
      </p:sp>
      <p:sp>
        <p:nvSpPr>
          <p:cNvPr id="9" name="TextBox 8"/>
          <p:cNvSpPr txBox="1"/>
          <p:nvPr/>
        </p:nvSpPr>
        <p:spPr>
          <a:xfrm>
            <a:off x="4526280" y="2194560"/>
            <a:ext cx="3383280" cy="457200"/>
          </a:xfrm>
          <a:prstGeom prst="rect">
            <a:avLst/>
          </a:prstGeom>
          <a:noFill/>
        </p:spPr>
        <p:txBody>
          <a:bodyPr wrap="square" lIns="0" rIns="0" tIns="0" bIns="0">
            <a:spAutoFit/>
          </a:bodyPr>
          <a:lstStyle/>
          <a:p>
            <a:pPr algn="l"/>
            <a:r>
              <a:rPr sz="1500" b="1">
                <a:solidFill>
                  <a:srgbClr val="3F3D99"/>
                </a:solidFill>
                <a:latin typeface="Calibri"/>
              </a:rPr>
              <a:t>Next 90 days</a:t>
            </a:r>
          </a:p>
        </p:txBody>
      </p:sp>
      <p:sp>
        <p:nvSpPr>
          <p:cNvPr id="10" name="TextBox 9"/>
          <p:cNvSpPr txBox="1"/>
          <p:nvPr/>
        </p:nvSpPr>
        <p:spPr>
          <a:xfrm>
            <a:off x="4526280" y="2697480"/>
            <a:ext cx="3383280" cy="2926080"/>
          </a:xfrm>
          <a:prstGeom prst="rect">
            <a:avLst/>
          </a:prstGeom>
          <a:noFill/>
        </p:spPr>
        <p:txBody>
          <a:bodyPr wrap="square" lIns="0" rIns="0" tIns="0" bIns="0">
            <a:spAutoFit/>
          </a:bodyPr>
          <a:lstStyle/>
          <a:p>
            <a:pPr algn="l"/>
            <a:r>
              <a:rPr sz="1400" b="0">
                <a:solidFill>
                  <a:srgbClr val="1C1917"/>
                </a:solidFill>
                <a:latin typeface="Calibri"/>
              </a:rPr>
              <a:t>•  Mobile (React Native)
•  Hindi &amp; Marathi UI
•  Voice-to-hearing-log
•  Bench-aware outcome prediction</a:t>
            </a:r>
          </a:p>
        </p:txBody>
      </p:sp>
      <p:sp>
        <p:nvSpPr>
          <p:cNvPr id="11" name="TextBox 10"/>
          <p:cNvSpPr txBox="1"/>
          <p:nvPr/>
        </p:nvSpPr>
        <p:spPr>
          <a:xfrm>
            <a:off x="8366760" y="2194560"/>
            <a:ext cx="3383280" cy="457200"/>
          </a:xfrm>
          <a:prstGeom prst="rect">
            <a:avLst/>
          </a:prstGeom>
          <a:noFill/>
        </p:spPr>
        <p:txBody>
          <a:bodyPr wrap="square" lIns="0" rIns="0" tIns="0" bIns="0">
            <a:spAutoFit/>
          </a:bodyPr>
          <a:lstStyle/>
          <a:p>
            <a:pPr algn="l"/>
            <a:r>
              <a:rPr sz="1500" b="1">
                <a:solidFill>
                  <a:srgbClr val="3F3D99"/>
                </a:solidFill>
                <a:latin typeface="Calibri"/>
              </a:rPr>
              <a:t>The market</a:t>
            </a:r>
          </a:p>
        </p:txBody>
      </p:sp>
      <p:sp>
        <p:nvSpPr>
          <p:cNvPr id="12" name="TextBox 11"/>
          <p:cNvSpPr txBox="1"/>
          <p:nvPr/>
        </p:nvSpPr>
        <p:spPr>
          <a:xfrm>
            <a:off x="8366760" y="2697480"/>
            <a:ext cx="3383280" cy="2926080"/>
          </a:xfrm>
          <a:prstGeom prst="rect">
            <a:avLst/>
          </a:prstGeom>
          <a:noFill/>
        </p:spPr>
        <p:txBody>
          <a:bodyPr wrap="square" lIns="0" rIns="0" tIns="0" bIns="0">
            <a:spAutoFit/>
          </a:bodyPr>
          <a:lstStyle/>
          <a:p>
            <a:pPr algn="l"/>
            <a:r>
              <a:rPr sz="1400" b="0">
                <a:solidFill>
                  <a:srgbClr val="1C1917"/>
                </a:solidFill>
                <a:latin typeface="Calibri"/>
              </a:rPr>
              <a:t>•  1.4M registered advocates in India
•  ₹500 / lawyer / month target
•  ₹84 cr ARR at 1% adoption</a:t>
            </a:r>
          </a:p>
        </p:txBody>
      </p:sp>
      <p:sp>
        <p:nvSpPr>
          <p:cNvPr id="13" name="Rectangle 12"/>
          <p:cNvSpPr/>
          <p:nvPr/>
        </p:nvSpPr>
        <p:spPr>
          <a:xfrm>
            <a:off x="685800" y="5532120"/>
            <a:ext cx="10789920" cy="777240"/>
          </a:xfrm>
          <a:prstGeom prst="rect">
            <a:avLst/>
          </a:prstGeom>
          <a:solidFill>
            <a:srgbClr val="1E1B4B"/>
          </a:solidFill>
          <a:ln>
            <a:noFill/>
          </a:ln>
        </p:spPr>
        <p:style>
          <a:lnRef idx="1">
            <a:schemeClr val="accent1"/>
          </a:lnRef>
          <a:fillRef idx="3">
            <a:schemeClr val="accent1"/>
          </a:fillRef>
          <a:effectRef idx="2">
            <a:schemeClr val="accent1"/>
          </a:effectRef>
          <a:fontRef idx="minor">
            <a:schemeClr val="lt1"/>
          </a:fontRef>
        </p:style>
        <p:txBody>
          <a:bodyPr rtlCol="0" anchor="ctr" lIns="365760" rIns="365760" tIns="137160" bIns="137160"/>
          <a:lstStyle/>
          <a:p>
            <a:pPr algn="l"/>
            <a:r>
              <a:rPr sz="1500" b="1">
                <a:solidFill>
                  <a:srgbClr val="FFFFFF"/>
                </a:solidFill>
                <a:latin typeface="Calibri"/>
              </a:rPr>
              <a:t>THE ASK   We're looking for honest feedback on what would make this indispensable to a working lawyer.</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